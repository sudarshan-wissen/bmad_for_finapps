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1d09828-e05a-1b96-1c2c-e9312e3e9295}">
          <p14:sldIdLst>
            <p14:sldId id="256"/>
          </p14:sldIdLst>
        </p14:section>
        <p14:section name="How it works" id="{81a01121-e1f2-8181-93e4-9ddfaded90e0}">
          <p14:sldIdLst>
            <p14:sldId id="257"/>
            <p14:sldId id="258"/>
            <p14:sldId id="259"/>
          </p14:sldIdLst>
        </p14:section>
        <p14:section name="Adopting existing code" id="{240f8818-2a0c-73e8-9636-054de3748758}">
          <p14:sldIdLst>
            <p14:sldId id="260"/>
            <p14:sldId id="261"/>
            <p14:sldId id="262"/>
            <p14:sldId id="263"/>
          </p14:sldIdLst>
        </p14:section>
        <p14:section name="Guardrails and rollout" id="{387c7fab-245a-1b9d-453b-a191b93ab0b6}">
          <p14:sldIdLst>
            <p14:sldId id="264"/>
            <p14:sldId id="265"/>
            <p14:sldId id="266"/>
          </p14:sldIdLst>
        </p14:section>
        <p14:section name="Close" id="{dc2f1038-5b80-68e4-d5d1-4d798247be84}">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teams how to adopt the BMAD agents on an application that already exists. Covers how the agents work, how onboarding learns the existing code, setup, the first story, and the rollout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0 is specific to brownfield: Onboard reads the existing code and writes a rulebook per module, so every later agent works from facts instead of guesses. Then the normal cycle runs story by story: PM, BA, Architect, Dev, Code Review, QA, Docs. Two helpers sit beside the pipeline: the critic, which judges each stage in a clean context, and the BFSI advisor for domain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is identical in every stage. Highlighted boxes are where a human acts. The flow block in bmad.config.yaml controls it: auto_loop decides whether the agent asks between rounds, review_changes and review_granularity decide how often it pauses for review, and critic turns the independent judge on or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human touchpoints. Reviews happen in the VS Code editor with the native Keep and Undo buttons, then a one-word reply. The loop decision is skipped only when auto_loop is true. Approvals for anything leaving the machine are never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Onboarding is the brownfield entry point. It never edits source code. It writes one rulebook per module and proposes the modules list for bmad.config.yaml. Review each draft carefully: these files become the facts that PM, BA, Architect and Dev rely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Legacy BFSI code usually has some of these. The onboard agent records them with file and line, mapped to the rule id. They are not fixed automatically: they become backlog items through the normal PM and BA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teams finish steps 1 to 5 in an afternoon. Step 6 matters for legacy code: agree the coverage threshold up front, because agents never lower a threshold to make a check pass. See docs/BMAD_SETUP_Guide.md Part A for commands and docs/bmad.config.example.yaml for an example 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walks a real brownfield example: adding pro-rata allocation to an existing trading module. Every agent reads the module rulebook from onboarding, so the design and code follow the module's existing conventions. Example ids are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pack lives in .github/bmad/domain/bfsi-rules.md and is technology-neutral. Stack packs translate the key ones into grep checks, so many violations are caught deterministically before the critic runs. Regulatory content in the domain pack is orientation only and must be confirmed by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issues teams hit most often when adding agents to an existing system. Each is handled by a stop-and-ask rule rather than a silent workaround.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organisational controls the agents rely on. The approval prompts are instructions the agent follows; branch protection and CODEOWNERS are the hard safety net. Per Wissen policy, a qualified reviewer validates agent output before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concrete pilot. All agent output is assistive: a qualified reviewer validates designs, code and documents before delivery, and Compliance confirms any regulatory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MAD 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657600"/>
            <a:ext cx="11094415" cy="12801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4" name="Text 0"/>
          <p:cNvSpPr/>
          <p:nvPr/>
        </p:nvSpPr>
        <p:spPr>
          <a:xfrm>
            <a:off x="548640" y="6126480"/>
            <a:ext cx="7315200" cy="365760"/>
          </a:xfrm>
          <a:prstGeom prst="rect">
            <a:avLst/>
          </a:prstGeom>
          <a:noFill/>
          <a:ln/>
        </p:spPr>
        <p:txBody>
          <a:bodyPr wrap="square" lIns="0" tIns="0" rIns="0" bIns="0" rtlCol="0" anchor="ctr"/>
          <a:lstStyle/>
          <a:p>
            <a:pPr indent="0" marL="0">
              <a:buNone/>
            </a:pPr>
            <a:r>
              <a:rPr lang="en-US" sz="1200" dirty="0">
                <a:solidFill>
                  <a:schemeClr val="accent1"/>
                </a:solidFill>
              </a:rPr>
              <a:t>BMAD for GitHub Copilot · BFSI edition</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MAD 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BMAD Agentic SDLC · Brownfield</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lIns="0" tIns="0" rIns="0" bIns="0" rtlCol="0" anchor="b"/>
          <a:lstStyle/>
          <a:p>
            <a:pPr algn="l" indent="0" marL="0">
              <a:buNone/>
            </a:pPr>
            <a:r>
              <a:rPr lang="en-US" sz="4400" b="1" dirty="0">
                <a:solidFill>
                  <a:schemeClr val="bg1"/>
                </a:solidFill>
              </a:rPr>
              <a:t>BMAD Agentic SDLC — Brownfield adoption</a:t>
            </a:r>
            <a:endParaRPr lang="en-US" sz="4400" dirty="0"/>
          </a:p>
        </p:txBody>
      </p:sp>
      <p:sp>
        <p:nvSpPr>
          <p:cNvPr id="3" name="Text 0"/>
          <p:cNvSpPr/>
          <p:nvPr>
            <p:ph idx="101" type="body" hasCustomPrompt="1"/>
          </p:nvPr>
        </p:nvSpPr>
        <p:spPr>
          <a:xfrm>
            <a:off x="548640" y="3657600"/>
            <a:ext cx="11094415" cy="1280160"/>
          </a:xfrm>
          <a:prstGeom prst="rect">
            <a:avLst/>
          </a:prstGeom>
          <a:noFill/>
          <a:ln/>
        </p:spPr>
        <p:txBody>
          <a:bodyPr wrap="square" lIns="0" tIns="0" rIns="0" bIns="0" rtlCol="0" anchor="t"/>
          <a:lstStyle/>
          <a:p>
            <a:pPr indent="0" marL="0">
              <a:buNone/>
            </a:pPr>
            <a:r>
              <a:rPr lang="en-US" sz="2000" dirty="0">
                <a:solidFill>
                  <a:schemeClr val="bg2"/>
                </a:solidFill>
              </a:rPr>
              <a:t>Bring GitHub Copilot agents into an existing Banking and Financial Services application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Eight agents carry a change from code to release</a:t>
            </a:r>
            <a:endParaRPr lang="en-US" sz="3200" dirty="0"/>
          </a:p>
        </p:txBody>
      </p:sp>
      <p:sp>
        <p:nvSpPr>
          <p:cNvPr id="3" name="stage Onboard"/>
          <p:cNvSpPr/>
          <p:nvPr/>
        </p:nvSpPr>
        <p:spPr>
          <a:xfrm>
            <a:off x="548640" y="1600200"/>
            <a:ext cx="1242784" cy="3017520"/>
          </a:xfrm>
          <a:prstGeom prst="roundRect">
            <a:avLst>
              <a:gd name="adj" fmla="val 5886"/>
            </a:avLst>
          </a:prstGeom>
          <a:solidFill>
            <a:schemeClr val="tx2"/>
          </a:solidFill>
          <a:ln w="12700">
            <a:solidFill>
              <a:schemeClr val="tx2"/>
            </a:solidFill>
            <a:prstDash val="solid"/>
          </a:ln>
        </p:spPr>
      </p:sp>
      <p:sp>
        <p:nvSpPr>
          <p:cNvPr id="4" name="stage Onboard number"/>
          <p:cNvSpPr txBox="1"/>
          <p:nvPr/>
        </p:nvSpPr>
        <p:spPr>
          <a:xfrm>
            <a:off x="849992" y="18745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0</a:t>
            </a:r>
            <a:endParaRPr lang="en-US" sz="1800" dirty="0"/>
          </a:p>
        </p:txBody>
      </p:sp>
      <p:sp>
        <p:nvSpPr>
          <p:cNvPr id="5" name="stage Onboard name"/>
          <p:cNvSpPr txBox="1"/>
          <p:nvPr/>
        </p:nvSpPr>
        <p:spPr>
          <a:xfrm>
            <a:off x="640080" y="2651760"/>
            <a:ext cx="1059904" cy="457200"/>
          </a:xfrm>
          <a:prstGeom prst="rect">
            <a:avLst/>
          </a:prstGeom>
          <a:noFill/>
          <a:ln/>
        </p:spPr>
        <p:txBody>
          <a:bodyPr wrap="square" lIns="0" tIns="0" rIns="0" bIns="0" rtlCol="0" anchor="ctr"/>
          <a:lstStyle/>
          <a:p>
            <a:pPr algn="ctr" indent="0" marL="0">
              <a:buNone/>
            </a:pPr>
            <a:r>
              <a:rPr lang="en-US" sz="1600" b="1" dirty="0">
                <a:solidFill>
                  <a:schemeClr val="bg1"/>
                </a:solidFill>
              </a:rPr>
              <a:t>Onboard</a:t>
            </a:r>
            <a:endParaRPr lang="en-US" sz="1600" dirty="0"/>
          </a:p>
        </p:txBody>
      </p:sp>
      <p:sp>
        <p:nvSpPr>
          <p:cNvPr id="6" name="stage Onboard cmd"/>
          <p:cNvSpPr txBox="1"/>
          <p:nvPr/>
        </p:nvSpPr>
        <p:spPr>
          <a:xfrm>
            <a:off x="640080" y="3108960"/>
            <a:ext cx="1059904" cy="365760"/>
          </a:xfrm>
          <a:prstGeom prst="rect">
            <a:avLst/>
          </a:prstGeom>
          <a:noFill/>
          <a:ln/>
        </p:spPr>
        <p:txBody>
          <a:bodyPr wrap="square" lIns="0" tIns="0" rIns="0" bIns="0" rtlCol="0" anchor="ctr"/>
          <a:lstStyle/>
          <a:p>
            <a:pPr algn="ctr" indent="0" marL="0">
              <a:buNone/>
            </a:pPr>
            <a:r>
              <a:rPr lang="en-US" sz="1300" dirty="0">
                <a:solidFill>
                  <a:schemeClr val="accent1"/>
                </a:solidFill>
              </a:rPr>
              <a:t>/onboard</a:t>
            </a:r>
            <a:endParaRPr lang="en-US" sz="1300" dirty="0"/>
          </a:p>
        </p:txBody>
      </p:sp>
      <p:sp>
        <p:nvSpPr>
          <p:cNvPr id="7" name="stage Onboard out"/>
          <p:cNvSpPr txBox="1"/>
          <p:nvPr/>
        </p:nvSpPr>
        <p:spPr>
          <a:xfrm>
            <a:off x="658368" y="3520440"/>
            <a:ext cx="1023328" cy="960120"/>
          </a:xfrm>
          <a:prstGeom prst="rect">
            <a:avLst/>
          </a:prstGeom>
          <a:noFill/>
          <a:ln/>
        </p:spPr>
        <p:txBody>
          <a:bodyPr wrap="square" lIns="0" tIns="0" rIns="0" bIns="0" rtlCol="0" anchor="t"/>
          <a:lstStyle/>
          <a:p>
            <a:pPr algn="ctr" indent="0" marL="0">
              <a:buNone/>
            </a:pPr>
            <a:r>
              <a:rPr lang="en-US" sz="1200" dirty="0">
                <a:solidFill>
                  <a:schemeClr val="bg2"/>
                </a:solidFill>
              </a:rPr>
              <a:t>Module rulebooks from existing code</a:t>
            </a:r>
            <a:endParaRPr lang="en-US" sz="1200" dirty="0"/>
          </a:p>
        </p:txBody>
      </p:sp>
      <p:sp>
        <p:nvSpPr>
          <p:cNvPr id="8" name="stage PM"/>
          <p:cNvSpPr/>
          <p:nvPr/>
        </p:nvSpPr>
        <p:spPr>
          <a:xfrm>
            <a:off x="1956016" y="1600200"/>
            <a:ext cx="1242784" cy="3017520"/>
          </a:xfrm>
          <a:prstGeom prst="roundRect">
            <a:avLst>
              <a:gd name="adj" fmla="val 5886"/>
            </a:avLst>
          </a:prstGeom>
          <a:solidFill>
            <a:schemeClr val="bg2"/>
          </a:solidFill>
          <a:ln w="12700">
            <a:solidFill>
              <a:schemeClr val="bg2"/>
            </a:solidFill>
            <a:prstDash val="solid"/>
          </a:ln>
        </p:spPr>
      </p:sp>
      <p:sp>
        <p:nvSpPr>
          <p:cNvPr id="9" name="stage PM number"/>
          <p:cNvSpPr txBox="1"/>
          <p:nvPr/>
        </p:nvSpPr>
        <p:spPr>
          <a:xfrm>
            <a:off x="2257368" y="18745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10" name="stage PM name"/>
          <p:cNvSpPr txBox="1"/>
          <p:nvPr/>
        </p:nvSpPr>
        <p:spPr>
          <a:xfrm>
            <a:off x="2047456" y="2651760"/>
            <a:ext cx="1059904" cy="457200"/>
          </a:xfrm>
          <a:prstGeom prst="rect">
            <a:avLst/>
          </a:prstGeom>
          <a:noFill/>
          <a:ln/>
        </p:spPr>
        <p:txBody>
          <a:bodyPr wrap="square" lIns="0" tIns="0" rIns="0" bIns="0" rtlCol="0" anchor="ctr"/>
          <a:lstStyle/>
          <a:p>
            <a:pPr algn="ctr" indent="0" marL="0">
              <a:buNone/>
            </a:pPr>
            <a:r>
              <a:rPr lang="en-US" sz="1600" b="1" dirty="0">
                <a:solidFill>
                  <a:schemeClr val="tx2"/>
                </a:solidFill>
              </a:rPr>
              <a:t>PM</a:t>
            </a:r>
            <a:endParaRPr lang="en-US" sz="1600" dirty="0"/>
          </a:p>
        </p:txBody>
      </p:sp>
      <p:sp>
        <p:nvSpPr>
          <p:cNvPr id="11" name="stage PM cmd"/>
          <p:cNvSpPr txBox="1"/>
          <p:nvPr/>
        </p:nvSpPr>
        <p:spPr>
          <a:xfrm>
            <a:off x="2047456" y="3108960"/>
            <a:ext cx="1059904" cy="365760"/>
          </a:xfrm>
          <a:prstGeom prst="rect">
            <a:avLst/>
          </a:prstGeom>
          <a:noFill/>
          <a:ln/>
        </p:spPr>
        <p:txBody>
          <a:bodyPr wrap="square" lIns="0" tIns="0" rIns="0" bIns="0" rtlCol="0" anchor="ctr"/>
          <a:lstStyle/>
          <a:p>
            <a:pPr algn="ctr" indent="0" marL="0">
              <a:buNone/>
            </a:pPr>
            <a:r>
              <a:rPr lang="en-US" sz="1300" dirty="0">
                <a:solidFill>
                  <a:schemeClr val="accent2"/>
                </a:solidFill>
              </a:rPr>
              <a:t>/pm</a:t>
            </a:r>
            <a:endParaRPr lang="en-US" sz="1300" dirty="0"/>
          </a:p>
        </p:txBody>
      </p:sp>
      <p:sp>
        <p:nvSpPr>
          <p:cNvPr id="12" name="stage PM out"/>
          <p:cNvSpPr txBox="1"/>
          <p:nvPr/>
        </p:nvSpPr>
        <p:spPr>
          <a:xfrm>
            <a:off x="2065744" y="3520440"/>
            <a:ext cx="1023328" cy="960120"/>
          </a:xfrm>
          <a:prstGeom prst="rect">
            <a:avLst/>
          </a:prstGeom>
          <a:noFill/>
          <a:ln/>
        </p:spPr>
        <p:txBody>
          <a:bodyPr wrap="square" lIns="0" tIns="0" rIns="0" bIns="0" rtlCol="0" anchor="t"/>
          <a:lstStyle/>
          <a:p>
            <a:pPr algn="ctr" indent="0" marL="0">
              <a:buNone/>
            </a:pPr>
            <a:r>
              <a:rPr lang="en-US" sz="1200" dirty="0">
                <a:solidFill>
                  <a:schemeClr val="tx1"/>
                </a:solidFill>
              </a:rPr>
              <a:t>PRD and epic</a:t>
            </a:r>
            <a:endParaRPr lang="en-US" sz="1200" dirty="0"/>
          </a:p>
        </p:txBody>
      </p:sp>
      <p:sp>
        <p:nvSpPr>
          <p:cNvPr id="13" name="stage BA"/>
          <p:cNvSpPr/>
          <p:nvPr/>
        </p:nvSpPr>
        <p:spPr>
          <a:xfrm>
            <a:off x="3363392" y="1600200"/>
            <a:ext cx="1242784" cy="3017520"/>
          </a:xfrm>
          <a:prstGeom prst="roundRect">
            <a:avLst>
              <a:gd name="adj" fmla="val 5886"/>
            </a:avLst>
          </a:prstGeom>
          <a:solidFill>
            <a:schemeClr val="bg2"/>
          </a:solidFill>
          <a:ln w="12700">
            <a:solidFill>
              <a:schemeClr val="bg2"/>
            </a:solidFill>
            <a:prstDash val="solid"/>
          </a:ln>
        </p:spPr>
      </p:sp>
      <p:sp>
        <p:nvSpPr>
          <p:cNvPr id="14" name="stage BA number"/>
          <p:cNvSpPr txBox="1"/>
          <p:nvPr/>
        </p:nvSpPr>
        <p:spPr>
          <a:xfrm>
            <a:off x="3664744" y="18745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15" name="stage BA name"/>
          <p:cNvSpPr txBox="1"/>
          <p:nvPr/>
        </p:nvSpPr>
        <p:spPr>
          <a:xfrm>
            <a:off x="3454832" y="2651760"/>
            <a:ext cx="1059904" cy="457200"/>
          </a:xfrm>
          <a:prstGeom prst="rect">
            <a:avLst/>
          </a:prstGeom>
          <a:noFill/>
          <a:ln/>
        </p:spPr>
        <p:txBody>
          <a:bodyPr wrap="square" lIns="0" tIns="0" rIns="0" bIns="0" rtlCol="0" anchor="ctr"/>
          <a:lstStyle/>
          <a:p>
            <a:pPr algn="ctr" indent="0" marL="0">
              <a:buNone/>
            </a:pPr>
            <a:r>
              <a:rPr lang="en-US" sz="1600" b="1" dirty="0">
                <a:solidFill>
                  <a:schemeClr val="tx2"/>
                </a:solidFill>
              </a:rPr>
              <a:t>BA</a:t>
            </a:r>
            <a:endParaRPr lang="en-US" sz="1600" dirty="0"/>
          </a:p>
        </p:txBody>
      </p:sp>
      <p:sp>
        <p:nvSpPr>
          <p:cNvPr id="16" name="stage BA cmd"/>
          <p:cNvSpPr txBox="1"/>
          <p:nvPr/>
        </p:nvSpPr>
        <p:spPr>
          <a:xfrm>
            <a:off x="3454832" y="3108960"/>
            <a:ext cx="1059904" cy="365760"/>
          </a:xfrm>
          <a:prstGeom prst="rect">
            <a:avLst/>
          </a:prstGeom>
          <a:noFill/>
          <a:ln/>
        </p:spPr>
        <p:txBody>
          <a:bodyPr wrap="square" lIns="0" tIns="0" rIns="0" bIns="0" rtlCol="0" anchor="ctr"/>
          <a:lstStyle/>
          <a:p>
            <a:pPr algn="ctr" indent="0" marL="0">
              <a:buNone/>
            </a:pPr>
            <a:r>
              <a:rPr lang="en-US" sz="1300" dirty="0">
                <a:solidFill>
                  <a:schemeClr val="accent2"/>
                </a:solidFill>
              </a:rPr>
              <a:t>/ba</a:t>
            </a:r>
            <a:endParaRPr lang="en-US" sz="1300" dirty="0"/>
          </a:p>
        </p:txBody>
      </p:sp>
      <p:sp>
        <p:nvSpPr>
          <p:cNvPr id="17" name="stage BA out"/>
          <p:cNvSpPr txBox="1"/>
          <p:nvPr/>
        </p:nvSpPr>
        <p:spPr>
          <a:xfrm>
            <a:off x="3473120" y="3520440"/>
            <a:ext cx="1023328" cy="960120"/>
          </a:xfrm>
          <a:prstGeom prst="rect">
            <a:avLst/>
          </a:prstGeom>
          <a:noFill/>
          <a:ln/>
        </p:spPr>
        <p:txBody>
          <a:bodyPr wrap="square" lIns="0" tIns="0" rIns="0" bIns="0" rtlCol="0" anchor="t"/>
          <a:lstStyle/>
          <a:p>
            <a:pPr algn="ctr" indent="0" marL="0">
              <a:buNone/>
            </a:pPr>
            <a:r>
              <a:rPr lang="en-US" sz="1200" dirty="0">
                <a:solidFill>
                  <a:schemeClr val="tx1"/>
                </a:solidFill>
              </a:rPr>
              <a:t>Stories and acceptance criteria</a:t>
            </a:r>
            <a:endParaRPr lang="en-US" sz="1200" dirty="0"/>
          </a:p>
        </p:txBody>
      </p:sp>
      <p:sp>
        <p:nvSpPr>
          <p:cNvPr id="18" name="stage Architect"/>
          <p:cNvSpPr/>
          <p:nvPr/>
        </p:nvSpPr>
        <p:spPr>
          <a:xfrm>
            <a:off x="4770768" y="1600200"/>
            <a:ext cx="1242784" cy="3017520"/>
          </a:xfrm>
          <a:prstGeom prst="roundRect">
            <a:avLst>
              <a:gd name="adj" fmla="val 5886"/>
            </a:avLst>
          </a:prstGeom>
          <a:solidFill>
            <a:schemeClr val="bg2"/>
          </a:solidFill>
          <a:ln w="12700">
            <a:solidFill>
              <a:schemeClr val="bg2"/>
            </a:solidFill>
            <a:prstDash val="solid"/>
          </a:ln>
        </p:spPr>
      </p:sp>
      <p:sp>
        <p:nvSpPr>
          <p:cNvPr id="19" name="stage Architect number"/>
          <p:cNvSpPr txBox="1"/>
          <p:nvPr/>
        </p:nvSpPr>
        <p:spPr>
          <a:xfrm>
            <a:off x="5072120" y="18745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20" name="stage Architect name"/>
          <p:cNvSpPr txBox="1"/>
          <p:nvPr/>
        </p:nvSpPr>
        <p:spPr>
          <a:xfrm>
            <a:off x="4862208" y="2651760"/>
            <a:ext cx="1059904" cy="457200"/>
          </a:xfrm>
          <a:prstGeom prst="rect">
            <a:avLst/>
          </a:prstGeom>
          <a:noFill/>
          <a:ln/>
        </p:spPr>
        <p:txBody>
          <a:bodyPr wrap="square" lIns="0" tIns="0" rIns="0" bIns="0" rtlCol="0" anchor="ctr"/>
          <a:lstStyle/>
          <a:p>
            <a:pPr algn="ctr" indent="0" marL="0">
              <a:buNone/>
            </a:pPr>
            <a:r>
              <a:rPr lang="en-US" sz="1600" b="1" dirty="0">
                <a:solidFill>
                  <a:schemeClr val="tx2"/>
                </a:solidFill>
              </a:rPr>
              <a:t>Architect</a:t>
            </a:r>
            <a:endParaRPr lang="en-US" sz="1600" dirty="0"/>
          </a:p>
        </p:txBody>
      </p:sp>
      <p:sp>
        <p:nvSpPr>
          <p:cNvPr id="21" name="stage Architect cmd"/>
          <p:cNvSpPr txBox="1"/>
          <p:nvPr/>
        </p:nvSpPr>
        <p:spPr>
          <a:xfrm>
            <a:off x="4862208" y="3108960"/>
            <a:ext cx="1059904" cy="365760"/>
          </a:xfrm>
          <a:prstGeom prst="rect">
            <a:avLst/>
          </a:prstGeom>
          <a:noFill/>
          <a:ln/>
        </p:spPr>
        <p:txBody>
          <a:bodyPr wrap="square" lIns="0" tIns="0" rIns="0" bIns="0" rtlCol="0" anchor="ctr"/>
          <a:lstStyle/>
          <a:p>
            <a:pPr algn="ctr" indent="0" marL="0">
              <a:buNone/>
            </a:pPr>
            <a:r>
              <a:rPr lang="en-US" sz="1300" dirty="0">
                <a:solidFill>
                  <a:schemeClr val="accent2"/>
                </a:solidFill>
              </a:rPr>
              <a:t>/arch</a:t>
            </a:r>
            <a:endParaRPr lang="en-US" sz="1300" dirty="0"/>
          </a:p>
        </p:txBody>
      </p:sp>
      <p:sp>
        <p:nvSpPr>
          <p:cNvPr id="22" name="stage Architect out"/>
          <p:cNvSpPr txBox="1"/>
          <p:nvPr/>
        </p:nvSpPr>
        <p:spPr>
          <a:xfrm>
            <a:off x="4880496" y="3520440"/>
            <a:ext cx="1023328" cy="960120"/>
          </a:xfrm>
          <a:prstGeom prst="rect">
            <a:avLst/>
          </a:prstGeom>
          <a:noFill/>
          <a:ln/>
        </p:spPr>
        <p:txBody>
          <a:bodyPr wrap="square" lIns="0" tIns="0" rIns="0" bIns="0" rtlCol="0" anchor="t"/>
          <a:lstStyle/>
          <a:p>
            <a:pPr algn="ctr" indent="0" marL="0">
              <a:buNone/>
            </a:pPr>
            <a:r>
              <a:rPr lang="en-US" sz="1200" dirty="0">
                <a:solidFill>
                  <a:schemeClr val="tx1"/>
                </a:solidFill>
              </a:rPr>
              <a:t>Design D1–D20</a:t>
            </a:r>
            <a:endParaRPr lang="en-US" sz="1200" dirty="0"/>
          </a:p>
        </p:txBody>
      </p:sp>
      <p:sp>
        <p:nvSpPr>
          <p:cNvPr id="23" name="stage Dev"/>
          <p:cNvSpPr/>
          <p:nvPr/>
        </p:nvSpPr>
        <p:spPr>
          <a:xfrm>
            <a:off x="6178144" y="1600200"/>
            <a:ext cx="1242784" cy="3017520"/>
          </a:xfrm>
          <a:prstGeom prst="roundRect">
            <a:avLst>
              <a:gd name="adj" fmla="val 5886"/>
            </a:avLst>
          </a:prstGeom>
          <a:solidFill>
            <a:schemeClr val="bg2"/>
          </a:solidFill>
          <a:ln w="12700">
            <a:solidFill>
              <a:schemeClr val="bg2"/>
            </a:solidFill>
            <a:prstDash val="solid"/>
          </a:ln>
        </p:spPr>
      </p:sp>
      <p:sp>
        <p:nvSpPr>
          <p:cNvPr id="24" name="stage Dev number"/>
          <p:cNvSpPr txBox="1"/>
          <p:nvPr/>
        </p:nvSpPr>
        <p:spPr>
          <a:xfrm>
            <a:off x="6479496" y="18745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4</a:t>
            </a:r>
            <a:endParaRPr lang="en-US" sz="1800" dirty="0"/>
          </a:p>
        </p:txBody>
      </p:sp>
      <p:sp>
        <p:nvSpPr>
          <p:cNvPr id="25" name="stage Dev name"/>
          <p:cNvSpPr txBox="1"/>
          <p:nvPr/>
        </p:nvSpPr>
        <p:spPr>
          <a:xfrm>
            <a:off x="6269584" y="2651760"/>
            <a:ext cx="1059904" cy="457200"/>
          </a:xfrm>
          <a:prstGeom prst="rect">
            <a:avLst/>
          </a:prstGeom>
          <a:noFill/>
          <a:ln/>
        </p:spPr>
        <p:txBody>
          <a:bodyPr wrap="square" lIns="0" tIns="0" rIns="0" bIns="0" rtlCol="0" anchor="ctr"/>
          <a:lstStyle/>
          <a:p>
            <a:pPr algn="ctr" indent="0" marL="0">
              <a:buNone/>
            </a:pPr>
            <a:r>
              <a:rPr lang="en-US" sz="1600" b="1" dirty="0">
                <a:solidFill>
                  <a:schemeClr val="tx2"/>
                </a:solidFill>
              </a:rPr>
              <a:t>Dev</a:t>
            </a:r>
            <a:endParaRPr lang="en-US" sz="1600" dirty="0"/>
          </a:p>
        </p:txBody>
      </p:sp>
      <p:sp>
        <p:nvSpPr>
          <p:cNvPr id="26" name="stage Dev cmd"/>
          <p:cNvSpPr txBox="1"/>
          <p:nvPr/>
        </p:nvSpPr>
        <p:spPr>
          <a:xfrm>
            <a:off x="6269584" y="3108960"/>
            <a:ext cx="1059904" cy="365760"/>
          </a:xfrm>
          <a:prstGeom prst="rect">
            <a:avLst/>
          </a:prstGeom>
          <a:noFill/>
          <a:ln/>
        </p:spPr>
        <p:txBody>
          <a:bodyPr wrap="square" lIns="0" tIns="0" rIns="0" bIns="0" rtlCol="0" anchor="ctr"/>
          <a:lstStyle/>
          <a:p>
            <a:pPr algn="ctr" indent="0" marL="0">
              <a:buNone/>
            </a:pPr>
            <a:r>
              <a:rPr lang="en-US" sz="1300" dirty="0">
                <a:solidFill>
                  <a:schemeClr val="accent2"/>
                </a:solidFill>
              </a:rPr>
              <a:t>/dev</a:t>
            </a:r>
            <a:endParaRPr lang="en-US" sz="1300" dirty="0"/>
          </a:p>
        </p:txBody>
      </p:sp>
      <p:sp>
        <p:nvSpPr>
          <p:cNvPr id="27" name="stage Dev out"/>
          <p:cNvSpPr txBox="1"/>
          <p:nvPr/>
        </p:nvSpPr>
        <p:spPr>
          <a:xfrm>
            <a:off x="6287872" y="3520440"/>
            <a:ext cx="1023328" cy="960120"/>
          </a:xfrm>
          <a:prstGeom prst="rect">
            <a:avLst/>
          </a:prstGeom>
          <a:noFill/>
          <a:ln/>
        </p:spPr>
        <p:txBody>
          <a:bodyPr wrap="square" lIns="0" tIns="0" rIns="0" bIns="0" rtlCol="0" anchor="t"/>
          <a:lstStyle/>
          <a:p>
            <a:pPr algn="ctr" indent="0" marL="0">
              <a:buNone/>
            </a:pPr>
            <a:r>
              <a:rPr lang="en-US" sz="1200" dirty="0">
                <a:solidFill>
                  <a:schemeClr val="tx1"/>
                </a:solidFill>
              </a:rPr>
              <a:t>Code, tests, PR</a:t>
            </a:r>
            <a:endParaRPr lang="en-US" sz="1200" dirty="0"/>
          </a:p>
        </p:txBody>
      </p:sp>
      <p:sp>
        <p:nvSpPr>
          <p:cNvPr id="28" name="stage Code Review"/>
          <p:cNvSpPr/>
          <p:nvPr/>
        </p:nvSpPr>
        <p:spPr>
          <a:xfrm>
            <a:off x="7585520" y="1600200"/>
            <a:ext cx="1242784" cy="3017520"/>
          </a:xfrm>
          <a:prstGeom prst="roundRect">
            <a:avLst>
              <a:gd name="adj" fmla="val 5886"/>
            </a:avLst>
          </a:prstGeom>
          <a:solidFill>
            <a:schemeClr val="bg2"/>
          </a:solidFill>
          <a:ln w="12700">
            <a:solidFill>
              <a:schemeClr val="bg2"/>
            </a:solidFill>
            <a:prstDash val="solid"/>
          </a:ln>
        </p:spPr>
      </p:sp>
      <p:sp>
        <p:nvSpPr>
          <p:cNvPr id="29" name="stage Code Review number"/>
          <p:cNvSpPr txBox="1"/>
          <p:nvPr/>
        </p:nvSpPr>
        <p:spPr>
          <a:xfrm>
            <a:off x="7886871" y="18745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5</a:t>
            </a:r>
            <a:endParaRPr lang="en-US" sz="1800" dirty="0"/>
          </a:p>
        </p:txBody>
      </p:sp>
      <p:sp>
        <p:nvSpPr>
          <p:cNvPr id="30" name="stage Code Review name"/>
          <p:cNvSpPr txBox="1"/>
          <p:nvPr/>
        </p:nvSpPr>
        <p:spPr>
          <a:xfrm>
            <a:off x="7676960" y="2651760"/>
            <a:ext cx="1059904" cy="457200"/>
          </a:xfrm>
          <a:prstGeom prst="rect">
            <a:avLst/>
          </a:prstGeom>
          <a:noFill/>
          <a:ln/>
        </p:spPr>
        <p:txBody>
          <a:bodyPr wrap="square" lIns="0" tIns="0" rIns="0" bIns="0" rtlCol="0" anchor="ctr"/>
          <a:lstStyle/>
          <a:p>
            <a:pPr algn="ctr" indent="0" marL="0">
              <a:buNone/>
            </a:pPr>
            <a:r>
              <a:rPr lang="en-US" sz="1600" b="1" dirty="0">
                <a:solidFill>
                  <a:schemeClr val="tx2"/>
                </a:solidFill>
              </a:rPr>
              <a:t>Code Review</a:t>
            </a:r>
            <a:endParaRPr lang="en-US" sz="1600" dirty="0"/>
          </a:p>
        </p:txBody>
      </p:sp>
      <p:sp>
        <p:nvSpPr>
          <p:cNvPr id="31" name="stage Code Review cmd"/>
          <p:cNvSpPr txBox="1"/>
          <p:nvPr/>
        </p:nvSpPr>
        <p:spPr>
          <a:xfrm>
            <a:off x="7676960" y="3108960"/>
            <a:ext cx="1059904" cy="365760"/>
          </a:xfrm>
          <a:prstGeom prst="rect">
            <a:avLst/>
          </a:prstGeom>
          <a:noFill/>
          <a:ln/>
        </p:spPr>
        <p:txBody>
          <a:bodyPr wrap="square" lIns="0" tIns="0" rIns="0" bIns="0" rtlCol="0" anchor="ctr"/>
          <a:lstStyle/>
          <a:p>
            <a:pPr algn="ctr" indent="0" marL="0">
              <a:buNone/>
            </a:pPr>
            <a:r>
              <a:rPr lang="en-US" sz="1300" dirty="0">
                <a:solidFill>
                  <a:schemeClr val="accent2"/>
                </a:solidFill>
              </a:rPr>
              <a:t>/review</a:t>
            </a:r>
            <a:endParaRPr lang="en-US" sz="1300" dirty="0"/>
          </a:p>
        </p:txBody>
      </p:sp>
      <p:sp>
        <p:nvSpPr>
          <p:cNvPr id="32" name="stage Code Review out"/>
          <p:cNvSpPr txBox="1"/>
          <p:nvPr/>
        </p:nvSpPr>
        <p:spPr>
          <a:xfrm>
            <a:off x="7695248" y="3520440"/>
            <a:ext cx="1023328" cy="960120"/>
          </a:xfrm>
          <a:prstGeom prst="rect">
            <a:avLst/>
          </a:prstGeom>
          <a:noFill/>
          <a:ln/>
        </p:spPr>
        <p:txBody>
          <a:bodyPr wrap="square" lIns="0" tIns="0" rIns="0" bIns="0" rtlCol="0" anchor="t"/>
          <a:lstStyle/>
          <a:p>
            <a:pPr algn="ctr" indent="0" marL="0">
              <a:buNone/>
            </a:pPr>
            <a:r>
              <a:rPr lang="en-US" sz="1200" dirty="0">
                <a:solidFill>
                  <a:schemeClr val="tx1"/>
                </a:solidFill>
              </a:rPr>
              <a:t>Review comment on the PR</a:t>
            </a:r>
            <a:endParaRPr lang="en-US" sz="1200" dirty="0"/>
          </a:p>
        </p:txBody>
      </p:sp>
      <p:sp>
        <p:nvSpPr>
          <p:cNvPr id="33" name="stage QA"/>
          <p:cNvSpPr/>
          <p:nvPr/>
        </p:nvSpPr>
        <p:spPr>
          <a:xfrm>
            <a:off x="8992895" y="1600200"/>
            <a:ext cx="1242784" cy="3017520"/>
          </a:xfrm>
          <a:prstGeom prst="roundRect">
            <a:avLst>
              <a:gd name="adj" fmla="val 5886"/>
            </a:avLst>
          </a:prstGeom>
          <a:solidFill>
            <a:schemeClr val="bg2"/>
          </a:solidFill>
          <a:ln w="12700">
            <a:solidFill>
              <a:schemeClr val="bg2"/>
            </a:solidFill>
            <a:prstDash val="solid"/>
          </a:ln>
        </p:spPr>
      </p:sp>
      <p:sp>
        <p:nvSpPr>
          <p:cNvPr id="34" name="stage QA number"/>
          <p:cNvSpPr txBox="1"/>
          <p:nvPr/>
        </p:nvSpPr>
        <p:spPr>
          <a:xfrm>
            <a:off x="9294247" y="18745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6</a:t>
            </a:r>
            <a:endParaRPr lang="en-US" sz="1800" dirty="0"/>
          </a:p>
        </p:txBody>
      </p:sp>
      <p:sp>
        <p:nvSpPr>
          <p:cNvPr id="35" name="stage QA name"/>
          <p:cNvSpPr txBox="1"/>
          <p:nvPr/>
        </p:nvSpPr>
        <p:spPr>
          <a:xfrm>
            <a:off x="9084335" y="2651760"/>
            <a:ext cx="1059904" cy="457200"/>
          </a:xfrm>
          <a:prstGeom prst="rect">
            <a:avLst/>
          </a:prstGeom>
          <a:noFill/>
          <a:ln/>
        </p:spPr>
        <p:txBody>
          <a:bodyPr wrap="square" lIns="0" tIns="0" rIns="0" bIns="0" rtlCol="0" anchor="ctr"/>
          <a:lstStyle/>
          <a:p>
            <a:pPr algn="ctr" indent="0" marL="0">
              <a:buNone/>
            </a:pPr>
            <a:r>
              <a:rPr lang="en-US" sz="1600" b="1" dirty="0">
                <a:solidFill>
                  <a:schemeClr val="tx2"/>
                </a:solidFill>
              </a:rPr>
              <a:t>QA</a:t>
            </a:r>
            <a:endParaRPr lang="en-US" sz="1600" dirty="0"/>
          </a:p>
        </p:txBody>
      </p:sp>
      <p:sp>
        <p:nvSpPr>
          <p:cNvPr id="36" name="stage QA cmd"/>
          <p:cNvSpPr txBox="1"/>
          <p:nvPr/>
        </p:nvSpPr>
        <p:spPr>
          <a:xfrm>
            <a:off x="9084335" y="3108960"/>
            <a:ext cx="1059904" cy="365760"/>
          </a:xfrm>
          <a:prstGeom prst="rect">
            <a:avLst/>
          </a:prstGeom>
          <a:noFill/>
          <a:ln/>
        </p:spPr>
        <p:txBody>
          <a:bodyPr wrap="square" lIns="0" tIns="0" rIns="0" bIns="0" rtlCol="0" anchor="ctr"/>
          <a:lstStyle/>
          <a:p>
            <a:pPr algn="ctr" indent="0" marL="0">
              <a:buNone/>
            </a:pPr>
            <a:r>
              <a:rPr lang="en-US" sz="1300" dirty="0">
                <a:solidFill>
                  <a:schemeClr val="accent2"/>
                </a:solidFill>
              </a:rPr>
              <a:t>/qa</a:t>
            </a:r>
            <a:endParaRPr lang="en-US" sz="1300" dirty="0"/>
          </a:p>
        </p:txBody>
      </p:sp>
      <p:sp>
        <p:nvSpPr>
          <p:cNvPr id="37" name="stage QA out"/>
          <p:cNvSpPr txBox="1"/>
          <p:nvPr/>
        </p:nvSpPr>
        <p:spPr>
          <a:xfrm>
            <a:off x="9102623" y="3520440"/>
            <a:ext cx="1023328" cy="960120"/>
          </a:xfrm>
          <a:prstGeom prst="rect">
            <a:avLst/>
          </a:prstGeom>
          <a:noFill/>
          <a:ln/>
        </p:spPr>
        <p:txBody>
          <a:bodyPr wrap="square" lIns="0" tIns="0" rIns="0" bIns="0" rtlCol="0" anchor="t"/>
          <a:lstStyle/>
          <a:p>
            <a:pPr algn="ctr" indent="0" marL="0">
              <a:buNone/>
            </a:pPr>
            <a:r>
              <a:rPr lang="en-US" sz="1200" dirty="0">
                <a:solidFill>
                  <a:schemeClr val="tx1"/>
                </a:solidFill>
              </a:rPr>
              <a:t>Acceptance evidence</a:t>
            </a:r>
            <a:endParaRPr lang="en-US" sz="1200" dirty="0"/>
          </a:p>
        </p:txBody>
      </p:sp>
      <p:sp>
        <p:nvSpPr>
          <p:cNvPr id="38" name="stage Docs"/>
          <p:cNvSpPr/>
          <p:nvPr/>
        </p:nvSpPr>
        <p:spPr>
          <a:xfrm>
            <a:off x="10400271" y="1600200"/>
            <a:ext cx="1242784" cy="3017520"/>
          </a:xfrm>
          <a:prstGeom prst="roundRect">
            <a:avLst>
              <a:gd name="adj" fmla="val 5886"/>
            </a:avLst>
          </a:prstGeom>
          <a:solidFill>
            <a:schemeClr val="bg2"/>
          </a:solidFill>
          <a:ln w="12700">
            <a:solidFill>
              <a:schemeClr val="bg2"/>
            </a:solidFill>
            <a:prstDash val="solid"/>
          </a:ln>
        </p:spPr>
      </p:sp>
      <p:sp>
        <p:nvSpPr>
          <p:cNvPr id="39" name="stage Docs number"/>
          <p:cNvSpPr txBox="1"/>
          <p:nvPr/>
        </p:nvSpPr>
        <p:spPr>
          <a:xfrm>
            <a:off x="10701623" y="18745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7</a:t>
            </a:r>
            <a:endParaRPr lang="en-US" sz="1800" dirty="0"/>
          </a:p>
        </p:txBody>
      </p:sp>
      <p:sp>
        <p:nvSpPr>
          <p:cNvPr id="40" name="stage Docs name"/>
          <p:cNvSpPr txBox="1"/>
          <p:nvPr/>
        </p:nvSpPr>
        <p:spPr>
          <a:xfrm>
            <a:off x="10491711" y="2651760"/>
            <a:ext cx="1059904" cy="457200"/>
          </a:xfrm>
          <a:prstGeom prst="rect">
            <a:avLst/>
          </a:prstGeom>
          <a:noFill/>
          <a:ln/>
        </p:spPr>
        <p:txBody>
          <a:bodyPr wrap="square" lIns="0" tIns="0" rIns="0" bIns="0" rtlCol="0" anchor="ctr"/>
          <a:lstStyle/>
          <a:p>
            <a:pPr algn="ctr" indent="0" marL="0">
              <a:buNone/>
            </a:pPr>
            <a:r>
              <a:rPr lang="en-US" sz="1600" b="1" dirty="0">
                <a:solidFill>
                  <a:schemeClr val="tx2"/>
                </a:solidFill>
              </a:rPr>
              <a:t>Docs</a:t>
            </a:r>
            <a:endParaRPr lang="en-US" sz="1600" dirty="0"/>
          </a:p>
        </p:txBody>
      </p:sp>
      <p:sp>
        <p:nvSpPr>
          <p:cNvPr id="41" name="stage Docs cmd"/>
          <p:cNvSpPr txBox="1"/>
          <p:nvPr/>
        </p:nvSpPr>
        <p:spPr>
          <a:xfrm>
            <a:off x="10491711" y="3108960"/>
            <a:ext cx="1059904" cy="365760"/>
          </a:xfrm>
          <a:prstGeom prst="rect">
            <a:avLst/>
          </a:prstGeom>
          <a:noFill/>
          <a:ln/>
        </p:spPr>
        <p:txBody>
          <a:bodyPr wrap="square" lIns="0" tIns="0" rIns="0" bIns="0" rtlCol="0" anchor="ctr"/>
          <a:lstStyle/>
          <a:p>
            <a:pPr algn="ctr" indent="0" marL="0">
              <a:buNone/>
            </a:pPr>
            <a:r>
              <a:rPr lang="en-US" sz="1300" dirty="0">
                <a:solidFill>
                  <a:schemeClr val="accent2"/>
                </a:solidFill>
              </a:rPr>
              <a:t>/doc</a:t>
            </a:r>
            <a:endParaRPr lang="en-US" sz="1300" dirty="0"/>
          </a:p>
        </p:txBody>
      </p:sp>
      <p:sp>
        <p:nvSpPr>
          <p:cNvPr id="42" name="stage Docs out"/>
          <p:cNvSpPr txBox="1"/>
          <p:nvPr/>
        </p:nvSpPr>
        <p:spPr>
          <a:xfrm>
            <a:off x="10509999" y="3520440"/>
            <a:ext cx="1023328" cy="960120"/>
          </a:xfrm>
          <a:prstGeom prst="rect">
            <a:avLst/>
          </a:prstGeom>
          <a:noFill/>
          <a:ln/>
        </p:spPr>
        <p:txBody>
          <a:bodyPr wrap="square" lIns="0" tIns="0" rIns="0" bIns="0" rtlCol="0" anchor="t"/>
          <a:lstStyle/>
          <a:p>
            <a:pPr algn="ctr" indent="0" marL="0">
              <a:buNone/>
            </a:pPr>
            <a:r>
              <a:rPr lang="en-US" sz="1200" dirty="0">
                <a:solidFill>
                  <a:schemeClr val="tx1"/>
                </a:solidFill>
              </a:rPr>
              <a:t>API spec and rulebook sync</a:t>
            </a:r>
            <a:endParaRPr lang="en-US" sz="1200" dirty="0"/>
          </a:p>
        </p:txBody>
      </p:sp>
      <p:sp>
        <p:nvSpPr>
          <p:cNvPr id="43" name="helpers note"/>
          <p:cNvSpPr txBox="1"/>
          <p:nvPr/>
        </p:nvSpPr>
        <p:spPr>
          <a:xfrm>
            <a:off x="548640" y="4892040"/>
            <a:ext cx="11094415" cy="640080"/>
          </a:xfrm>
          <a:prstGeom prst="rect">
            <a:avLst/>
          </a:prstGeom>
          <a:noFill/>
          <a:ln/>
        </p:spPr>
        <p:txBody>
          <a:bodyPr wrap="square" lIns="0" tIns="0" rIns="0" bIns="0" rtlCol="0" anchor="ctr"/>
          <a:lstStyle/>
          <a:p>
            <a:pPr indent="0" marL="0">
              <a:buNone/>
            </a:pPr>
            <a:r>
              <a:rPr lang="en-US" sz="1400" b="1" dirty="0">
                <a:solidFill>
                  <a:schemeClr val="tx2"/>
                </a:solidFill>
              </a:rPr>
              <a:t>Helpers: </a:t>
            </a:r>
            <a:pPr indent="0" marL="0">
              <a:buNone/>
            </a:pPr>
            <a:r>
              <a:rPr lang="en-US" sz="1400" dirty="0">
                <a:solidFill>
                  <a:schemeClr val="tx1"/>
                </a:solidFill>
              </a:rPr>
              <a:t>bmad-critic judges every stage independently (read-only). bmad-bfsi-advisor answers domain questions on trading, allocation, settlement, payments and lending.</a:t>
            </a:r>
            <a:endParaRPr lang="en-US" sz="1400" dirty="0"/>
          </a:p>
        </p:txBody>
      </p:sp>
      <p:sp>
        <p:nvSpPr>
          <p:cNvPr id="44" name="handoff note"/>
          <p:cNvSpPr txBox="1"/>
          <p:nvPr/>
        </p:nvSpPr>
        <p:spPr>
          <a:xfrm>
            <a:off x="548640" y="5577840"/>
            <a:ext cx="11094415" cy="365760"/>
          </a:xfrm>
          <a:prstGeom prst="rect">
            <a:avLst/>
          </a:prstGeom>
          <a:noFill/>
          <a:ln/>
        </p:spPr>
        <p:txBody>
          <a:bodyPr wrap="square" lIns="0" tIns="0" rIns="0" bIns="0" rtlCol="0" anchor="ctr"/>
          <a:lstStyle/>
          <a:p>
            <a:pPr indent="0" marL="0">
              <a:buNone/>
            </a:pPr>
            <a:r>
              <a:rPr lang="en-US" sz="1300" i="1" dirty="0">
                <a:solidFill>
                  <a:schemeClr val="accent2"/>
                </a:solidFill>
              </a:rPr>
              <a:t>A hand-off button under each agent's reply opens the next stage.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Every stage runs the same controlled loop</a:t>
            </a:r>
            <a:endParaRPr lang="en-US" sz="3200" dirty="0"/>
          </a:p>
        </p:txBody>
      </p:sp>
      <p:sp>
        <p:nvSpPr>
          <p:cNvPr id="3" name="loop Change"/>
          <p:cNvSpPr/>
          <p:nvPr/>
        </p:nvSpPr>
        <p:spPr>
          <a:xfrm>
            <a:off x="548640" y="1645920"/>
            <a:ext cx="1962851" cy="2011680"/>
          </a:xfrm>
          <a:prstGeom prst="roundRect">
            <a:avLst>
              <a:gd name="adj" fmla="val 3727"/>
            </a:avLst>
          </a:prstGeom>
          <a:solidFill>
            <a:schemeClr val="bg2"/>
          </a:solidFill>
          <a:ln w="12700">
            <a:solidFill>
              <a:schemeClr val="bg2"/>
            </a:solidFill>
            <a:prstDash val="solid"/>
          </a:ln>
        </p:spPr>
      </p:sp>
      <p:sp>
        <p:nvSpPr>
          <p:cNvPr id="4" name="loop Change number"/>
          <p:cNvSpPr txBox="1"/>
          <p:nvPr/>
        </p:nvSpPr>
        <p:spPr>
          <a:xfrm>
            <a:off x="777240" y="1874520"/>
            <a:ext cx="502920" cy="50292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5" name="loop Change name"/>
          <p:cNvSpPr txBox="1"/>
          <p:nvPr/>
        </p:nvSpPr>
        <p:spPr>
          <a:xfrm>
            <a:off x="1417320" y="1874520"/>
            <a:ext cx="957011" cy="502920"/>
          </a:xfrm>
          <a:prstGeom prst="rect">
            <a:avLst/>
          </a:prstGeom>
          <a:noFill/>
          <a:ln/>
        </p:spPr>
        <p:txBody>
          <a:bodyPr wrap="square" lIns="0" tIns="0" rIns="0" bIns="0" rtlCol="0" anchor="ctr"/>
          <a:lstStyle/>
          <a:p>
            <a:pPr indent="0" marL="0">
              <a:buNone/>
            </a:pPr>
            <a:r>
              <a:rPr lang="en-US" sz="1700" b="1" dirty="0">
                <a:solidFill>
                  <a:schemeClr val="tx2"/>
                </a:solidFill>
              </a:rPr>
              <a:t>Change</a:t>
            </a:r>
            <a:endParaRPr lang="en-US" sz="1700" dirty="0"/>
          </a:p>
        </p:txBody>
      </p:sp>
      <p:sp>
        <p:nvSpPr>
          <p:cNvPr id="6" name="loop Change text"/>
          <p:cNvSpPr txBox="1"/>
          <p:nvPr/>
        </p:nvSpPr>
        <p:spPr>
          <a:xfrm>
            <a:off x="777240" y="2560320"/>
            <a:ext cx="1505651" cy="960120"/>
          </a:xfrm>
          <a:prstGeom prst="rect">
            <a:avLst/>
          </a:prstGeom>
          <a:noFill/>
          <a:ln/>
        </p:spPr>
        <p:txBody>
          <a:bodyPr wrap="square" lIns="0" tIns="0" rIns="0" bIns="0" rtlCol="0" anchor="t"/>
          <a:lstStyle/>
          <a:p>
            <a:pPr indent="0" marL="0">
              <a:buNone/>
            </a:pPr>
            <a:r>
              <a:rPr lang="en-US" sz="1300" dirty="0">
                <a:solidFill>
                  <a:schemeClr val="tx1"/>
                </a:solidFill>
              </a:rPr>
              <a:t>Agent edits one step: a document or a code layer</a:t>
            </a:r>
            <a:endParaRPr lang="en-US" sz="1300" dirty="0"/>
          </a:p>
        </p:txBody>
      </p:sp>
      <p:sp>
        <p:nvSpPr>
          <p:cNvPr id="7" name="loop arrow 1"/>
          <p:cNvSpPr/>
          <p:nvPr/>
        </p:nvSpPr>
        <p:spPr>
          <a:xfrm>
            <a:off x="2557211" y="2514600"/>
            <a:ext cx="228600" cy="274320"/>
          </a:xfrm>
          <a:prstGeom prst="rightArrow">
            <a:avLst/>
          </a:prstGeom>
          <a:solidFill>
            <a:schemeClr val="accent3"/>
          </a:solidFill>
          <a:ln w="12700">
            <a:solidFill>
              <a:schemeClr val="accent3"/>
            </a:solidFill>
            <a:prstDash val="solid"/>
          </a:ln>
        </p:spPr>
      </p:sp>
      <p:sp>
        <p:nvSpPr>
          <p:cNvPr id="8" name="loop Your review"/>
          <p:cNvSpPr/>
          <p:nvPr/>
        </p:nvSpPr>
        <p:spPr>
          <a:xfrm>
            <a:off x="2831531" y="1645920"/>
            <a:ext cx="1962851" cy="2011680"/>
          </a:xfrm>
          <a:prstGeom prst="roundRect">
            <a:avLst>
              <a:gd name="adj" fmla="val 3727"/>
            </a:avLst>
          </a:prstGeom>
          <a:solidFill>
            <a:schemeClr val="tx2"/>
          </a:solidFill>
          <a:ln w="12700">
            <a:solidFill>
              <a:schemeClr val="tx2"/>
            </a:solidFill>
            <a:prstDash val="solid"/>
          </a:ln>
        </p:spPr>
      </p:sp>
      <p:sp>
        <p:nvSpPr>
          <p:cNvPr id="9" name="loop Your review number"/>
          <p:cNvSpPr txBox="1"/>
          <p:nvPr/>
        </p:nvSpPr>
        <p:spPr>
          <a:xfrm>
            <a:off x="3060131" y="1874520"/>
            <a:ext cx="502920" cy="50292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0" name="loop Your review name"/>
          <p:cNvSpPr txBox="1"/>
          <p:nvPr/>
        </p:nvSpPr>
        <p:spPr>
          <a:xfrm>
            <a:off x="3700211" y="1874520"/>
            <a:ext cx="957011" cy="502920"/>
          </a:xfrm>
          <a:prstGeom prst="rect">
            <a:avLst/>
          </a:prstGeom>
          <a:noFill/>
          <a:ln/>
        </p:spPr>
        <p:txBody>
          <a:bodyPr wrap="square" lIns="0" tIns="0" rIns="0" bIns="0" rtlCol="0" anchor="ctr"/>
          <a:lstStyle/>
          <a:p>
            <a:pPr indent="0" marL="0">
              <a:buNone/>
            </a:pPr>
            <a:r>
              <a:rPr lang="en-US" sz="1700" b="1" dirty="0">
                <a:solidFill>
                  <a:schemeClr val="bg1"/>
                </a:solidFill>
              </a:rPr>
              <a:t>Your review</a:t>
            </a:r>
            <a:endParaRPr lang="en-US" sz="1700" dirty="0"/>
          </a:p>
        </p:txBody>
      </p:sp>
      <p:sp>
        <p:nvSpPr>
          <p:cNvPr id="11" name="loop Your review text"/>
          <p:cNvSpPr txBox="1"/>
          <p:nvPr/>
        </p:nvSpPr>
        <p:spPr>
          <a:xfrm>
            <a:off x="3060131" y="2560320"/>
            <a:ext cx="1505651" cy="960120"/>
          </a:xfrm>
          <a:prstGeom prst="rect">
            <a:avLst/>
          </a:prstGeom>
          <a:noFill/>
          <a:ln/>
        </p:spPr>
        <p:txBody>
          <a:bodyPr wrap="square" lIns="0" tIns="0" rIns="0" bIns="0" rtlCol="0" anchor="t"/>
          <a:lstStyle/>
          <a:p>
            <a:pPr indent="0" marL="0">
              <a:buNone/>
            </a:pPr>
            <a:r>
              <a:rPr lang="en-US" sz="1300" dirty="0">
                <a:solidFill>
                  <a:schemeClr val="bg2"/>
                </a:solidFill>
              </a:rPr>
              <a:t>Keep / Undo in the editor, then keep, revise or discard</a:t>
            </a:r>
            <a:endParaRPr lang="en-US" sz="1300" dirty="0"/>
          </a:p>
        </p:txBody>
      </p:sp>
      <p:sp>
        <p:nvSpPr>
          <p:cNvPr id="12" name="loop arrow 2"/>
          <p:cNvSpPr/>
          <p:nvPr/>
        </p:nvSpPr>
        <p:spPr>
          <a:xfrm>
            <a:off x="4840102" y="2514600"/>
            <a:ext cx="228600" cy="274320"/>
          </a:xfrm>
          <a:prstGeom prst="rightArrow">
            <a:avLst/>
          </a:prstGeom>
          <a:solidFill>
            <a:schemeClr val="accent3"/>
          </a:solidFill>
          <a:ln w="12700">
            <a:solidFill>
              <a:schemeClr val="accent3"/>
            </a:solidFill>
            <a:prstDash val="solid"/>
          </a:ln>
        </p:spPr>
      </p:sp>
      <p:sp>
        <p:nvSpPr>
          <p:cNvPr id="13" name="loop Checks"/>
          <p:cNvSpPr/>
          <p:nvPr/>
        </p:nvSpPr>
        <p:spPr>
          <a:xfrm>
            <a:off x="5114422" y="1645920"/>
            <a:ext cx="1962851" cy="2011680"/>
          </a:xfrm>
          <a:prstGeom prst="roundRect">
            <a:avLst>
              <a:gd name="adj" fmla="val 3727"/>
            </a:avLst>
          </a:prstGeom>
          <a:solidFill>
            <a:schemeClr val="bg2"/>
          </a:solidFill>
          <a:ln w="12700">
            <a:solidFill>
              <a:schemeClr val="bg2"/>
            </a:solidFill>
            <a:prstDash val="solid"/>
          </a:ln>
        </p:spPr>
      </p:sp>
      <p:sp>
        <p:nvSpPr>
          <p:cNvPr id="14" name="loop Checks number"/>
          <p:cNvSpPr txBox="1"/>
          <p:nvPr/>
        </p:nvSpPr>
        <p:spPr>
          <a:xfrm>
            <a:off x="5343022" y="1874520"/>
            <a:ext cx="502920" cy="50292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5" name="loop Checks name"/>
          <p:cNvSpPr txBox="1"/>
          <p:nvPr/>
        </p:nvSpPr>
        <p:spPr>
          <a:xfrm>
            <a:off x="5983102" y="1874520"/>
            <a:ext cx="957011" cy="502920"/>
          </a:xfrm>
          <a:prstGeom prst="rect">
            <a:avLst/>
          </a:prstGeom>
          <a:noFill/>
          <a:ln/>
        </p:spPr>
        <p:txBody>
          <a:bodyPr wrap="square" lIns="0" tIns="0" rIns="0" bIns="0" rtlCol="0" anchor="ctr"/>
          <a:lstStyle/>
          <a:p>
            <a:pPr indent="0" marL="0">
              <a:buNone/>
            </a:pPr>
            <a:r>
              <a:rPr lang="en-US" sz="1700" b="1" dirty="0">
                <a:solidFill>
                  <a:schemeClr val="tx2"/>
                </a:solidFill>
              </a:rPr>
              <a:t>Checks</a:t>
            </a:r>
            <a:endParaRPr lang="en-US" sz="1700" dirty="0"/>
          </a:p>
        </p:txBody>
      </p:sp>
      <p:sp>
        <p:nvSpPr>
          <p:cNvPr id="16" name="loop Checks text"/>
          <p:cNvSpPr txBox="1"/>
          <p:nvPr/>
        </p:nvSpPr>
        <p:spPr>
          <a:xfrm>
            <a:off x="5343022" y="2560320"/>
            <a:ext cx="1505651" cy="960120"/>
          </a:xfrm>
          <a:prstGeom prst="rect">
            <a:avLst/>
          </a:prstGeom>
          <a:noFill/>
          <a:ln/>
        </p:spPr>
        <p:txBody>
          <a:bodyPr wrap="square" lIns="0" tIns="0" rIns="0" bIns="0" rtlCol="0" anchor="t"/>
          <a:lstStyle/>
          <a:p>
            <a:pPr indent="0" marL="0">
              <a:buNone/>
            </a:pPr>
            <a:r>
              <a:rPr lang="en-US" sz="1300" dirty="0">
                <a:solidFill>
                  <a:schemeClr val="tx1"/>
                </a:solidFill>
              </a:rPr>
              <a:t>Build, tests, coverage, headings, BFSI grep rules</a:t>
            </a:r>
            <a:endParaRPr lang="en-US" sz="1300" dirty="0"/>
          </a:p>
        </p:txBody>
      </p:sp>
      <p:sp>
        <p:nvSpPr>
          <p:cNvPr id="17" name="loop arrow 3"/>
          <p:cNvSpPr/>
          <p:nvPr/>
        </p:nvSpPr>
        <p:spPr>
          <a:xfrm>
            <a:off x="7122993" y="2514600"/>
            <a:ext cx="228600" cy="274320"/>
          </a:xfrm>
          <a:prstGeom prst="rightArrow">
            <a:avLst/>
          </a:prstGeom>
          <a:solidFill>
            <a:schemeClr val="accent3"/>
          </a:solidFill>
          <a:ln w="12700">
            <a:solidFill>
              <a:schemeClr val="accent3"/>
            </a:solidFill>
            <a:prstDash val="solid"/>
          </a:ln>
        </p:spPr>
      </p:sp>
      <p:sp>
        <p:nvSpPr>
          <p:cNvPr id="18" name="loop Critic"/>
          <p:cNvSpPr/>
          <p:nvPr/>
        </p:nvSpPr>
        <p:spPr>
          <a:xfrm>
            <a:off x="7397313" y="1645920"/>
            <a:ext cx="1962851" cy="2011680"/>
          </a:xfrm>
          <a:prstGeom prst="roundRect">
            <a:avLst>
              <a:gd name="adj" fmla="val 3727"/>
            </a:avLst>
          </a:prstGeom>
          <a:solidFill>
            <a:schemeClr val="bg2"/>
          </a:solidFill>
          <a:ln w="12700">
            <a:solidFill>
              <a:schemeClr val="bg2"/>
            </a:solidFill>
            <a:prstDash val="solid"/>
          </a:ln>
        </p:spPr>
      </p:sp>
      <p:sp>
        <p:nvSpPr>
          <p:cNvPr id="19" name="loop Critic number"/>
          <p:cNvSpPr txBox="1"/>
          <p:nvPr/>
        </p:nvSpPr>
        <p:spPr>
          <a:xfrm>
            <a:off x="7625913" y="1874520"/>
            <a:ext cx="502920" cy="50292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2"/>
                </a:solidFill>
              </a:rPr>
              <a:t>4</a:t>
            </a:r>
            <a:endParaRPr lang="en-US" sz="1500" dirty="0"/>
          </a:p>
        </p:txBody>
      </p:sp>
      <p:sp>
        <p:nvSpPr>
          <p:cNvPr id="20" name="loop Critic name"/>
          <p:cNvSpPr txBox="1"/>
          <p:nvPr/>
        </p:nvSpPr>
        <p:spPr>
          <a:xfrm>
            <a:off x="8265993" y="1874520"/>
            <a:ext cx="957011" cy="502920"/>
          </a:xfrm>
          <a:prstGeom prst="rect">
            <a:avLst/>
          </a:prstGeom>
          <a:noFill/>
          <a:ln/>
        </p:spPr>
        <p:txBody>
          <a:bodyPr wrap="square" lIns="0" tIns="0" rIns="0" bIns="0" rtlCol="0" anchor="ctr"/>
          <a:lstStyle/>
          <a:p>
            <a:pPr indent="0" marL="0">
              <a:buNone/>
            </a:pPr>
            <a:r>
              <a:rPr lang="en-US" sz="1700" b="1" dirty="0">
                <a:solidFill>
                  <a:schemeClr val="tx2"/>
                </a:solidFill>
              </a:rPr>
              <a:t>Critic</a:t>
            </a:r>
            <a:endParaRPr lang="en-US" sz="1700" dirty="0"/>
          </a:p>
        </p:txBody>
      </p:sp>
      <p:sp>
        <p:nvSpPr>
          <p:cNvPr id="21" name="loop Critic text"/>
          <p:cNvSpPr txBox="1"/>
          <p:nvPr/>
        </p:nvSpPr>
        <p:spPr>
          <a:xfrm>
            <a:off x="7625913" y="2560320"/>
            <a:ext cx="1505651" cy="960120"/>
          </a:xfrm>
          <a:prstGeom prst="rect">
            <a:avLst/>
          </a:prstGeom>
          <a:noFill/>
          <a:ln/>
        </p:spPr>
        <p:txBody>
          <a:bodyPr wrap="square" lIns="0" tIns="0" rIns="0" bIns="0" rtlCol="0" anchor="t"/>
          <a:lstStyle/>
          <a:p>
            <a:pPr indent="0" marL="0">
              <a:buNone/>
            </a:pPr>
            <a:r>
              <a:rPr lang="en-US" sz="1300" dirty="0">
                <a:solidFill>
                  <a:schemeClr val="tx1"/>
                </a:solidFill>
              </a:rPr>
              <a:t>Independent read-only judge applies the rubric</a:t>
            </a:r>
            <a:endParaRPr lang="en-US" sz="1300" dirty="0"/>
          </a:p>
        </p:txBody>
      </p:sp>
      <p:sp>
        <p:nvSpPr>
          <p:cNvPr id="22" name="loop arrow 4"/>
          <p:cNvSpPr/>
          <p:nvPr/>
        </p:nvSpPr>
        <p:spPr>
          <a:xfrm>
            <a:off x="9405884" y="2514600"/>
            <a:ext cx="228600" cy="274320"/>
          </a:xfrm>
          <a:prstGeom prst="rightArrow">
            <a:avLst/>
          </a:prstGeom>
          <a:solidFill>
            <a:schemeClr val="accent3"/>
          </a:solidFill>
          <a:ln w="12700">
            <a:solidFill>
              <a:schemeClr val="accent3"/>
            </a:solidFill>
            <a:prstDash val="solid"/>
          </a:ln>
        </p:spPr>
      </p:sp>
      <p:sp>
        <p:nvSpPr>
          <p:cNvPr id="23" name="loop Decision"/>
          <p:cNvSpPr/>
          <p:nvPr/>
        </p:nvSpPr>
        <p:spPr>
          <a:xfrm>
            <a:off x="9680204" y="1645920"/>
            <a:ext cx="1962851" cy="2011680"/>
          </a:xfrm>
          <a:prstGeom prst="roundRect">
            <a:avLst>
              <a:gd name="adj" fmla="val 3727"/>
            </a:avLst>
          </a:prstGeom>
          <a:solidFill>
            <a:schemeClr val="tx2"/>
          </a:solidFill>
          <a:ln w="12700">
            <a:solidFill>
              <a:schemeClr val="tx2"/>
            </a:solidFill>
            <a:prstDash val="solid"/>
          </a:ln>
        </p:spPr>
      </p:sp>
      <p:sp>
        <p:nvSpPr>
          <p:cNvPr id="24" name="loop Decision number"/>
          <p:cNvSpPr txBox="1"/>
          <p:nvPr/>
        </p:nvSpPr>
        <p:spPr>
          <a:xfrm>
            <a:off x="9908804" y="1874520"/>
            <a:ext cx="502920" cy="50292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2"/>
                </a:solidFill>
              </a:rPr>
              <a:t>5</a:t>
            </a:r>
            <a:endParaRPr lang="en-US" sz="1500" dirty="0"/>
          </a:p>
        </p:txBody>
      </p:sp>
      <p:sp>
        <p:nvSpPr>
          <p:cNvPr id="25" name="loop Decision name"/>
          <p:cNvSpPr txBox="1"/>
          <p:nvPr/>
        </p:nvSpPr>
        <p:spPr>
          <a:xfrm>
            <a:off x="10548884" y="1874520"/>
            <a:ext cx="957011" cy="502920"/>
          </a:xfrm>
          <a:prstGeom prst="rect">
            <a:avLst/>
          </a:prstGeom>
          <a:noFill/>
          <a:ln/>
        </p:spPr>
        <p:txBody>
          <a:bodyPr wrap="square" lIns="0" tIns="0" rIns="0" bIns="0" rtlCol="0" anchor="ctr"/>
          <a:lstStyle/>
          <a:p>
            <a:pPr indent="0" marL="0">
              <a:buNone/>
            </a:pPr>
            <a:r>
              <a:rPr lang="en-US" sz="1700" b="1" dirty="0">
                <a:solidFill>
                  <a:schemeClr val="bg1"/>
                </a:solidFill>
              </a:rPr>
              <a:t>Decision</a:t>
            </a:r>
            <a:endParaRPr lang="en-US" sz="1700" dirty="0"/>
          </a:p>
        </p:txBody>
      </p:sp>
      <p:sp>
        <p:nvSpPr>
          <p:cNvPr id="26" name="loop Decision text"/>
          <p:cNvSpPr txBox="1"/>
          <p:nvPr/>
        </p:nvSpPr>
        <p:spPr>
          <a:xfrm>
            <a:off x="9908804" y="2560320"/>
            <a:ext cx="1505651" cy="960120"/>
          </a:xfrm>
          <a:prstGeom prst="rect">
            <a:avLst/>
          </a:prstGeom>
          <a:noFill/>
          <a:ln/>
        </p:spPr>
        <p:txBody>
          <a:bodyPr wrap="square" lIns="0" tIns="0" rIns="0" bIns="0" rtlCol="0" anchor="t"/>
          <a:lstStyle/>
          <a:p>
            <a:pPr indent="0" marL="0">
              <a:buNone/>
            </a:pPr>
            <a:r>
              <a:rPr lang="en-US" sz="1300" dirty="0">
                <a:solidFill>
                  <a:schemeClr val="bg2"/>
                </a:solidFill>
              </a:rPr>
              <a:t>Next agent, continue loop, or stop</a:t>
            </a:r>
            <a:endParaRPr lang="en-US" sz="1300" dirty="0"/>
          </a:p>
        </p:txBody>
      </p:sp>
      <p:sp>
        <p:nvSpPr>
          <p:cNvPr id="27" name="ask mode card"/>
          <p:cNvSpPr/>
          <p:nvPr/>
        </p:nvSpPr>
        <p:spPr>
          <a:xfrm>
            <a:off x="548640" y="4069080"/>
            <a:ext cx="5387188" cy="1737360"/>
          </a:xfrm>
          <a:prstGeom prst="roundRect">
            <a:avLst>
              <a:gd name="adj" fmla="val 4211"/>
            </a:avLst>
          </a:prstGeom>
          <a:solidFill>
            <a:schemeClr val="bg2"/>
          </a:solidFill>
          <a:ln w="12700">
            <a:solidFill>
              <a:schemeClr val="bg2"/>
            </a:solidFill>
            <a:prstDash val="solid"/>
          </a:ln>
        </p:spPr>
      </p:sp>
      <p:sp>
        <p:nvSpPr>
          <p:cNvPr id="28" name="ask mode title"/>
          <p:cNvSpPr txBox="1"/>
          <p:nvPr/>
        </p:nvSpPr>
        <p:spPr>
          <a:xfrm>
            <a:off x="777240" y="4233672"/>
            <a:ext cx="4929988" cy="411480"/>
          </a:xfrm>
          <a:prstGeom prst="rect">
            <a:avLst/>
          </a:prstGeom>
          <a:noFill/>
          <a:ln/>
        </p:spPr>
        <p:txBody>
          <a:bodyPr wrap="square" lIns="0" tIns="0" rIns="0" bIns="0" rtlCol="0" anchor="t"/>
          <a:lstStyle/>
          <a:p>
            <a:pPr indent="0" marL="0">
              <a:buNone/>
            </a:pPr>
            <a:r>
              <a:rPr lang="en-US" sz="1700" b="1" dirty="0">
                <a:solidFill>
                  <a:schemeClr val="tx2"/>
                </a:solidFill>
              </a:rPr>
              <a:t>auto_loop: false  (default)</a:t>
            </a:r>
            <a:endParaRPr lang="en-US" sz="1700" dirty="0"/>
          </a:p>
        </p:txBody>
      </p:sp>
      <p:sp>
        <p:nvSpPr>
          <p:cNvPr id="29" name="ask mode body"/>
          <p:cNvSpPr txBox="1"/>
          <p:nvPr/>
        </p:nvSpPr>
        <p:spPr>
          <a:xfrm>
            <a:off x="777240" y="4690872"/>
            <a:ext cx="4929988" cy="9601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After every check round the agent asks: 1 next agent · 2 continue loop · 3 stop. You decide each time.</a:t>
            </a:r>
            <a:endParaRPr lang="en-US" sz="1400" dirty="0"/>
          </a:p>
        </p:txBody>
      </p:sp>
      <p:sp>
        <p:nvSpPr>
          <p:cNvPr id="30" name="auto mode card"/>
          <p:cNvSpPr/>
          <p:nvPr/>
        </p:nvSpPr>
        <p:spPr>
          <a:xfrm>
            <a:off x="6255868" y="4069080"/>
            <a:ext cx="5387188" cy="1737360"/>
          </a:xfrm>
          <a:prstGeom prst="roundRect">
            <a:avLst>
              <a:gd name="adj" fmla="val 4211"/>
            </a:avLst>
          </a:prstGeom>
          <a:solidFill>
            <a:schemeClr val="bg2"/>
          </a:solidFill>
          <a:ln w="12700">
            <a:solidFill>
              <a:schemeClr val="bg2"/>
            </a:solidFill>
            <a:prstDash val="solid"/>
          </a:ln>
        </p:spPr>
      </p:sp>
      <p:sp>
        <p:nvSpPr>
          <p:cNvPr id="31" name="auto mode title"/>
          <p:cNvSpPr txBox="1"/>
          <p:nvPr/>
        </p:nvSpPr>
        <p:spPr>
          <a:xfrm>
            <a:off x="6484468" y="4233672"/>
            <a:ext cx="4929988" cy="411480"/>
          </a:xfrm>
          <a:prstGeom prst="rect">
            <a:avLst/>
          </a:prstGeom>
          <a:noFill/>
          <a:ln/>
        </p:spPr>
        <p:txBody>
          <a:bodyPr wrap="square" lIns="0" tIns="0" rIns="0" bIns="0" rtlCol="0" anchor="t"/>
          <a:lstStyle/>
          <a:p>
            <a:pPr indent="0" marL="0">
              <a:buNone/>
            </a:pPr>
            <a:r>
              <a:rPr lang="en-US" sz="1700" b="1" dirty="0">
                <a:solidFill>
                  <a:schemeClr val="tx2"/>
                </a:solidFill>
              </a:rPr>
              <a:t>auto_loop: true</a:t>
            </a:r>
            <a:endParaRPr lang="en-US" sz="1700" dirty="0"/>
          </a:p>
        </p:txBody>
      </p:sp>
      <p:sp>
        <p:nvSpPr>
          <p:cNvPr id="32" name="auto mode body"/>
          <p:cNvSpPr txBox="1"/>
          <p:nvPr/>
        </p:nvSpPr>
        <p:spPr>
          <a:xfrm>
            <a:off x="6484468" y="4690872"/>
            <a:ext cx="4929988" cy="9601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The agent fixes findings and re-checks on its own, up to max_attempts, then offers the next agent. Change reviews and approvals still apply.</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You stay in control at three points</a:t>
            </a:r>
            <a:endParaRPr lang="en-US" sz="3200" dirty="0"/>
          </a:p>
        </p:txBody>
      </p:sp>
      <p:sp>
        <p:nvSpPr>
          <p:cNvPr id="3" name="control 1"/>
          <p:cNvSpPr/>
          <p:nvPr/>
        </p:nvSpPr>
        <p:spPr>
          <a:xfrm>
            <a:off x="548640" y="1554480"/>
            <a:ext cx="3484778" cy="4206240"/>
          </a:xfrm>
          <a:prstGeom prst="roundRect">
            <a:avLst>
              <a:gd name="adj" fmla="val 2099"/>
            </a:avLst>
          </a:prstGeom>
          <a:solidFill>
            <a:schemeClr val="bg2"/>
          </a:solidFill>
          <a:ln w="12700">
            <a:solidFill>
              <a:schemeClr val="bg2"/>
            </a:solidFill>
            <a:prstDash val="solid"/>
          </a:ln>
        </p:spPr>
      </p:sp>
      <p:sp>
        <p:nvSpPr>
          <p:cNvPr id="4" name="control 1 number"/>
          <p:cNvSpPr txBox="1"/>
          <p:nvPr/>
        </p:nvSpPr>
        <p:spPr>
          <a:xfrm>
            <a:off x="822960" y="1828800"/>
            <a:ext cx="640080" cy="640080"/>
          </a:xfrm>
          <a:prstGeom prst="ellipse">
            <a:avLst/>
          </a:prstGeom>
          <a:solidFill>
            <a:schemeClr val="tx2"/>
          </a:solidFill>
          <a:ln/>
        </p:spPr>
        <p:txBody>
          <a:bodyPr wrap="square" lIns="0" tIns="0" rIns="0" bIns="0" rtlCol="0" anchor="ctr"/>
          <a:lstStyle/>
          <a:p>
            <a:pPr algn="ctr" indent="0" marL="0">
              <a:buNone/>
            </a:pPr>
            <a:r>
              <a:rPr lang="en-US" sz="2000" b="1" dirty="0">
                <a:solidFill>
                  <a:schemeClr val="accent1"/>
                </a:solidFill>
              </a:rPr>
              <a:t>1</a:t>
            </a:r>
            <a:endParaRPr lang="en-US" sz="2000" dirty="0"/>
          </a:p>
        </p:txBody>
      </p:sp>
      <p:sp>
        <p:nvSpPr>
          <p:cNvPr id="5" name="control 1 title"/>
          <p:cNvSpPr txBox="1"/>
          <p:nvPr/>
        </p:nvSpPr>
        <p:spPr>
          <a:xfrm>
            <a:off x="1600200" y="1828800"/>
            <a:ext cx="2250338" cy="640080"/>
          </a:xfrm>
          <a:prstGeom prst="rect">
            <a:avLst/>
          </a:prstGeom>
          <a:noFill/>
          <a:ln/>
        </p:spPr>
        <p:txBody>
          <a:bodyPr wrap="square" lIns="0" tIns="0" rIns="0" bIns="0" rtlCol="0" anchor="ctr"/>
          <a:lstStyle/>
          <a:p>
            <a:pPr indent="0" marL="0">
              <a:buNone/>
            </a:pPr>
            <a:r>
              <a:rPr lang="en-US" sz="1900" b="1" dirty="0">
                <a:solidFill>
                  <a:schemeClr val="tx2"/>
                </a:solidFill>
              </a:rPr>
              <a:t>Review every change</a:t>
            </a:r>
            <a:endParaRPr lang="en-US" sz="1900" dirty="0"/>
          </a:p>
        </p:txBody>
      </p:sp>
      <p:sp>
        <p:nvSpPr>
          <p:cNvPr id="6" name="control 1 text"/>
          <p:cNvSpPr txBox="1"/>
          <p:nvPr/>
        </p:nvSpPr>
        <p:spPr>
          <a:xfrm>
            <a:off x="822960" y="2651760"/>
            <a:ext cx="2936138" cy="914400"/>
          </a:xfrm>
          <a:prstGeom prst="rect">
            <a:avLst/>
          </a:prstGeom>
          <a:noFill/>
          <a:ln/>
        </p:spPr>
        <p:txBody>
          <a:bodyPr wrap="square" lIns="0" tIns="0" rIns="0" bIns="0" rtlCol="0" anchor="t"/>
          <a:lstStyle/>
          <a:p>
            <a:pPr indent="0" marL="0">
              <a:buNone/>
            </a:pPr>
            <a:r>
              <a:rPr lang="en-US" sz="1400" dirty="0">
                <a:solidFill>
                  <a:schemeClr val="tx1"/>
                </a:solidFill>
              </a:rPr>
              <a:t>After each step the agent stops and lists the files it changed.</a:t>
            </a:r>
            <a:endParaRPr lang="en-US" sz="1400" dirty="0"/>
          </a:p>
        </p:txBody>
      </p:sp>
      <p:sp>
        <p:nvSpPr>
          <p:cNvPr id="7" name="control 1 list"/>
          <p:cNvSpPr txBox="1"/>
          <p:nvPr/>
        </p:nvSpPr>
        <p:spPr>
          <a:xfrm>
            <a:off x="822960" y="3657600"/>
            <a:ext cx="2936138"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keep — accept and continue</a:t>
            </a:r>
            <a:endParaRPr lang="en-US" sz="1400" dirty="0"/>
          </a:p>
          <a:p>
            <a:pPr marL="342900" indent="-342900">
              <a:spcAft>
                <a:spcPts val="600"/>
              </a:spcAft>
              <a:buSzPct val="100000"/>
              <a:buChar char="•"/>
            </a:pPr>
            <a:r>
              <a:rPr lang="en-US" sz="1400" dirty="0">
                <a:solidFill>
                  <a:schemeClr val="tx1"/>
                </a:solidFill>
              </a:rPr>
              <a:t>revise: &lt;notes&gt; — rework and ask again</a:t>
            </a:r>
            <a:endParaRPr lang="en-US" sz="1400" dirty="0"/>
          </a:p>
          <a:p>
            <a:pPr marL="342900" indent="-342900">
              <a:spcAft>
                <a:spcPts val="600"/>
              </a:spcAft>
              <a:buSzPct val="100000"/>
              <a:buChar char="•"/>
            </a:pPr>
            <a:r>
              <a:rPr lang="en-US" sz="1400" dirty="0">
                <a:solidFill>
                  <a:schemeClr val="tx1"/>
                </a:solidFill>
              </a:rPr>
              <a:t>discard — restore the files</a:t>
            </a:r>
            <a:endParaRPr lang="en-US" sz="1400" dirty="0"/>
          </a:p>
        </p:txBody>
      </p:sp>
      <p:sp>
        <p:nvSpPr>
          <p:cNvPr id="8" name="control 2"/>
          <p:cNvSpPr/>
          <p:nvPr/>
        </p:nvSpPr>
        <p:spPr>
          <a:xfrm>
            <a:off x="4353458" y="1554480"/>
            <a:ext cx="3484778" cy="4206240"/>
          </a:xfrm>
          <a:prstGeom prst="roundRect">
            <a:avLst>
              <a:gd name="adj" fmla="val 2099"/>
            </a:avLst>
          </a:prstGeom>
          <a:solidFill>
            <a:schemeClr val="bg2"/>
          </a:solidFill>
          <a:ln w="12700">
            <a:solidFill>
              <a:schemeClr val="bg2"/>
            </a:solidFill>
            <a:prstDash val="solid"/>
          </a:ln>
        </p:spPr>
      </p:sp>
      <p:sp>
        <p:nvSpPr>
          <p:cNvPr id="9" name="control 2 number"/>
          <p:cNvSpPr txBox="1"/>
          <p:nvPr/>
        </p:nvSpPr>
        <p:spPr>
          <a:xfrm>
            <a:off x="4627778" y="1828800"/>
            <a:ext cx="640080" cy="640080"/>
          </a:xfrm>
          <a:prstGeom prst="ellipse">
            <a:avLst/>
          </a:prstGeom>
          <a:solidFill>
            <a:schemeClr val="tx2"/>
          </a:solidFill>
          <a:ln/>
        </p:spPr>
        <p:txBody>
          <a:bodyPr wrap="square" lIns="0" tIns="0" rIns="0" bIns="0" rtlCol="0" anchor="ctr"/>
          <a:lstStyle/>
          <a:p>
            <a:pPr algn="ctr" indent="0" marL="0">
              <a:buNone/>
            </a:pPr>
            <a:r>
              <a:rPr lang="en-US" sz="2000" b="1" dirty="0">
                <a:solidFill>
                  <a:schemeClr val="accent1"/>
                </a:solidFill>
              </a:rPr>
              <a:t>2</a:t>
            </a:r>
            <a:endParaRPr lang="en-US" sz="2000" dirty="0"/>
          </a:p>
        </p:txBody>
      </p:sp>
      <p:sp>
        <p:nvSpPr>
          <p:cNvPr id="10" name="control 2 title"/>
          <p:cNvSpPr txBox="1"/>
          <p:nvPr/>
        </p:nvSpPr>
        <p:spPr>
          <a:xfrm>
            <a:off x="5405018" y="1828800"/>
            <a:ext cx="2250338" cy="640080"/>
          </a:xfrm>
          <a:prstGeom prst="rect">
            <a:avLst/>
          </a:prstGeom>
          <a:noFill/>
          <a:ln/>
        </p:spPr>
        <p:txBody>
          <a:bodyPr wrap="square" lIns="0" tIns="0" rIns="0" bIns="0" rtlCol="0" anchor="ctr"/>
          <a:lstStyle/>
          <a:p>
            <a:pPr indent="0" marL="0">
              <a:buNone/>
            </a:pPr>
            <a:r>
              <a:rPr lang="en-US" sz="1900" b="1" dirty="0">
                <a:solidFill>
                  <a:schemeClr val="tx2"/>
                </a:solidFill>
              </a:rPr>
              <a:t>Decide the loop</a:t>
            </a:r>
            <a:endParaRPr lang="en-US" sz="1900" dirty="0"/>
          </a:p>
        </p:txBody>
      </p:sp>
      <p:sp>
        <p:nvSpPr>
          <p:cNvPr id="11" name="control 2 text"/>
          <p:cNvSpPr txBox="1"/>
          <p:nvPr/>
        </p:nvSpPr>
        <p:spPr>
          <a:xfrm>
            <a:off x="4627778" y="2651760"/>
            <a:ext cx="2936138" cy="914400"/>
          </a:xfrm>
          <a:prstGeom prst="rect">
            <a:avLst/>
          </a:prstGeom>
          <a:noFill/>
          <a:ln/>
        </p:spPr>
        <p:txBody>
          <a:bodyPr wrap="square" lIns="0" tIns="0" rIns="0" bIns="0" rtlCol="0" anchor="t"/>
          <a:lstStyle/>
          <a:p>
            <a:pPr indent="0" marL="0">
              <a:buNone/>
            </a:pPr>
            <a:r>
              <a:rPr lang="en-US" sz="1400" dirty="0">
                <a:solidFill>
                  <a:schemeClr val="tx1"/>
                </a:solidFill>
              </a:rPr>
              <a:t>After checks and the critic, the agent asks what next (unless auto_loop is on).</a:t>
            </a:r>
            <a:endParaRPr lang="en-US" sz="1400" dirty="0"/>
          </a:p>
        </p:txBody>
      </p:sp>
      <p:sp>
        <p:nvSpPr>
          <p:cNvPr id="12" name="control 2 list"/>
          <p:cNvSpPr txBox="1"/>
          <p:nvPr/>
        </p:nvSpPr>
        <p:spPr>
          <a:xfrm>
            <a:off x="4627778" y="3657600"/>
            <a:ext cx="2936138"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1 — next agent (open items recorded)</a:t>
            </a:r>
            <a:endParaRPr lang="en-US" sz="1400" dirty="0"/>
          </a:p>
          <a:p>
            <a:pPr marL="342900" indent="-342900">
              <a:spcAft>
                <a:spcPts val="600"/>
              </a:spcAft>
              <a:buSzPct val="100000"/>
              <a:buChar char="•"/>
            </a:pPr>
            <a:r>
              <a:rPr lang="en-US" sz="1400" dirty="0">
                <a:solidFill>
                  <a:schemeClr val="tx1"/>
                </a:solidFill>
              </a:rPr>
              <a:t>2 — continue loop and fix findings</a:t>
            </a:r>
            <a:endParaRPr lang="en-US" sz="1400" dirty="0"/>
          </a:p>
          <a:p>
            <a:pPr marL="342900" indent="-342900">
              <a:spcAft>
                <a:spcPts val="600"/>
              </a:spcAft>
              <a:buSzPct val="100000"/>
              <a:buChar char="•"/>
            </a:pPr>
            <a:r>
              <a:rPr lang="en-US" sz="1400" dirty="0">
                <a:solidFill>
                  <a:schemeClr val="tx1"/>
                </a:solidFill>
              </a:rPr>
              <a:t>3 — stop</a:t>
            </a:r>
            <a:endParaRPr lang="en-US" sz="1400" dirty="0"/>
          </a:p>
        </p:txBody>
      </p:sp>
      <p:sp>
        <p:nvSpPr>
          <p:cNvPr id="13" name="control 3"/>
          <p:cNvSpPr/>
          <p:nvPr/>
        </p:nvSpPr>
        <p:spPr>
          <a:xfrm>
            <a:off x="8158277" y="1554480"/>
            <a:ext cx="3484778" cy="4206240"/>
          </a:xfrm>
          <a:prstGeom prst="roundRect">
            <a:avLst>
              <a:gd name="adj" fmla="val 2099"/>
            </a:avLst>
          </a:prstGeom>
          <a:solidFill>
            <a:schemeClr val="bg2"/>
          </a:solidFill>
          <a:ln w="12700">
            <a:solidFill>
              <a:schemeClr val="bg2"/>
            </a:solidFill>
            <a:prstDash val="solid"/>
          </a:ln>
        </p:spPr>
      </p:sp>
      <p:sp>
        <p:nvSpPr>
          <p:cNvPr id="14" name="control 3 number"/>
          <p:cNvSpPr txBox="1"/>
          <p:nvPr/>
        </p:nvSpPr>
        <p:spPr>
          <a:xfrm>
            <a:off x="8432597" y="1828800"/>
            <a:ext cx="640080" cy="640080"/>
          </a:xfrm>
          <a:prstGeom prst="ellipse">
            <a:avLst/>
          </a:prstGeom>
          <a:solidFill>
            <a:schemeClr val="tx2"/>
          </a:solidFill>
          <a:ln/>
        </p:spPr>
        <p:txBody>
          <a:bodyPr wrap="square" lIns="0" tIns="0" rIns="0" bIns="0" rtlCol="0" anchor="ctr"/>
          <a:lstStyle/>
          <a:p>
            <a:pPr algn="ctr" indent="0" marL="0">
              <a:buNone/>
            </a:pPr>
            <a:r>
              <a:rPr lang="en-US" sz="2000" b="1" dirty="0">
                <a:solidFill>
                  <a:schemeClr val="accent1"/>
                </a:solidFill>
              </a:rPr>
              <a:t>3</a:t>
            </a:r>
            <a:endParaRPr lang="en-US" sz="2000" dirty="0"/>
          </a:p>
        </p:txBody>
      </p:sp>
      <p:sp>
        <p:nvSpPr>
          <p:cNvPr id="15" name="control 3 title"/>
          <p:cNvSpPr txBox="1"/>
          <p:nvPr/>
        </p:nvSpPr>
        <p:spPr>
          <a:xfrm>
            <a:off x="9209837" y="1828800"/>
            <a:ext cx="2250338" cy="640080"/>
          </a:xfrm>
          <a:prstGeom prst="rect">
            <a:avLst/>
          </a:prstGeom>
          <a:noFill/>
          <a:ln/>
        </p:spPr>
        <p:txBody>
          <a:bodyPr wrap="square" lIns="0" tIns="0" rIns="0" bIns="0" rtlCol="0" anchor="ctr"/>
          <a:lstStyle/>
          <a:p>
            <a:pPr indent="0" marL="0">
              <a:buNone/>
            </a:pPr>
            <a:r>
              <a:rPr lang="en-US" sz="1900" b="1" dirty="0">
                <a:solidFill>
                  <a:schemeClr val="tx2"/>
                </a:solidFill>
              </a:rPr>
              <a:t>Approve external writes</a:t>
            </a:r>
            <a:endParaRPr lang="en-US" sz="1900" dirty="0"/>
          </a:p>
        </p:txBody>
      </p:sp>
      <p:sp>
        <p:nvSpPr>
          <p:cNvPr id="16" name="control 3 text"/>
          <p:cNvSpPr txBox="1"/>
          <p:nvPr/>
        </p:nvSpPr>
        <p:spPr>
          <a:xfrm>
            <a:off x="8432597" y="2651760"/>
            <a:ext cx="2936138" cy="914400"/>
          </a:xfrm>
          <a:prstGeom prst="rect">
            <a:avLst/>
          </a:prstGeom>
          <a:noFill/>
          <a:ln/>
        </p:spPr>
        <p:txBody>
          <a:bodyPr wrap="square" lIns="0" tIns="0" rIns="0" bIns="0" rtlCol="0" anchor="t"/>
          <a:lstStyle/>
          <a:p>
            <a:pPr indent="0" marL="0">
              <a:buNone/>
            </a:pPr>
            <a:r>
              <a:rPr lang="en-US" sz="1400" dirty="0">
                <a:solidFill>
                  <a:schemeClr val="tx1"/>
                </a:solidFill>
              </a:rPr>
              <a:t>Always asked, in every mode. The agent acts only on yes.</a:t>
            </a:r>
            <a:endParaRPr lang="en-US" sz="1400" dirty="0"/>
          </a:p>
        </p:txBody>
      </p:sp>
      <p:sp>
        <p:nvSpPr>
          <p:cNvPr id="17" name="control 3 list"/>
          <p:cNvSpPr txBox="1"/>
          <p:nvPr/>
        </p:nvSpPr>
        <p:spPr>
          <a:xfrm>
            <a:off x="8432597" y="3657600"/>
            <a:ext cx="2936138"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git push and gh pr create</a:t>
            </a:r>
            <a:endParaRPr lang="en-US" sz="1400" dirty="0"/>
          </a:p>
          <a:p>
            <a:pPr marL="342900" indent="-342900">
              <a:spcAft>
                <a:spcPts val="600"/>
              </a:spcAft>
              <a:buSzPct val="100000"/>
              <a:buChar char="•"/>
            </a:pPr>
            <a:r>
              <a:rPr lang="en-US" sz="1400" dirty="0">
                <a:solidFill>
                  <a:schemeClr val="tx1"/>
                </a:solidFill>
              </a:rPr>
              <a:t>PR review comments</a:t>
            </a:r>
            <a:endParaRPr lang="en-US" sz="1400" dirty="0"/>
          </a:p>
          <a:p>
            <a:pPr marL="342900" indent="-342900">
              <a:spcAft>
                <a:spcPts val="600"/>
              </a:spcAft>
              <a:buSzPct val="100000"/>
              <a:buChar char="•"/>
            </a:pPr>
            <a:r>
              <a:rPr lang="en-US" sz="1400" dirty="0">
                <a:solidFill>
                  <a:schemeClr val="tx1"/>
                </a:solidFill>
              </a:rPr>
              <a:t>Rulebook edits and optional JIRA writes</a:t>
            </a:r>
            <a:endParaRPr lang="en-US" sz="1400" dirty="0"/>
          </a:p>
        </p:txBody>
      </p:sp>
      <p:sp>
        <p:nvSpPr>
          <p:cNvPr id="18" name="never note"/>
          <p:cNvSpPr txBox="1"/>
          <p:nvPr/>
        </p:nvSpPr>
        <p:spPr>
          <a:xfrm>
            <a:off x="548640" y="5897880"/>
            <a:ext cx="11094415" cy="365760"/>
          </a:xfrm>
          <a:prstGeom prst="rect">
            <a:avLst/>
          </a:prstGeom>
          <a:noFill/>
          <a:ln/>
        </p:spPr>
        <p:txBody>
          <a:bodyPr wrap="square" lIns="0" tIns="0" rIns="0" bIns="0" rtlCol="0" anchor="ctr"/>
          <a:lstStyle/>
          <a:p>
            <a:pPr indent="0" marL="0">
              <a:buNone/>
            </a:pPr>
            <a:r>
              <a:rPr lang="en-US" sz="1300" i="1" dirty="0">
                <a:solidFill>
                  <a:schemeClr val="accent4"/>
                </a:solidFill>
              </a:rPr>
              <a:t>Never done by any agent: push to protected branches, merge, force-push, or edit CI and infrastructure files.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Start by teaching the agents your existing code</a:t>
            </a:r>
            <a:endParaRPr lang="en-US" sz="3200" dirty="0"/>
          </a:p>
        </p:txBody>
      </p:sp>
      <p:sp>
        <p:nvSpPr>
          <p:cNvPr id="3" name="onboard 1 number"/>
          <p:cNvSpPr txBox="1"/>
          <p:nvPr/>
        </p:nvSpPr>
        <p:spPr>
          <a:xfrm>
            <a:off x="548640" y="150876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4" name="onboard 1 name"/>
          <p:cNvSpPr txBox="1"/>
          <p:nvPr/>
        </p:nvSpPr>
        <p:spPr>
          <a:xfrm>
            <a:off x="1325880" y="1463040"/>
            <a:ext cx="3108960" cy="640080"/>
          </a:xfrm>
          <a:prstGeom prst="rect">
            <a:avLst/>
          </a:prstGeom>
          <a:noFill/>
          <a:ln/>
        </p:spPr>
        <p:txBody>
          <a:bodyPr wrap="square" lIns="0" tIns="0" rIns="0" bIns="0" rtlCol="0" anchor="ctr"/>
          <a:lstStyle/>
          <a:p>
            <a:pPr indent="0" marL="0">
              <a:buNone/>
            </a:pPr>
            <a:r>
              <a:rPr lang="en-US" sz="1700" b="1" dirty="0">
                <a:solidFill>
                  <a:schemeClr val="tx2"/>
                </a:solidFill>
              </a:rPr>
              <a:t>Detect modules</a:t>
            </a:r>
            <a:endParaRPr lang="en-US" sz="1700" dirty="0"/>
          </a:p>
        </p:txBody>
      </p:sp>
      <p:sp>
        <p:nvSpPr>
          <p:cNvPr id="5" name="onboard 1 text"/>
          <p:cNvSpPr txBox="1"/>
          <p:nvPr/>
        </p:nvSpPr>
        <p:spPr>
          <a:xfrm>
            <a:off x="4480560" y="1463040"/>
            <a:ext cx="3657600" cy="640080"/>
          </a:xfrm>
          <a:prstGeom prst="rect">
            <a:avLst/>
          </a:prstGeom>
          <a:noFill/>
          <a:ln/>
        </p:spPr>
        <p:txBody>
          <a:bodyPr wrap="square" lIns="0" tIns="0" rIns="0" bIns="0" rtlCol="0" anchor="ctr"/>
          <a:lstStyle/>
          <a:p>
            <a:pPr indent="0" marL="0">
              <a:buNone/>
            </a:pPr>
            <a:r>
              <a:rPr lang="en-US" sz="1300" dirty="0">
                <a:solidFill>
                  <a:schemeClr val="tx1"/>
                </a:solidFill>
              </a:rPr>
              <a:t>Finds pom.xml, build.gradle and package.json and proposes the modules list for the config</a:t>
            </a:r>
            <a:endParaRPr lang="en-US" sz="1300" dirty="0"/>
          </a:p>
        </p:txBody>
      </p:sp>
      <p:sp>
        <p:nvSpPr>
          <p:cNvPr id="6" name="onboard 2 number"/>
          <p:cNvSpPr txBox="1"/>
          <p:nvPr/>
        </p:nvSpPr>
        <p:spPr>
          <a:xfrm>
            <a:off x="548640" y="228600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7" name="onboard 2 name"/>
          <p:cNvSpPr txBox="1"/>
          <p:nvPr/>
        </p:nvSpPr>
        <p:spPr>
          <a:xfrm>
            <a:off x="1325880" y="2240280"/>
            <a:ext cx="3108960" cy="640080"/>
          </a:xfrm>
          <a:prstGeom prst="rect">
            <a:avLst/>
          </a:prstGeom>
          <a:noFill/>
          <a:ln/>
        </p:spPr>
        <p:txBody>
          <a:bodyPr wrap="square" lIns="0" tIns="0" rIns="0" bIns="0" rtlCol="0" anchor="ctr"/>
          <a:lstStyle/>
          <a:p>
            <a:pPr indent="0" marL="0">
              <a:buNone/>
            </a:pPr>
            <a:r>
              <a:rPr lang="en-US" sz="1700" b="1" dirty="0">
                <a:solidFill>
                  <a:schemeClr val="tx2"/>
                </a:solidFill>
              </a:rPr>
              <a:t>Scan each module</a:t>
            </a:r>
            <a:endParaRPr lang="en-US" sz="1700" dirty="0"/>
          </a:p>
        </p:txBody>
      </p:sp>
      <p:sp>
        <p:nvSpPr>
          <p:cNvPr id="8" name="onboard 2 text"/>
          <p:cNvSpPr txBox="1"/>
          <p:nvPr/>
        </p:nvSpPr>
        <p:spPr>
          <a:xfrm>
            <a:off x="4480560" y="2240280"/>
            <a:ext cx="3657600" cy="640080"/>
          </a:xfrm>
          <a:prstGeom prst="rect">
            <a:avLst/>
          </a:prstGeom>
          <a:noFill/>
          <a:ln/>
        </p:spPr>
        <p:txBody>
          <a:bodyPr wrap="square" lIns="0" tIns="0" rIns="0" bIns="0" rtlCol="0" anchor="ctr"/>
          <a:lstStyle/>
          <a:p>
            <a:pPr indent="0" marL="0">
              <a:buNone/>
            </a:pPr>
            <a:r>
              <a:rPr lang="en-US" sz="1300" dirty="0">
                <a:solidFill>
                  <a:schemeClr val="tx1"/>
                </a:solidFill>
              </a:rPr>
              <a:t>Endpoints, messaging, entities, migrations, cache, outbound calls, schedulers</a:t>
            </a:r>
            <a:endParaRPr lang="en-US" sz="1300" dirty="0"/>
          </a:p>
        </p:txBody>
      </p:sp>
      <p:sp>
        <p:nvSpPr>
          <p:cNvPr id="9" name="onboard 3 number"/>
          <p:cNvSpPr txBox="1"/>
          <p:nvPr/>
        </p:nvSpPr>
        <p:spPr>
          <a:xfrm>
            <a:off x="548640" y="306324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0" name="onboard 3 name"/>
          <p:cNvSpPr txBox="1"/>
          <p:nvPr/>
        </p:nvSpPr>
        <p:spPr>
          <a:xfrm>
            <a:off x="1325880" y="3017520"/>
            <a:ext cx="3108960" cy="640080"/>
          </a:xfrm>
          <a:prstGeom prst="rect">
            <a:avLst/>
          </a:prstGeom>
          <a:noFill/>
          <a:ln/>
        </p:spPr>
        <p:txBody>
          <a:bodyPr wrap="square" lIns="0" tIns="0" rIns="0" bIns="0" rtlCol="0" anchor="ctr"/>
          <a:lstStyle/>
          <a:p>
            <a:pPr indent="0" marL="0">
              <a:buNone/>
            </a:pPr>
            <a:r>
              <a:rPr lang="en-US" sz="1700" b="1" dirty="0">
                <a:solidFill>
                  <a:schemeClr val="tx2"/>
                </a:solidFill>
              </a:rPr>
              <a:t>Scan for BFSI facts</a:t>
            </a:r>
            <a:endParaRPr lang="en-US" sz="1700" dirty="0"/>
          </a:p>
        </p:txBody>
      </p:sp>
      <p:sp>
        <p:nvSpPr>
          <p:cNvPr id="11" name="onboard 3 text"/>
          <p:cNvSpPr txBox="1"/>
          <p:nvPr/>
        </p:nvSpPr>
        <p:spPr>
          <a:xfrm>
            <a:off x="4480560" y="3017520"/>
            <a:ext cx="3657600" cy="640080"/>
          </a:xfrm>
          <a:prstGeom prst="rect">
            <a:avLst/>
          </a:prstGeom>
          <a:noFill/>
          <a:ln/>
        </p:spPr>
        <p:txBody>
          <a:bodyPr wrap="square" lIns="0" tIns="0" rIns="0" bIns="0" rtlCol="0" anchor="ctr"/>
          <a:lstStyle/>
          <a:p>
            <a:pPr indent="0" marL="0">
              <a:buNone/>
            </a:pPr>
            <a:r>
              <a:rPr lang="en-US" sz="1300" dirty="0">
                <a:solidFill>
                  <a:schemeClr val="tx1"/>
                </a:solidFill>
              </a:rPr>
              <a:t>Money and time types, status enums, regulated fields, audit tables</a:t>
            </a:r>
            <a:endParaRPr lang="en-US" sz="1300" dirty="0"/>
          </a:p>
        </p:txBody>
      </p:sp>
      <p:sp>
        <p:nvSpPr>
          <p:cNvPr id="12" name="onboard 4 number"/>
          <p:cNvSpPr txBox="1"/>
          <p:nvPr/>
        </p:nvSpPr>
        <p:spPr>
          <a:xfrm>
            <a:off x="548640" y="384048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3" name="onboard 4 name"/>
          <p:cNvSpPr txBox="1"/>
          <p:nvPr/>
        </p:nvSpPr>
        <p:spPr>
          <a:xfrm>
            <a:off x="1325880" y="3794760"/>
            <a:ext cx="3108960" cy="640080"/>
          </a:xfrm>
          <a:prstGeom prst="rect">
            <a:avLst/>
          </a:prstGeom>
          <a:noFill/>
          <a:ln/>
        </p:spPr>
        <p:txBody>
          <a:bodyPr wrap="square" lIns="0" tIns="0" rIns="0" bIns="0" rtlCol="0" anchor="ctr"/>
          <a:lstStyle/>
          <a:p>
            <a:pPr indent="0" marL="0">
              <a:buNone/>
            </a:pPr>
            <a:r>
              <a:rPr lang="en-US" sz="1700" b="1" dirty="0">
                <a:solidFill>
                  <a:schemeClr val="tx2"/>
                </a:solidFill>
              </a:rPr>
              <a:t>Draft module AGENTS.md</a:t>
            </a:r>
            <a:endParaRPr lang="en-US" sz="1700" dirty="0"/>
          </a:p>
        </p:txBody>
      </p:sp>
      <p:sp>
        <p:nvSpPr>
          <p:cNvPr id="14" name="onboard 4 text"/>
          <p:cNvSpPr txBox="1"/>
          <p:nvPr/>
        </p:nvSpPr>
        <p:spPr>
          <a:xfrm>
            <a:off x="4480560" y="3794760"/>
            <a:ext cx="3657600" cy="640080"/>
          </a:xfrm>
          <a:prstGeom prst="rect">
            <a:avLst/>
          </a:prstGeom>
          <a:noFill/>
          <a:ln/>
        </p:spPr>
        <p:txBody>
          <a:bodyPr wrap="square" lIns="0" tIns="0" rIns="0" bIns="0" rtlCol="0" anchor="ctr"/>
          <a:lstStyle/>
          <a:p>
            <a:pPr indent="0" marL="0">
              <a:buNone/>
            </a:pPr>
            <a:r>
              <a:rPr lang="en-US" sz="1300" dirty="0">
                <a:solidFill>
                  <a:schemeClr val="tx1"/>
                </a:solidFill>
              </a:rPr>
              <a:t>17 sections, written only from scanned facts with path:line sources</a:t>
            </a:r>
            <a:endParaRPr lang="en-US" sz="1300" dirty="0"/>
          </a:p>
        </p:txBody>
      </p:sp>
      <p:sp>
        <p:nvSpPr>
          <p:cNvPr id="15" name="onboard 5 number"/>
          <p:cNvSpPr txBox="1"/>
          <p:nvPr/>
        </p:nvSpPr>
        <p:spPr>
          <a:xfrm>
            <a:off x="548640" y="461772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5</a:t>
            </a:r>
            <a:endParaRPr lang="en-US" sz="1600" dirty="0"/>
          </a:p>
        </p:txBody>
      </p:sp>
      <p:sp>
        <p:nvSpPr>
          <p:cNvPr id="16" name="onboard 5 name"/>
          <p:cNvSpPr txBox="1"/>
          <p:nvPr/>
        </p:nvSpPr>
        <p:spPr>
          <a:xfrm>
            <a:off x="1325880" y="4572000"/>
            <a:ext cx="3108960" cy="640080"/>
          </a:xfrm>
          <a:prstGeom prst="rect">
            <a:avLst/>
          </a:prstGeom>
          <a:noFill/>
          <a:ln/>
        </p:spPr>
        <p:txBody>
          <a:bodyPr wrap="square" lIns="0" tIns="0" rIns="0" bIns="0" rtlCol="0" anchor="ctr"/>
          <a:lstStyle/>
          <a:p>
            <a:pPr indent="0" marL="0">
              <a:buNone/>
            </a:pPr>
            <a:r>
              <a:rPr lang="en-US" sz="1700" b="1" dirty="0">
                <a:solidFill>
                  <a:schemeClr val="tx2"/>
                </a:solidFill>
              </a:rPr>
              <a:t>Check and critique</a:t>
            </a:r>
            <a:endParaRPr lang="en-US" sz="1700" dirty="0"/>
          </a:p>
        </p:txBody>
      </p:sp>
      <p:sp>
        <p:nvSpPr>
          <p:cNvPr id="17" name="onboard 5 text"/>
          <p:cNvSpPr txBox="1"/>
          <p:nvPr/>
        </p:nvSpPr>
        <p:spPr>
          <a:xfrm>
            <a:off x="4480560" y="4572000"/>
            <a:ext cx="3657600" cy="640080"/>
          </a:xfrm>
          <a:prstGeom prst="rect">
            <a:avLst/>
          </a:prstGeom>
          <a:noFill/>
          <a:ln/>
        </p:spPr>
        <p:txBody>
          <a:bodyPr wrap="square" lIns="0" tIns="0" rIns="0" bIns="0" rtlCol="0" anchor="ctr"/>
          <a:lstStyle/>
          <a:p>
            <a:pPr indent="0" marL="0">
              <a:buNone/>
            </a:pPr>
            <a:r>
              <a:rPr lang="en-US" sz="1300" dirty="0">
                <a:solidFill>
                  <a:schemeClr val="tx1"/>
                </a:solidFill>
              </a:rPr>
              <a:t>Every discovered item documented, nothing invented; critic applies the onboard rubric</a:t>
            </a:r>
            <a:endParaRPr lang="en-US" sz="1300" dirty="0"/>
          </a:p>
        </p:txBody>
      </p:sp>
      <p:sp>
        <p:nvSpPr>
          <p:cNvPr id="18" name="onboard 6 number"/>
          <p:cNvSpPr txBox="1"/>
          <p:nvPr/>
        </p:nvSpPr>
        <p:spPr>
          <a:xfrm>
            <a:off x="548640" y="539496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6</a:t>
            </a:r>
            <a:endParaRPr lang="en-US" sz="1600" dirty="0"/>
          </a:p>
        </p:txBody>
      </p:sp>
      <p:sp>
        <p:nvSpPr>
          <p:cNvPr id="19" name="onboard 6 name"/>
          <p:cNvSpPr txBox="1"/>
          <p:nvPr/>
        </p:nvSpPr>
        <p:spPr>
          <a:xfrm>
            <a:off x="1325880" y="5349240"/>
            <a:ext cx="3108960" cy="640080"/>
          </a:xfrm>
          <a:prstGeom prst="rect">
            <a:avLst/>
          </a:prstGeom>
          <a:noFill/>
          <a:ln/>
        </p:spPr>
        <p:txBody>
          <a:bodyPr wrap="square" lIns="0" tIns="0" rIns="0" bIns="0" rtlCol="0" anchor="ctr"/>
          <a:lstStyle/>
          <a:p>
            <a:pPr indent="0" marL="0">
              <a:buNone/>
            </a:pPr>
            <a:r>
              <a:rPr lang="en-US" sz="1700" b="1" dirty="0">
                <a:solidFill>
                  <a:schemeClr val="tx2"/>
                </a:solidFill>
              </a:rPr>
              <a:t>Sync the root rulebook</a:t>
            </a:r>
            <a:endParaRPr lang="en-US" sz="1700" dirty="0"/>
          </a:p>
        </p:txBody>
      </p:sp>
      <p:sp>
        <p:nvSpPr>
          <p:cNvPr id="20" name="onboard 6 text"/>
          <p:cNvSpPr txBox="1"/>
          <p:nvPr/>
        </p:nvSpPr>
        <p:spPr>
          <a:xfrm>
            <a:off x="4480560" y="5349240"/>
            <a:ext cx="3657600" cy="640080"/>
          </a:xfrm>
          <a:prstGeom prst="rect">
            <a:avLst/>
          </a:prstGeom>
          <a:noFill/>
          <a:ln/>
        </p:spPr>
        <p:txBody>
          <a:bodyPr wrap="square" lIns="0" tIns="0" rIns="0" bIns="0" rtlCol="0" anchor="ctr"/>
          <a:lstStyle/>
          <a:p>
            <a:pPr indent="0" marL="0">
              <a:buNone/>
            </a:pPr>
            <a:r>
              <a:rPr lang="en-US" sz="1300" dirty="0">
                <a:solidFill>
                  <a:schemeClr val="tx1"/>
                </a:solidFill>
              </a:rPr>
              <a:t>Modules, Messaging and Cache Keys tables, one reviewed change at a time</a:t>
            </a:r>
            <a:endParaRPr lang="en-US" sz="1300" dirty="0"/>
          </a:p>
        </p:txBody>
      </p:sp>
      <p:sp>
        <p:nvSpPr>
          <p:cNvPr id="21" name="onboard run card"/>
          <p:cNvSpPr/>
          <p:nvPr/>
        </p:nvSpPr>
        <p:spPr>
          <a:xfrm>
            <a:off x="8366760" y="1463040"/>
            <a:ext cx="3276295" cy="4526280"/>
          </a:xfrm>
          <a:prstGeom prst="roundRect">
            <a:avLst>
              <a:gd name="adj" fmla="val 2233"/>
            </a:avLst>
          </a:prstGeom>
          <a:solidFill>
            <a:schemeClr val="tx2"/>
          </a:solidFill>
          <a:ln w="12700">
            <a:solidFill>
              <a:schemeClr val="tx2"/>
            </a:solidFill>
            <a:prstDash val="solid"/>
          </a:ln>
        </p:spPr>
      </p:sp>
      <p:sp>
        <p:nvSpPr>
          <p:cNvPr id="22" name="onboard run title"/>
          <p:cNvSpPr txBox="1"/>
          <p:nvPr/>
        </p:nvSpPr>
        <p:spPr>
          <a:xfrm>
            <a:off x="8595360" y="1627632"/>
            <a:ext cx="2819095" cy="411480"/>
          </a:xfrm>
          <a:prstGeom prst="rect">
            <a:avLst/>
          </a:prstGeom>
          <a:noFill/>
          <a:ln/>
        </p:spPr>
        <p:txBody>
          <a:bodyPr wrap="square" lIns="0" tIns="0" rIns="0" bIns="0" rtlCol="0" anchor="t"/>
          <a:lstStyle/>
          <a:p>
            <a:pPr indent="0" marL="0">
              <a:buNone/>
            </a:pPr>
            <a:r>
              <a:rPr lang="en-US" sz="1700" b="1" dirty="0">
                <a:solidFill>
                  <a:schemeClr val="accent1"/>
                </a:solidFill>
              </a:rPr>
              <a:t>Run it</a:t>
            </a:r>
            <a:endParaRPr lang="en-US" sz="1700" dirty="0"/>
          </a:p>
        </p:txBody>
      </p:sp>
      <p:sp>
        <p:nvSpPr>
          <p:cNvPr id="23" name="onboard run body"/>
          <p:cNvSpPr txBox="1"/>
          <p:nvPr/>
        </p:nvSpPr>
        <p:spPr>
          <a:xfrm>
            <a:off x="8595360" y="2084832"/>
            <a:ext cx="2819095" cy="3749040"/>
          </a:xfrm>
          <a:prstGeom prst="rect">
            <a:avLst/>
          </a:prstGeom>
          <a:noFill/>
          <a:ln/>
        </p:spPr>
        <p:txBody>
          <a:bodyPr wrap="square" lIns="0" tIns="0" rIns="0" bIns="0" rtlCol="0" anchor="t"/>
          <a:lstStyle/>
          <a:p>
            <a:pPr indent="0" marL="0">
              <a:spcAft>
                <a:spcPts val="400"/>
              </a:spcAft>
              <a:buNone/>
            </a:pPr>
            <a:r>
              <a:rPr lang="en-US" sz="1400" dirty="0">
                <a:solidFill>
                  <a:schemeClr val="bg1"/>
                </a:solidFill>
              </a:rPr>
              <a:t>/onboard service:all</a:t>
            </a:r>
            <a:endParaRPr lang="en-US" sz="1400" dirty="0"/>
          </a:p>
          <a:p>
            <a:pPr indent="0" marL="0">
              <a:spcAft>
                <a:spcPts val="400"/>
              </a:spcAft>
              <a:buNone/>
            </a:pPr>
            <a:endParaRPr lang="en-US" sz="1400" dirty="0"/>
          </a:p>
          <a:p>
            <a:pPr indent="0" marL="0">
              <a:spcAft>
                <a:spcPts val="400"/>
              </a:spcAft>
              <a:buNone/>
            </a:pPr>
            <a:r>
              <a:rPr lang="en-US" sz="1400" dirty="0">
                <a:solidFill>
                  <a:schemeClr val="bg1"/>
                </a:solidFill>
              </a:rPr>
              <a:t>or one module at a time:</a:t>
            </a:r>
            <a:endParaRPr lang="en-US" sz="1400" dirty="0"/>
          </a:p>
          <a:p>
            <a:pPr indent="0" marL="0">
              <a:spcAft>
                <a:spcPts val="400"/>
              </a:spcAft>
              <a:buNone/>
            </a:pPr>
            <a:r>
              <a:rPr lang="en-US" sz="1400" dirty="0">
                <a:solidFill>
                  <a:schemeClr val="bg1"/>
                </a:solidFill>
              </a:rPr>
              <a:t>/onboard service:payments</a:t>
            </a:r>
            <a:endParaRPr lang="en-US" sz="1400" dirty="0"/>
          </a:p>
          <a:p>
            <a:pPr indent="0" marL="0">
              <a:spcAft>
                <a:spcPts val="400"/>
              </a:spcAft>
              <a:buNone/>
            </a:pPr>
            <a:endParaRPr lang="en-US" sz="1400" dirty="0"/>
          </a:p>
          <a:p>
            <a:pPr indent="0" marL="0">
              <a:spcAft>
                <a:spcPts val="400"/>
              </a:spcAft>
              <a:buNone/>
            </a:pPr>
            <a:r>
              <a:rPr lang="en-US" sz="1400" dirty="0">
                <a:solidFill>
                  <a:schemeClr val="bg1"/>
                </a:solidFill>
              </a:rPr>
              <a:t>You review each draft. Your keep is the rulebook approval.</a:t>
            </a:r>
            <a:endParaRPr lang="en-US" sz="1400" dirty="0"/>
          </a:p>
          <a:p>
            <a:pPr indent="0" marL="0">
              <a:spcAft>
                <a:spcPts val="400"/>
              </a:spcAft>
              <a:buNone/>
            </a:pPr>
            <a:endParaRPr lang="en-US" sz="1400" dirty="0"/>
          </a:p>
          <a:p>
            <a:pPr indent="0" marL="0">
              <a:spcAft>
                <a:spcPts val="400"/>
              </a:spcAft>
              <a:buNone/>
            </a:pPr>
            <a:r>
              <a:rPr lang="en-US" sz="1400" dirty="0">
                <a:solidFill>
                  <a:schemeClr val="bg1"/>
                </a:solidFill>
              </a:rPr>
              <a:t>Every later agent reads these files, so accuracy here pays off in every story.</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Onboarding surfaces BFSI tech debt early</a:t>
            </a:r>
            <a:endParaRPr lang="en-US" sz="3200" dirty="0"/>
          </a:p>
        </p:txBody>
      </p:sp>
      <p:sp>
        <p:nvSpPr>
          <p:cNvPr id="3" name="debt 1"/>
          <p:cNvSpPr/>
          <p:nvPr/>
        </p:nvSpPr>
        <p:spPr>
          <a:xfrm>
            <a:off x="548640" y="1554480"/>
            <a:ext cx="3515258" cy="1828800"/>
          </a:xfrm>
          <a:prstGeom prst="roundRect">
            <a:avLst>
              <a:gd name="adj" fmla="val 4000"/>
            </a:avLst>
          </a:prstGeom>
          <a:solidFill>
            <a:schemeClr val="bg2"/>
          </a:solidFill>
          <a:ln w="12700">
            <a:solidFill>
              <a:schemeClr val="bg2"/>
            </a:solidFill>
            <a:prstDash val="solid"/>
          </a:ln>
        </p:spPr>
      </p:sp>
      <p:sp>
        <p:nvSpPr>
          <p:cNvPr id="4" name="debt 1 mark"/>
          <p:cNvSpPr txBox="1"/>
          <p:nvPr/>
        </p:nvSpPr>
        <p:spPr>
          <a:xfrm>
            <a:off x="777240" y="1783080"/>
            <a:ext cx="457200" cy="45720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5" name="debt 1 name"/>
          <p:cNvSpPr txBox="1"/>
          <p:nvPr/>
        </p:nvSpPr>
        <p:spPr>
          <a:xfrm>
            <a:off x="1371600" y="1783080"/>
            <a:ext cx="2509418" cy="457200"/>
          </a:xfrm>
          <a:prstGeom prst="rect">
            <a:avLst/>
          </a:prstGeom>
          <a:noFill/>
          <a:ln/>
        </p:spPr>
        <p:txBody>
          <a:bodyPr wrap="square" lIns="0" tIns="0" rIns="0" bIns="0" rtlCol="0" anchor="ctr"/>
          <a:lstStyle/>
          <a:p>
            <a:pPr indent="0" marL="0">
              <a:buNone/>
            </a:pPr>
            <a:r>
              <a:rPr lang="en-US" sz="1700" b="1" dirty="0">
                <a:solidFill>
                  <a:schemeClr val="tx2"/>
                </a:solidFill>
              </a:rPr>
              <a:t>Floating-point money</a:t>
            </a:r>
            <a:endParaRPr lang="en-US" sz="1700" dirty="0"/>
          </a:p>
        </p:txBody>
      </p:sp>
      <p:sp>
        <p:nvSpPr>
          <p:cNvPr id="6" name="debt 1 text"/>
          <p:cNvSpPr txBox="1"/>
          <p:nvPr/>
        </p:nvSpPr>
        <p:spPr>
          <a:xfrm>
            <a:off x="777240" y="2377440"/>
            <a:ext cx="3058058" cy="548640"/>
          </a:xfrm>
          <a:prstGeom prst="rect">
            <a:avLst/>
          </a:prstGeom>
          <a:noFill/>
          <a:ln/>
        </p:spPr>
        <p:txBody>
          <a:bodyPr wrap="square" lIns="0" tIns="0" rIns="0" bIns="0" rtlCol="0" anchor="t"/>
          <a:lstStyle/>
          <a:p>
            <a:pPr indent="0" marL="0">
              <a:buNone/>
            </a:pPr>
            <a:r>
              <a:rPr lang="en-US" sz="1300" dirty="0">
                <a:solidFill>
                  <a:schemeClr val="tx1"/>
                </a:solidFill>
              </a:rPr>
              <a:t>double or float on amounts and prices</a:t>
            </a:r>
            <a:endParaRPr lang="en-US" sz="1300" dirty="0"/>
          </a:p>
        </p:txBody>
      </p:sp>
      <p:sp>
        <p:nvSpPr>
          <p:cNvPr id="7" name="debt 1 rule"/>
          <p:cNvSpPr txBox="1"/>
          <p:nvPr/>
        </p:nvSpPr>
        <p:spPr>
          <a:xfrm>
            <a:off x="777240" y="2926080"/>
            <a:ext cx="3058058" cy="320040"/>
          </a:xfrm>
          <a:prstGeom prst="rect">
            <a:avLst/>
          </a:prstGeom>
          <a:noFill/>
          <a:ln/>
        </p:spPr>
        <p:txBody>
          <a:bodyPr wrap="square" lIns="0" tIns="0" rIns="0" bIns="0" rtlCol="0" anchor="ctr"/>
          <a:lstStyle/>
          <a:p>
            <a:pPr indent="0" marL="0">
              <a:buNone/>
            </a:pPr>
            <a:r>
              <a:rPr lang="en-US" sz="1200" b="1" dirty="0">
                <a:solidFill>
                  <a:schemeClr val="accent2"/>
                </a:solidFill>
              </a:rPr>
              <a:t>BFSI-MON-01</a:t>
            </a:r>
            <a:endParaRPr lang="en-US" sz="1200" dirty="0"/>
          </a:p>
        </p:txBody>
      </p:sp>
      <p:sp>
        <p:nvSpPr>
          <p:cNvPr id="8" name="debt 2"/>
          <p:cNvSpPr/>
          <p:nvPr/>
        </p:nvSpPr>
        <p:spPr>
          <a:xfrm>
            <a:off x="4338218" y="1554480"/>
            <a:ext cx="3515258" cy="1828800"/>
          </a:xfrm>
          <a:prstGeom prst="roundRect">
            <a:avLst>
              <a:gd name="adj" fmla="val 4000"/>
            </a:avLst>
          </a:prstGeom>
          <a:solidFill>
            <a:schemeClr val="bg2"/>
          </a:solidFill>
          <a:ln w="12700">
            <a:solidFill>
              <a:schemeClr val="bg2"/>
            </a:solidFill>
            <a:prstDash val="solid"/>
          </a:ln>
        </p:spPr>
      </p:sp>
      <p:sp>
        <p:nvSpPr>
          <p:cNvPr id="9" name="debt 2 mark"/>
          <p:cNvSpPr txBox="1"/>
          <p:nvPr/>
        </p:nvSpPr>
        <p:spPr>
          <a:xfrm>
            <a:off x="4566818" y="1783080"/>
            <a:ext cx="457200" cy="45720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0" name="debt 2 name"/>
          <p:cNvSpPr txBox="1"/>
          <p:nvPr/>
        </p:nvSpPr>
        <p:spPr>
          <a:xfrm>
            <a:off x="5161178" y="1783080"/>
            <a:ext cx="2509418" cy="457200"/>
          </a:xfrm>
          <a:prstGeom prst="rect">
            <a:avLst/>
          </a:prstGeom>
          <a:noFill/>
          <a:ln/>
        </p:spPr>
        <p:txBody>
          <a:bodyPr wrap="square" lIns="0" tIns="0" rIns="0" bIns="0" rtlCol="0" anchor="ctr"/>
          <a:lstStyle/>
          <a:p>
            <a:pPr indent="0" marL="0">
              <a:buNone/>
            </a:pPr>
            <a:r>
              <a:rPr lang="en-US" sz="1700" b="1" dirty="0">
                <a:solidFill>
                  <a:schemeClr val="tx2"/>
                </a:solidFill>
              </a:rPr>
              <a:t>PII in logs</a:t>
            </a:r>
            <a:endParaRPr lang="en-US" sz="1700" dirty="0"/>
          </a:p>
        </p:txBody>
      </p:sp>
      <p:sp>
        <p:nvSpPr>
          <p:cNvPr id="11" name="debt 2 text"/>
          <p:cNvSpPr txBox="1"/>
          <p:nvPr/>
        </p:nvSpPr>
        <p:spPr>
          <a:xfrm>
            <a:off x="4566818" y="2377440"/>
            <a:ext cx="3058058" cy="548640"/>
          </a:xfrm>
          <a:prstGeom prst="rect">
            <a:avLst/>
          </a:prstGeom>
          <a:noFill/>
          <a:ln/>
        </p:spPr>
        <p:txBody>
          <a:bodyPr wrap="square" lIns="0" tIns="0" rIns="0" bIns="0" rtlCol="0" anchor="t"/>
          <a:lstStyle/>
          <a:p>
            <a:pPr indent="0" marL="0">
              <a:buNone/>
            </a:pPr>
            <a:r>
              <a:rPr lang="en-US" sz="1300" dirty="0">
                <a:solidFill>
                  <a:schemeClr val="tx1"/>
                </a:solidFill>
              </a:rPr>
              <a:t>names, account or card numbers in log lines</a:t>
            </a:r>
            <a:endParaRPr lang="en-US" sz="1300" dirty="0"/>
          </a:p>
        </p:txBody>
      </p:sp>
      <p:sp>
        <p:nvSpPr>
          <p:cNvPr id="12" name="debt 2 rule"/>
          <p:cNvSpPr txBox="1"/>
          <p:nvPr/>
        </p:nvSpPr>
        <p:spPr>
          <a:xfrm>
            <a:off x="4566818" y="2926080"/>
            <a:ext cx="3058058" cy="320040"/>
          </a:xfrm>
          <a:prstGeom prst="rect">
            <a:avLst/>
          </a:prstGeom>
          <a:noFill/>
          <a:ln/>
        </p:spPr>
        <p:txBody>
          <a:bodyPr wrap="square" lIns="0" tIns="0" rIns="0" bIns="0" rtlCol="0" anchor="ctr"/>
          <a:lstStyle/>
          <a:p>
            <a:pPr indent="0" marL="0">
              <a:buNone/>
            </a:pPr>
            <a:r>
              <a:rPr lang="en-US" sz="1200" b="1" dirty="0">
                <a:solidFill>
                  <a:schemeClr val="accent2"/>
                </a:solidFill>
              </a:rPr>
              <a:t>BFSI-SEC-02</a:t>
            </a:r>
            <a:endParaRPr lang="en-US" sz="1200" dirty="0"/>
          </a:p>
        </p:txBody>
      </p:sp>
      <p:sp>
        <p:nvSpPr>
          <p:cNvPr id="13" name="debt 3"/>
          <p:cNvSpPr/>
          <p:nvPr/>
        </p:nvSpPr>
        <p:spPr>
          <a:xfrm>
            <a:off x="8127797" y="1554480"/>
            <a:ext cx="3515258" cy="1828800"/>
          </a:xfrm>
          <a:prstGeom prst="roundRect">
            <a:avLst>
              <a:gd name="adj" fmla="val 4000"/>
            </a:avLst>
          </a:prstGeom>
          <a:solidFill>
            <a:schemeClr val="bg2"/>
          </a:solidFill>
          <a:ln w="12700">
            <a:solidFill>
              <a:schemeClr val="bg2"/>
            </a:solidFill>
            <a:prstDash val="solid"/>
          </a:ln>
        </p:spPr>
      </p:sp>
      <p:sp>
        <p:nvSpPr>
          <p:cNvPr id="14" name="debt 3 mark"/>
          <p:cNvSpPr txBox="1"/>
          <p:nvPr/>
        </p:nvSpPr>
        <p:spPr>
          <a:xfrm>
            <a:off x="8356397" y="1783080"/>
            <a:ext cx="457200" cy="45720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5" name="debt 3 name"/>
          <p:cNvSpPr txBox="1"/>
          <p:nvPr/>
        </p:nvSpPr>
        <p:spPr>
          <a:xfrm>
            <a:off x="8950757" y="1783080"/>
            <a:ext cx="2509418" cy="457200"/>
          </a:xfrm>
          <a:prstGeom prst="rect">
            <a:avLst/>
          </a:prstGeom>
          <a:noFill/>
          <a:ln/>
        </p:spPr>
        <p:txBody>
          <a:bodyPr wrap="square" lIns="0" tIns="0" rIns="0" bIns="0" rtlCol="0" anchor="ctr"/>
          <a:lstStyle/>
          <a:p>
            <a:pPr indent="0" marL="0">
              <a:buNone/>
            </a:pPr>
            <a:r>
              <a:rPr lang="en-US" sz="1700" b="1" dirty="0">
                <a:solidFill>
                  <a:schemeClr val="tx2"/>
                </a:solidFill>
              </a:rPr>
              <a:t>No idempotency</a:t>
            </a:r>
            <a:endParaRPr lang="en-US" sz="1700" dirty="0"/>
          </a:p>
        </p:txBody>
      </p:sp>
      <p:sp>
        <p:nvSpPr>
          <p:cNvPr id="16" name="debt 3 text"/>
          <p:cNvSpPr txBox="1"/>
          <p:nvPr/>
        </p:nvSpPr>
        <p:spPr>
          <a:xfrm>
            <a:off x="8356397" y="2377440"/>
            <a:ext cx="3058058" cy="548640"/>
          </a:xfrm>
          <a:prstGeom prst="rect">
            <a:avLst/>
          </a:prstGeom>
          <a:noFill/>
          <a:ln/>
        </p:spPr>
        <p:txBody>
          <a:bodyPr wrap="square" lIns="0" tIns="0" rIns="0" bIns="0" rtlCol="0" anchor="t"/>
          <a:lstStyle/>
          <a:p>
            <a:pPr indent="0" marL="0">
              <a:buNone/>
            </a:pPr>
            <a:r>
              <a:rPr lang="en-US" sz="1300" dirty="0">
                <a:solidFill>
                  <a:schemeClr val="tx1"/>
                </a:solidFill>
              </a:rPr>
              <a:t>state-changing calls without a replay key</a:t>
            </a:r>
            <a:endParaRPr lang="en-US" sz="1300" dirty="0"/>
          </a:p>
        </p:txBody>
      </p:sp>
      <p:sp>
        <p:nvSpPr>
          <p:cNvPr id="17" name="debt 3 rule"/>
          <p:cNvSpPr txBox="1"/>
          <p:nvPr/>
        </p:nvSpPr>
        <p:spPr>
          <a:xfrm>
            <a:off x="8356397" y="2926080"/>
            <a:ext cx="3058058" cy="320040"/>
          </a:xfrm>
          <a:prstGeom prst="rect">
            <a:avLst/>
          </a:prstGeom>
          <a:noFill/>
          <a:ln/>
        </p:spPr>
        <p:txBody>
          <a:bodyPr wrap="square" lIns="0" tIns="0" rIns="0" bIns="0" rtlCol="0" anchor="ctr"/>
          <a:lstStyle/>
          <a:p>
            <a:pPr indent="0" marL="0">
              <a:buNone/>
            </a:pPr>
            <a:r>
              <a:rPr lang="en-US" sz="1200" b="1" dirty="0">
                <a:solidFill>
                  <a:schemeClr val="accent2"/>
                </a:solidFill>
              </a:rPr>
              <a:t>BFSI-ID-01</a:t>
            </a:r>
            <a:endParaRPr lang="en-US" sz="1200" dirty="0"/>
          </a:p>
        </p:txBody>
      </p:sp>
      <p:sp>
        <p:nvSpPr>
          <p:cNvPr id="18" name="debt 4"/>
          <p:cNvSpPr/>
          <p:nvPr/>
        </p:nvSpPr>
        <p:spPr>
          <a:xfrm>
            <a:off x="548640" y="3657600"/>
            <a:ext cx="3515258" cy="1828800"/>
          </a:xfrm>
          <a:prstGeom prst="roundRect">
            <a:avLst>
              <a:gd name="adj" fmla="val 4000"/>
            </a:avLst>
          </a:prstGeom>
          <a:solidFill>
            <a:schemeClr val="bg2"/>
          </a:solidFill>
          <a:ln w="12700">
            <a:solidFill>
              <a:schemeClr val="bg2"/>
            </a:solidFill>
            <a:prstDash val="solid"/>
          </a:ln>
        </p:spPr>
      </p:sp>
      <p:sp>
        <p:nvSpPr>
          <p:cNvPr id="19" name="debt 4 mark"/>
          <p:cNvSpPr txBox="1"/>
          <p:nvPr/>
        </p:nvSpPr>
        <p:spPr>
          <a:xfrm>
            <a:off x="777240" y="3886200"/>
            <a:ext cx="457200" cy="45720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0" name="debt 4 name"/>
          <p:cNvSpPr txBox="1"/>
          <p:nvPr/>
        </p:nvSpPr>
        <p:spPr>
          <a:xfrm>
            <a:off x="1371600" y="3886200"/>
            <a:ext cx="2509418" cy="457200"/>
          </a:xfrm>
          <a:prstGeom prst="rect">
            <a:avLst/>
          </a:prstGeom>
          <a:noFill/>
          <a:ln/>
        </p:spPr>
        <p:txBody>
          <a:bodyPr wrap="square" lIns="0" tIns="0" rIns="0" bIns="0" rtlCol="0" anchor="ctr"/>
          <a:lstStyle/>
          <a:p>
            <a:pPr indent="0" marL="0">
              <a:buNone/>
            </a:pPr>
            <a:r>
              <a:rPr lang="en-US" sz="1700" b="1" dirty="0">
                <a:solidFill>
                  <a:schemeClr val="tx2"/>
                </a:solidFill>
              </a:rPr>
              <a:t>Missing audit</a:t>
            </a:r>
            <a:endParaRPr lang="en-US" sz="1700" dirty="0"/>
          </a:p>
        </p:txBody>
      </p:sp>
      <p:sp>
        <p:nvSpPr>
          <p:cNvPr id="21" name="debt 4 text"/>
          <p:cNvSpPr txBox="1"/>
          <p:nvPr/>
        </p:nvSpPr>
        <p:spPr>
          <a:xfrm>
            <a:off x="777240" y="4480560"/>
            <a:ext cx="3058058" cy="548640"/>
          </a:xfrm>
          <a:prstGeom prst="rect">
            <a:avLst/>
          </a:prstGeom>
          <a:noFill/>
          <a:ln/>
        </p:spPr>
        <p:txBody>
          <a:bodyPr wrap="square" lIns="0" tIns="0" rIns="0" bIns="0" rtlCol="0" anchor="t"/>
          <a:lstStyle/>
          <a:p>
            <a:pPr indent="0" marL="0">
              <a:buNone/>
            </a:pPr>
            <a:r>
              <a:rPr lang="en-US" sz="1300" dirty="0">
                <a:solidFill>
                  <a:schemeClr val="tx1"/>
                </a:solidFill>
              </a:rPr>
              <a:t>state changes with no audit record</a:t>
            </a:r>
            <a:endParaRPr lang="en-US" sz="1300" dirty="0"/>
          </a:p>
        </p:txBody>
      </p:sp>
      <p:sp>
        <p:nvSpPr>
          <p:cNvPr id="22" name="debt 4 rule"/>
          <p:cNvSpPr txBox="1"/>
          <p:nvPr/>
        </p:nvSpPr>
        <p:spPr>
          <a:xfrm>
            <a:off x="777240" y="5029200"/>
            <a:ext cx="3058058" cy="320040"/>
          </a:xfrm>
          <a:prstGeom prst="rect">
            <a:avLst/>
          </a:prstGeom>
          <a:noFill/>
          <a:ln/>
        </p:spPr>
        <p:txBody>
          <a:bodyPr wrap="square" lIns="0" tIns="0" rIns="0" bIns="0" rtlCol="0" anchor="ctr"/>
          <a:lstStyle/>
          <a:p>
            <a:pPr indent="0" marL="0">
              <a:buNone/>
            </a:pPr>
            <a:r>
              <a:rPr lang="en-US" sz="1200" b="1" dirty="0">
                <a:solidFill>
                  <a:schemeClr val="accent2"/>
                </a:solidFill>
              </a:rPr>
              <a:t>BFSI-AUD-01</a:t>
            </a:r>
            <a:endParaRPr lang="en-US" sz="1200" dirty="0"/>
          </a:p>
        </p:txBody>
      </p:sp>
      <p:sp>
        <p:nvSpPr>
          <p:cNvPr id="23" name="debt 5"/>
          <p:cNvSpPr/>
          <p:nvPr/>
        </p:nvSpPr>
        <p:spPr>
          <a:xfrm>
            <a:off x="4338218" y="3657600"/>
            <a:ext cx="3515258" cy="1828800"/>
          </a:xfrm>
          <a:prstGeom prst="roundRect">
            <a:avLst>
              <a:gd name="adj" fmla="val 4000"/>
            </a:avLst>
          </a:prstGeom>
          <a:solidFill>
            <a:schemeClr val="bg2"/>
          </a:solidFill>
          <a:ln w="12700">
            <a:solidFill>
              <a:schemeClr val="bg2"/>
            </a:solidFill>
            <a:prstDash val="solid"/>
          </a:ln>
        </p:spPr>
      </p:sp>
      <p:sp>
        <p:nvSpPr>
          <p:cNvPr id="24" name="debt 5 mark"/>
          <p:cNvSpPr txBox="1"/>
          <p:nvPr/>
        </p:nvSpPr>
        <p:spPr>
          <a:xfrm>
            <a:off x="4566818" y="3886200"/>
            <a:ext cx="457200" cy="45720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5" name="debt 5 name"/>
          <p:cNvSpPr txBox="1"/>
          <p:nvPr/>
        </p:nvSpPr>
        <p:spPr>
          <a:xfrm>
            <a:off x="5161178" y="3886200"/>
            <a:ext cx="2509418" cy="457200"/>
          </a:xfrm>
          <a:prstGeom prst="rect">
            <a:avLst/>
          </a:prstGeom>
          <a:noFill/>
          <a:ln/>
        </p:spPr>
        <p:txBody>
          <a:bodyPr wrap="square" lIns="0" tIns="0" rIns="0" bIns="0" rtlCol="0" anchor="ctr"/>
          <a:lstStyle/>
          <a:p>
            <a:pPr indent="0" marL="0">
              <a:buNone/>
            </a:pPr>
            <a:r>
              <a:rPr lang="en-US" sz="1700" b="1" dirty="0">
                <a:solidFill>
                  <a:schemeClr val="tx2"/>
                </a:solidFill>
              </a:rPr>
              <a:t>Fail-open controls</a:t>
            </a:r>
            <a:endParaRPr lang="en-US" sz="1700" dirty="0"/>
          </a:p>
        </p:txBody>
      </p:sp>
      <p:sp>
        <p:nvSpPr>
          <p:cNvPr id="26" name="debt 5 text"/>
          <p:cNvSpPr txBox="1"/>
          <p:nvPr/>
        </p:nvSpPr>
        <p:spPr>
          <a:xfrm>
            <a:off x="4566818" y="4480560"/>
            <a:ext cx="3058058" cy="548640"/>
          </a:xfrm>
          <a:prstGeom prst="rect">
            <a:avLst/>
          </a:prstGeom>
          <a:noFill/>
          <a:ln/>
        </p:spPr>
        <p:txBody>
          <a:bodyPr wrap="square" lIns="0" tIns="0" rIns="0" bIns="0" rtlCol="0" anchor="t"/>
          <a:lstStyle/>
          <a:p>
            <a:pPr indent="0" marL="0">
              <a:buNone/>
            </a:pPr>
            <a:r>
              <a:rPr lang="en-US" sz="1300" dirty="0">
                <a:solidFill>
                  <a:schemeClr val="tx1"/>
                </a:solidFill>
              </a:rPr>
              <a:t>risk or sanctions outage lets work through</a:t>
            </a:r>
            <a:endParaRPr lang="en-US" sz="1300" dirty="0"/>
          </a:p>
        </p:txBody>
      </p:sp>
      <p:sp>
        <p:nvSpPr>
          <p:cNvPr id="27" name="debt 5 rule"/>
          <p:cNvSpPr txBox="1"/>
          <p:nvPr/>
        </p:nvSpPr>
        <p:spPr>
          <a:xfrm>
            <a:off x="4566818" y="5029200"/>
            <a:ext cx="3058058" cy="320040"/>
          </a:xfrm>
          <a:prstGeom prst="rect">
            <a:avLst/>
          </a:prstGeom>
          <a:noFill/>
          <a:ln/>
        </p:spPr>
        <p:txBody>
          <a:bodyPr wrap="square" lIns="0" tIns="0" rIns="0" bIns="0" rtlCol="0" anchor="ctr"/>
          <a:lstStyle/>
          <a:p>
            <a:pPr indent="0" marL="0">
              <a:buNone/>
            </a:pPr>
            <a:r>
              <a:rPr lang="en-US" sz="1200" b="1" dirty="0">
                <a:solidFill>
                  <a:schemeClr val="accent2"/>
                </a:solidFill>
              </a:rPr>
              <a:t>BFSI-TRADE-01</a:t>
            </a:r>
            <a:endParaRPr lang="en-US" sz="1200" dirty="0"/>
          </a:p>
        </p:txBody>
      </p:sp>
      <p:sp>
        <p:nvSpPr>
          <p:cNvPr id="28" name="debt 6"/>
          <p:cNvSpPr/>
          <p:nvPr/>
        </p:nvSpPr>
        <p:spPr>
          <a:xfrm>
            <a:off x="8127797" y="3657600"/>
            <a:ext cx="3515258" cy="1828800"/>
          </a:xfrm>
          <a:prstGeom prst="roundRect">
            <a:avLst>
              <a:gd name="adj" fmla="val 4000"/>
            </a:avLst>
          </a:prstGeom>
          <a:solidFill>
            <a:schemeClr val="bg2"/>
          </a:solidFill>
          <a:ln w="12700">
            <a:solidFill>
              <a:schemeClr val="bg2"/>
            </a:solidFill>
            <a:prstDash val="solid"/>
          </a:ln>
        </p:spPr>
      </p:sp>
      <p:sp>
        <p:nvSpPr>
          <p:cNvPr id="29" name="debt 6 mark"/>
          <p:cNvSpPr txBox="1"/>
          <p:nvPr/>
        </p:nvSpPr>
        <p:spPr>
          <a:xfrm>
            <a:off x="8356397" y="3886200"/>
            <a:ext cx="457200" cy="45720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0" name="debt 6 name"/>
          <p:cNvSpPr txBox="1"/>
          <p:nvPr/>
        </p:nvSpPr>
        <p:spPr>
          <a:xfrm>
            <a:off x="8950757" y="3886200"/>
            <a:ext cx="2509418" cy="457200"/>
          </a:xfrm>
          <a:prstGeom prst="rect">
            <a:avLst/>
          </a:prstGeom>
          <a:noFill/>
          <a:ln/>
        </p:spPr>
        <p:txBody>
          <a:bodyPr wrap="square" lIns="0" tIns="0" rIns="0" bIns="0" rtlCol="0" anchor="ctr"/>
          <a:lstStyle/>
          <a:p>
            <a:pPr indent="0" marL="0">
              <a:buNone/>
            </a:pPr>
            <a:r>
              <a:rPr lang="en-US" sz="1700" b="1" dirty="0">
                <a:solidFill>
                  <a:schemeClr val="tx2"/>
                </a:solidFill>
              </a:rPr>
              <a:t>Fixed time offsets</a:t>
            </a:r>
            <a:endParaRPr lang="en-US" sz="1700" dirty="0"/>
          </a:p>
        </p:txBody>
      </p:sp>
      <p:sp>
        <p:nvSpPr>
          <p:cNvPr id="31" name="debt 6 text"/>
          <p:cNvSpPr txBox="1"/>
          <p:nvPr/>
        </p:nvSpPr>
        <p:spPr>
          <a:xfrm>
            <a:off x="8356397" y="4480560"/>
            <a:ext cx="3058058" cy="548640"/>
          </a:xfrm>
          <a:prstGeom prst="rect">
            <a:avLst/>
          </a:prstGeom>
          <a:noFill/>
          <a:ln/>
        </p:spPr>
        <p:txBody>
          <a:bodyPr wrap="square" lIns="0" tIns="0" rIns="0" bIns="0" rtlCol="0" anchor="t"/>
          <a:lstStyle/>
          <a:p>
            <a:pPr indent="0" marL="0">
              <a:buNone/>
            </a:pPr>
            <a:r>
              <a:rPr lang="en-US" sz="1300" dirty="0">
                <a:solidFill>
                  <a:schemeClr val="tx1"/>
                </a:solidFill>
              </a:rPr>
              <a:t>cut-offs without a named time zone or calendar</a:t>
            </a:r>
            <a:endParaRPr lang="en-US" sz="1300" dirty="0"/>
          </a:p>
        </p:txBody>
      </p:sp>
      <p:sp>
        <p:nvSpPr>
          <p:cNvPr id="32" name="debt 6 rule"/>
          <p:cNvSpPr txBox="1"/>
          <p:nvPr/>
        </p:nvSpPr>
        <p:spPr>
          <a:xfrm>
            <a:off x="8356397" y="5029200"/>
            <a:ext cx="3058058" cy="320040"/>
          </a:xfrm>
          <a:prstGeom prst="rect">
            <a:avLst/>
          </a:prstGeom>
          <a:noFill/>
          <a:ln/>
        </p:spPr>
        <p:txBody>
          <a:bodyPr wrap="square" lIns="0" tIns="0" rIns="0" bIns="0" rtlCol="0" anchor="ctr"/>
          <a:lstStyle/>
          <a:p>
            <a:pPr indent="0" marL="0">
              <a:buNone/>
            </a:pPr>
            <a:r>
              <a:rPr lang="en-US" sz="1200" b="1" dirty="0">
                <a:solidFill>
                  <a:schemeClr val="accent2"/>
                </a:solidFill>
              </a:rPr>
              <a:t>BFSI-TIME-03</a:t>
            </a:r>
            <a:endParaRPr lang="en-US" sz="1200" dirty="0"/>
          </a:p>
        </p:txBody>
      </p:sp>
      <p:sp>
        <p:nvSpPr>
          <p:cNvPr id="33" name="debt note"/>
          <p:cNvSpPr txBox="1"/>
          <p:nvPr/>
        </p:nvSpPr>
        <p:spPr>
          <a:xfrm>
            <a:off x="548640" y="5806440"/>
            <a:ext cx="11094415" cy="365760"/>
          </a:xfrm>
          <a:prstGeom prst="rect">
            <a:avLst/>
          </a:prstGeom>
          <a:noFill/>
          <a:ln/>
        </p:spPr>
        <p:txBody>
          <a:bodyPr wrap="square" lIns="0" tIns="0" rIns="0" bIns="0" rtlCol="0" anchor="ctr"/>
          <a:lstStyle/>
          <a:p>
            <a:pPr indent="0" marL="0">
              <a:buNone/>
            </a:pPr>
            <a:r>
              <a:rPr lang="en-US" sz="1300" i="1" dirty="0">
                <a:solidFill>
                  <a:schemeClr val="accent2"/>
                </a:solidFill>
              </a:rPr>
              <a:t>Findings land in each module's Known Tech Debt section, so PM can plan fixes as normal backlog items.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Brownfield setup in seven steps</a:t>
            </a:r>
            <a:endParaRPr lang="en-US" sz="3200" dirty="0"/>
          </a:p>
        </p:txBody>
      </p:sp>
      <p:graphicFrame>
        <p:nvGraphicFramePr>
          <p:cNvPr id="8" name="brownfield setup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457200"/>
                <a:gridCol w="2651760"/>
                <a:gridCol w="4480560"/>
                <a:gridCol w="3502152"/>
              </a:tblGrid>
              <a:tr h="560070">
                <a:tc>
                  <a:txBody>
                    <a:bodyPr/>
                    <a:lstStyle/>
                    <a:p>
                      <a:pPr indent="0" marL="0">
                        <a:buNone/>
                      </a:pPr>
                      <a:r>
                        <a:rPr lang="en-US" sz="1500" b="1" dirty="0">
                          <a:solidFill>
                            <a:schemeClr val="bg1"/>
                          </a:solidFill>
                        </a:rPr>
                        <a: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Step</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Where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Done when</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r>
              <a:tr h="560070">
                <a:tc>
                  <a:txBody>
                    <a:bodyPr/>
                    <a:lstStyle/>
                    <a:p>
                      <a:pPr indent="0" marL="0">
                        <a:buNone/>
                      </a:pPr>
                      <a:r>
                        <a:rPr lang="en-US" sz="1500" dirty="0">
                          <a:solidFill>
                            <a:schemeClr val="tx1"/>
                          </a:solidFill>
                        </a:rPr>
                        <a:t>1</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Copy the kit folders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.github/agents, prompts, bmad, instructions, copilot-instructions.md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Agents appear in the Copilot agent list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560070">
                <a:tc>
                  <a:txBody>
                    <a:bodyPr/>
                    <a:lstStyle/>
                    <a:p>
                      <a:pPr indent="0" marL="0">
                        <a:buNone/>
                      </a:pPr>
                      <a:r>
                        <a:rPr lang="en-US" sz="1500" dirty="0">
                          <a:solidFill>
                            <a:schemeClr val="tx1"/>
                          </a:solidFill>
                        </a:rPr>
                        <a:t>2</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Ignore scratch files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.gitignore → .bmad/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git check-ignore passes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r h="560070">
                <a:tc>
                  <a:txBody>
                    <a:bodyPr/>
                    <a:lstStyle/>
                    <a:p>
                      <a:pPr indent="0" marL="0">
                        <a:buNone/>
                      </a:pPr>
                      <a:r>
                        <a:rPr lang="en-US" sz="1500" dirty="0">
                          <a:solidFill>
                            <a:schemeClr val="tx1"/>
                          </a:solidFill>
                        </a:rPr>
                        <a:t>3</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Fill the profile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.github/bmad/bmad.config.yaml</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No TODO left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560070">
                <a:tc>
                  <a:txBody>
                    <a:bodyPr/>
                    <a:lstStyle/>
                    <a:p>
                      <a:pPr indent="0" marL="0">
                        <a:buNone/>
                      </a:pPr>
                      <a:r>
                        <a:rPr lang="en-US" sz="1500" dirty="0">
                          <a:solidFill>
                            <a:schemeClr val="tx1"/>
                          </a:solidFill>
                        </a:rPr>
                        <a:t>4</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Create the root rulebook</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AGENTS.md from templates/AGENTS.md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Modules, state machines, roles, out of scope filled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r h="560070">
                <a:tc>
                  <a:txBody>
                    <a:bodyPr/>
                    <a:lstStyle/>
                    <a:p>
                      <a:pPr indent="0" marL="0">
                        <a:buNone/>
                      </a:pPr>
                      <a:r>
                        <a:rPr lang="en-US" sz="1500" dirty="0">
                          <a:solidFill>
                            <a:schemeClr val="tx1"/>
                          </a:solidFill>
                        </a:rPr>
                        <a:t>5</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Onboard the code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/onboard service:all</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Each module has a reviewed AGENTS.md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560070">
                <a:tc>
                  <a:txBody>
                    <a:bodyPr/>
                    <a:lstStyle/>
                    <a:p>
                      <a:pPr indent="0" marL="0">
                        <a:buNone/>
                      </a:pPr>
                      <a:r>
                        <a:rPr lang="en-US" sz="1500" dirty="0">
                          <a:solidFill>
                            <a:schemeClr val="tx1"/>
                          </a:solidFill>
                        </a:rPr>
                        <a:t>6</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Agree a baseline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quality.coverage_min_line_pct and known debt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Team agrees the threshold for legacy modules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r h="560070">
                <a:tc>
                  <a:txBody>
                    <a:bodyPr/>
                    <a:lstStyle/>
                    <a:p>
                      <a:pPr indent="0" marL="0">
                        <a:buNone/>
                      </a:pPr>
                      <a:r>
                        <a:rPr lang="en-US" sz="1500" dirty="0">
                          <a:solidFill>
                            <a:schemeClr val="tx1"/>
                          </a:solidFill>
                        </a:rPr>
                        <a:t>7</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Run the first story</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/pm then the hand-off buttons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First PR raised and reviewed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Your first change on existing code</a:t>
            </a:r>
            <a:endParaRPr lang="en-US" sz="3200" dirty="0"/>
          </a:p>
        </p:txBody>
      </p:sp>
      <p:graphicFrame>
        <p:nvGraphicFramePr>
          <p:cNvPr id="9" name="first story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463040"/>
                <a:gridCol w="3749040"/>
                <a:gridCol w="3657600"/>
                <a:gridCol w="2221992"/>
              </a:tblGrid>
              <a:tr h="560070">
                <a:tc>
                  <a:txBody>
                    <a:bodyPr/>
                    <a:lstStyle/>
                    <a:p>
                      <a:pPr indent="0" marL="0">
                        <a:buNone/>
                      </a:pPr>
                      <a:r>
                        <a:rPr lang="en-US" sz="1500" b="1" dirty="0">
                          <a:solidFill>
                            <a:schemeClr val="bg1"/>
                          </a:solidFill>
                        </a:rPr>
                        <a:t>Stage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You type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You do</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Output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r>
              <a:tr h="560070">
                <a:tc>
                  <a:txBody>
                    <a:bodyPr/>
                    <a:lstStyle/>
                    <a:p>
                      <a:pPr indent="0" marL="0">
                        <a:buNone/>
                      </a:pPr>
                      <a:r>
                        <a:rPr lang="en-US" sz="1500" dirty="0">
                          <a:solidFill>
                            <a:schemeClr val="tx1"/>
                          </a:solidFill>
                        </a:rPr>
                        <a:t>PM</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/pm "Add pro-rata allocation of block fills"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Answer questions, review PRD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docs/bmad/TRD-1-prd.md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560070">
                <a:tc>
                  <a:txBody>
                    <a:bodyPr/>
                    <a:lstStyle/>
                    <a:p>
                      <a:pPr indent="0" marL="0">
                        <a:buNone/>
                      </a:pPr>
                      <a:r>
                        <a:rPr lang="en-US" sz="1500" dirty="0">
                          <a:solidFill>
                            <a:schemeClr val="tx1"/>
                          </a:solidFill>
                        </a:rPr>
                        <a:t>BA</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hand-off → BA</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Approve the story split, review each story</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TRD-2.md, TRD-3.md …</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r h="560070">
                <a:tc>
                  <a:txBody>
                    <a:bodyPr/>
                    <a:lstStyle/>
                    <a:p>
                      <a:pPr indent="0" marL="0">
                        <a:buNone/>
                      </a:pPr>
                      <a:r>
                        <a:rPr lang="en-US" sz="1500" dirty="0">
                          <a:solidFill>
                            <a:schemeClr val="tx1"/>
                          </a:solidFill>
                        </a:rPr>
                        <a:t>Architect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hand-off → Architect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Review the D1–D20 design</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TRD-2-design.md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560070">
                <a:tc>
                  <a:txBody>
                    <a:bodyPr/>
                    <a:lstStyle/>
                    <a:p>
                      <a:pPr indent="0" marL="0">
                        <a:buNone/>
                      </a:pPr>
                      <a:r>
                        <a:rPr lang="en-US" sz="1500" dirty="0">
                          <a:solidFill>
                            <a:schemeClr val="tx1"/>
                          </a:solidFill>
                        </a:rPr>
                        <a:t>Dev</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hand-off → Dev</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Review each code layer, approve push and PR</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Branch, commits, PR</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r h="560070">
                <a:tc>
                  <a:txBody>
                    <a:bodyPr/>
                    <a:lstStyle/>
                    <a:p>
                      <a:pPr indent="0" marL="0">
                        <a:buNone/>
                      </a:pPr>
                      <a:r>
                        <a:rPr lang="en-US" sz="1500" dirty="0">
                          <a:solidFill>
                            <a:schemeClr val="tx1"/>
                          </a:solidFill>
                        </a:rPr>
                        <a:t>Code Review</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/review pr:42</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Approve posting the review</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PR comment, gate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560070">
                <a:tc>
                  <a:txBody>
                    <a:bodyPr/>
                    <a:lstStyle/>
                    <a:p>
                      <a:pPr indent="0" marL="0">
                        <a:buNone/>
                      </a:pPr>
                      <a:r>
                        <a:rPr lang="en-US" sz="1500" dirty="0">
                          <a:solidFill>
                            <a:schemeClr val="tx1"/>
                          </a:solidFill>
                        </a:rPr>
                        <a:t>QA</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hand-off → QA</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Approve the test plan, review evidence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TRD-2-qa.md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r h="560070">
                <a:tc>
                  <a:txBody>
                    <a:bodyPr/>
                    <a:lstStyle/>
                    <a:p>
                      <a:pPr indent="0" marL="0">
                        <a:buNone/>
                      </a:pPr>
                      <a:r>
                        <a:rPr lang="en-US" sz="1500" dirty="0">
                          <a:solidFill>
                            <a:schemeClr val="tx1"/>
                          </a:solidFill>
                        </a:rPr>
                        <a:t>Docs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hand-off → Docs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Review spec and rulebook edits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Docs PR</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BFSI rules are enforced at every stage</a:t>
            </a:r>
            <a:endParaRPr lang="en-US" sz="3200" dirty="0"/>
          </a:p>
        </p:txBody>
      </p:sp>
      <p:sp>
        <p:nvSpPr>
          <p:cNvPr id="3" name="rule MON"/>
          <p:cNvSpPr/>
          <p:nvPr/>
        </p:nvSpPr>
        <p:spPr>
          <a:xfrm>
            <a:off x="548640" y="1554480"/>
            <a:ext cx="3515258" cy="1691640"/>
          </a:xfrm>
          <a:prstGeom prst="roundRect">
            <a:avLst>
              <a:gd name="adj" fmla="val 4324"/>
            </a:avLst>
          </a:prstGeom>
          <a:solidFill>
            <a:schemeClr val="bg2"/>
          </a:solidFill>
          <a:ln w="12700">
            <a:solidFill>
              <a:schemeClr val="bg2"/>
            </a:solidFill>
            <a:prstDash val="solid"/>
          </a:ln>
        </p:spPr>
      </p:sp>
      <p:sp>
        <p:nvSpPr>
          <p:cNvPr id="4" name="rule MON tag"/>
          <p:cNvSpPr txBox="1"/>
          <p:nvPr/>
        </p:nvSpPr>
        <p:spPr>
          <a:xfrm>
            <a:off x="777240" y="1783080"/>
            <a:ext cx="173736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accent1"/>
                </a:solidFill>
              </a:rPr>
              <a:t>MON</a:t>
            </a:r>
            <a:endParaRPr lang="en-US" sz="1200" dirty="0"/>
          </a:p>
        </p:txBody>
      </p:sp>
      <p:sp>
        <p:nvSpPr>
          <p:cNvPr id="5" name="rule MON name"/>
          <p:cNvSpPr txBox="1"/>
          <p:nvPr/>
        </p:nvSpPr>
        <p:spPr>
          <a:xfrm>
            <a:off x="2651760" y="1783080"/>
            <a:ext cx="1229258" cy="384048"/>
          </a:xfrm>
          <a:prstGeom prst="rect">
            <a:avLst/>
          </a:prstGeom>
          <a:noFill/>
          <a:ln/>
        </p:spPr>
        <p:txBody>
          <a:bodyPr wrap="square" lIns="0" tIns="0" rIns="0" bIns="0" rtlCol="0" anchor="ctr"/>
          <a:lstStyle/>
          <a:p>
            <a:pPr indent="0" marL="0">
              <a:buNone/>
            </a:pPr>
            <a:r>
              <a:rPr lang="en-US" sz="1700" b="1" dirty="0">
                <a:solidFill>
                  <a:schemeClr val="tx2"/>
                </a:solidFill>
              </a:rPr>
              <a:t>Money</a:t>
            </a:r>
            <a:endParaRPr lang="en-US" sz="1700" dirty="0"/>
          </a:p>
        </p:txBody>
      </p:sp>
      <p:sp>
        <p:nvSpPr>
          <p:cNvPr id="6" name="rule MON text"/>
          <p:cNvSpPr txBox="1"/>
          <p:nvPr/>
        </p:nvSpPr>
        <p:spPr>
          <a:xfrm>
            <a:off x="777240" y="2331720"/>
            <a:ext cx="3058058" cy="822960"/>
          </a:xfrm>
          <a:prstGeom prst="rect">
            <a:avLst/>
          </a:prstGeom>
          <a:noFill/>
          <a:ln/>
        </p:spPr>
        <p:txBody>
          <a:bodyPr wrap="square" lIns="0" tIns="0" rIns="0" bIns="0" rtlCol="0" anchor="t"/>
          <a:lstStyle/>
          <a:p>
            <a:pPr indent="0" marL="0">
              <a:buNone/>
            </a:pPr>
            <a:r>
              <a:rPr lang="en-US" sz="1300" dirty="0">
                <a:solidFill>
                  <a:schemeClr val="tx1"/>
                </a:solidFill>
              </a:rPr>
              <a:t>Exact decimals from strings, currency on every amount, explicit rounding mode</a:t>
            </a:r>
            <a:endParaRPr lang="en-US" sz="1300" dirty="0"/>
          </a:p>
        </p:txBody>
      </p:sp>
      <p:sp>
        <p:nvSpPr>
          <p:cNvPr id="7" name="rule TIME"/>
          <p:cNvSpPr/>
          <p:nvPr/>
        </p:nvSpPr>
        <p:spPr>
          <a:xfrm>
            <a:off x="4338218" y="1554480"/>
            <a:ext cx="3515258" cy="1691640"/>
          </a:xfrm>
          <a:prstGeom prst="roundRect">
            <a:avLst>
              <a:gd name="adj" fmla="val 4324"/>
            </a:avLst>
          </a:prstGeom>
          <a:solidFill>
            <a:schemeClr val="bg2"/>
          </a:solidFill>
          <a:ln w="12700">
            <a:solidFill>
              <a:schemeClr val="bg2"/>
            </a:solidFill>
            <a:prstDash val="solid"/>
          </a:ln>
        </p:spPr>
      </p:sp>
      <p:sp>
        <p:nvSpPr>
          <p:cNvPr id="8" name="rule TIME tag"/>
          <p:cNvSpPr txBox="1"/>
          <p:nvPr/>
        </p:nvSpPr>
        <p:spPr>
          <a:xfrm>
            <a:off x="4566818" y="1783080"/>
            <a:ext cx="173736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accent1"/>
                </a:solidFill>
              </a:rPr>
              <a:t>TIME</a:t>
            </a:r>
            <a:endParaRPr lang="en-US" sz="1200" dirty="0"/>
          </a:p>
        </p:txBody>
      </p:sp>
      <p:sp>
        <p:nvSpPr>
          <p:cNvPr id="9" name="rule TIME name"/>
          <p:cNvSpPr txBox="1"/>
          <p:nvPr/>
        </p:nvSpPr>
        <p:spPr>
          <a:xfrm>
            <a:off x="6441338" y="1783080"/>
            <a:ext cx="1229258" cy="384048"/>
          </a:xfrm>
          <a:prstGeom prst="rect">
            <a:avLst/>
          </a:prstGeom>
          <a:noFill/>
          <a:ln/>
        </p:spPr>
        <p:txBody>
          <a:bodyPr wrap="square" lIns="0" tIns="0" rIns="0" bIns="0" rtlCol="0" anchor="ctr"/>
          <a:lstStyle/>
          <a:p>
            <a:pPr indent="0" marL="0">
              <a:buNone/>
            </a:pPr>
            <a:r>
              <a:rPr lang="en-US" sz="1700" b="1" dirty="0">
                <a:solidFill>
                  <a:schemeClr val="tx2"/>
                </a:solidFill>
              </a:rPr>
              <a:t>Time</a:t>
            </a:r>
            <a:endParaRPr lang="en-US" sz="1700" dirty="0"/>
          </a:p>
        </p:txBody>
      </p:sp>
      <p:sp>
        <p:nvSpPr>
          <p:cNvPr id="10" name="rule TIME text"/>
          <p:cNvSpPr txBox="1"/>
          <p:nvPr/>
        </p:nvSpPr>
        <p:spPr>
          <a:xfrm>
            <a:off x="4566818" y="2331720"/>
            <a:ext cx="3058058" cy="822960"/>
          </a:xfrm>
          <a:prstGeom prst="rect">
            <a:avLst/>
          </a:prstGeom>
          <a:noFill/>
          <a:ln/>
        </p:spPr>
        <p:txBody>
          <a:bodyPr wrap="square" lIns="0" tIns="0" rIns="0" bIns="0" rtlCol="0" anchor="t"/>
          <a:lstStyle/>
          <a:p>
            <a:pPr indent="0" marL="0">
              <a:buNone/>
            </a:pPr>
            <a:r>
              <a:rPr lang="en-US" sz="1300" dirty="0">
                <a:solidFill>
                  <a:schemeClr val="tx1"/>
                </a:solidFill>
              </a:rPr>
              <a:t>UTC instants, business dates, named time zones, holiday calendars</a:t>
            </a:r>
            <a:endParaRPr lang="en-US" sz="1300" dirty="0"/>
          </a:p>
        </p:txBody>
      </p:sp>
      <p:sp>
        <p:nvSpPr>
          <p:cNvPr id="11" name="rule ID · STATE"/>
          <p:cNvSpPr/>
          <p:nvPr/>
        </p:nvSpPr>
        <p:spPr>
          <a:xfrm>
            <a:off x="8127797" y="1554480"/>
            <a:ext cx="3515258" cy="1691640"/>
          </a:xfrm>
          <a:prstGeom prst="roundRect">
            <a:avLst>
              <a:gd name="adj" fmla="val 4324"/>
            </a:avLst>
          </a:prstGeom>
          <a:solidFill>
            <a:schemeClr val="bg2"/>
          </a:solidFill>
          <a:ln w="12700">
            <a:solidFill>
              <a:schemeClr val="bg2"/>
            </a:solidFill>
            <a:prstDash val="solid"/>
          </a:ln>
        </p:spPr>
      </p:sp>
      <p:sp>
        <p:nvSpPr>
          <p:cNvPr id="12" name="rule ID · STATE tag"/>
          <p:cNvSpPr txBox="1"/>
          <p:nvPr/>
        </p:nvSpPr>
        <p:spPr>
          <a:xfrm>
            <a:off x="8356397" y="1783080"/>
            <a:ext cx="173736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accent1"/>
                </a:solidFill>
              </a:rPr>
              <a:t>ID · STATE</a:t>
            </a:r>
            <a:endParaRPr lang="en-US" sz="1200" dirty="0"/>
          </a:p>
        </p:txBody>
      </p:sp>
      <p:sp>
        <p:nvSpPr>
          <p:cNvPr id="13" name="rule ID · STATE name"/>
          <p:cNvSpPr txBox="1"/>
          <p:nvPr/>
        </p:nvSpPr>
        <p:spPr>
          <a:xfrm>
            <a:off x="10230917" y="1783080"/>
            <a:ext cx="1229258" cy="384048"/>
          </a:xfrm>
          <a:prstGeom prst="rect">
            <a:avLst/>
          </a:prstGeom>
          <a:noFill/>
          <a:ln/>
        </p:spPr>
        <p:txBody>
          <a:bodyPr wrap="square" lIns="0" tIns="0" rIns="0" bIns="0" rtlCol="0" anchor="ctr"/>
          <a:lstStyle/>
          <a:p>
            <a:pPr indent="0" marL="0">
              <a:buNone/>
            </a:pPr>
            <a:r>
              <a:rPr lang="en-US" sz="1700" b="1" dirty="0">
                <a:solidFill>
                  <a:schemeClr val="tx2"/>
                </a:solidFill>
              </a:rPr>
              <a:t>Lifecycle</a:t>
            </a:r>
            <a:endParaRPr lang="en-US" sz="1700" dirty="0"/>
          </a:p>
        </p:txBody>
      </p:sp>
      <p:sp>
        <p:nvSpPr>
          <p:cNvPr id="14" name="rule ID · STATE text"/>
          <p:cNvSpPr txBox="1"/>
          <p:nvPr/>
        </p:nvSpPr>
        <p:spPr>
          <a:xfrm>
            <a:off x="8356397" y="2331720"/>
            <a:ext cx="3058058" cy="822960"/>
          </a:xfrm>
          <a:prstGeom prst="rect">
            <a:avLst/>
          </a:prstGeom>
          <a:noFill/>
          <a:ln/>
        </p:spPr>
        <p:txBody>
          <a:bodyPr wrap="square" lIns="0" tIns="0" rIns="0" bIns="0" rtlCol="0" anchor="t"/>
          <a:lstStyle/>
          <a:p>
            <a:pPr indent="0" marL="0">
              <a:buNone/>
            </a:pPr>
            <a:r>
              <a:rPr lang="en-US" sz="1300" dirty="0">
                <a:solidFill>
                  <a:schemeClr val="tx1"/>
                </a:solidFill>
              </a:rPr>
              <a:t>Idempotency keys, forward-only states, immutable terminal states, outbox</a:t>
            </a:r>
            <a:endParaRPr lang="en-US" sz="1300" dirty="0"/>
          </a:p>
        </p:txBody>
      </p:sp>
      <p:sp>
        <p:nvSpPr>
          <p:cNvPr id="15" name="rule LEDGER · TRADE"/>
          <p:cNvSpPr/>
          <p:nvPr/>
        </p:nvSpPr>
        <p:spPr>
          <a:xfrm>
            <a:off x="548640" y="3520440"/>
            <a:ext cx="3515258" cy="1691640"/>
          </a:xfrm>
          <a:prstGeom prst="roundRect">
            <a:avLst>
              <a:gd name="adj" fmla="val 4324"/>
            </a:avLst>
          </a:prstGeom>
          <a:solidFill>
            <a:schemeClr val="bg2"/>
          </a:solidFill>
          <a:ln w="12700">
            <a:solidFill>
              <a:schemeClr val="bg2"/>
            </a:solidFill>
            <a:prstDash val="solid"/>
          </a:ln>
        </p:spPr>
      </p:sp>
      <p:sp>
        <p:nvSpPr>
          <p:cNvPr id="16" name="rule LEDGER · TRADE tag"/>
          <p:cNvSpPr txBox="1"/>
          <p:nvPr/>
        </p:nvSpPr>
        <p:spPr>
          <a:xfrm>
            <a:off x="777240" y="3749040"/>
            <a:ext cx="173736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accent1"/>
                </a:solidFill>
              </a:rPr>
              <a:t>LEDGER · TRADE</a:t>
            </a:r>
            <a:endParaRPr lang="en-US" sz="1200" dirty="0"/>
          </a:p>
        </p:txBody>
      </p:sp>
      <p:sp>
        <p:nvSpPr>
          <p:cNvPr id="17" name="rule LEDGER · TRADE name"/>
          <p:cNvSpPr txBox="1"/>
          <p:nvPr/>
        </p:nvSpPr>
        <p:spPr>
          <a:xfrm>
            <a:off x="2651760" y="3749040"/>
            <a:ext cx="1229258" cy="384048"/>
          </a:xfrm>
          <a:prstGeom prst="rect">
            <a:avLst/>
          </a:prstGeom>
          <a:noFill/>
          <a:ln/>
        </p:spPr>
        <p:txBody>
          <a:bodyPr wrap="square" lIns="0" tIns="0" rIns="0" bIns="0" rtlCol="0" anchor="ctr"/>
          <a:lstStyle/>
          <a:p>
            <a:pPr indent="0" marL="0">
              <a:buNone/>
            </a:pPr>
            <a:r>
              <a:rPr lang="en-US" sz="1700" b="1" dirty="0">
                <a:solidFill>
                  <a:schemeClr val="tx2"/>
                </a:solidFill>
              </a:rPr>
              <a:t>Books and trades</a:t>
            </a:r>
            <a:endParaRPr lang="en-US" sz="1700" dirty="0"/>
          </a:p>
        </p:txBody>
      </p:sp>
      <p:sp>
        <p:nvSpPr>
          <p:cNvPr id="18" name="rule LEDGER · TRADE text"/>
          <p:cNvSpPr txBox="1"/>
          <p:nvPr/>
        </p:nvSpPr>
        <p:spPr>
          <a:xfrm>
            <a:off x="777240" y="4297680"/>
            <a:ext cx="3058058" cy="822960"/>
          </a:xfrm>
          <a:prstGeom prst="rect">
            <a:avLst/>
          </a:prstGeom>
          <a:noFill/>
          <a:ln/>
        </p:spPr>
        <p:txBody>
          <a:bodyPr wrap="square" lIns="0" tIns="0" rIns="0" bIns="0" rtlCol="0" anchor="t"/>
          <a:lstStyle/>
          <a:p>
            <a:pPr indent="0" marL="0">
              <a:buNone/>
            </a:pPr>
            <a:r>
              <a:rPr lang="en-US" sz="1300" dirty="0">
                <a:solidFill>
                  <a:schemeClr val="tx1"/>
                </a:solidFill>
              </a:rPr>
              <a:t>Balanced postings, allocations sum to the block, fills ≤ order, T+n on calendar</a:t>
            </a:r>
            <a:endParaRPr lang="en-US" sz="1300" dirty="0"/>
          </a:p>
        </p:txBody>
      </p:sp>
      <p:sp>
        <p:nvSpPr>
          <p:cNvPr id="19" name="rule PAY · LEND · RISK"/>
          <p:cNvSpPr/>
          <p:nvPr/>
        </p:nvSpPr>
        <p:spPr>
          <a:xfrm>
            <a:off x="4338218" y="3520440"/>
            <a:ext cx="3515258" cy="1691640"/>
          </a:xfrm>
          <a:prstGeom prst="roundRect">
            <a:avLst>
              <a:gd name="adj" fmla="val 4324"/>
            </a:avLst>
          </a:prstGeom>
          <a:solidFill>
            <a:schemeClr val="bg2"/>
          </a:solidFill>
          <a:ln w="12700">
            <a:solidFill>
              <a:schemeClr val="bg2"/>
            </a:solidFill>
            <a:prstDash val="solid"/>
          </a:ln>
        </p:spPr>
      </p:sp>
      <p:sp>
        <p:nvSpPr>
          <p:cNvPr id="20" name="rule PAY · LEND · RISK tag"/>
          <p:cNvSpPr txBox="1"/>
          <p:nvPr/>
        </p:nvSpPr>
        <p:spPr>
          <a:xfrm>
            <a:off x="4566818" y="3749040"/>
            <a:ext cx="173736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accent1"/>
                </a:solidFill>
              </a:rPr>
              <a:t>PAY · LEND · RISK</a:t>
            </a:r>
            <a:endParaRPr lang="en-US" sz="1200" dirty="0"/>
          </a:p>
        </p:txBody>
      </p:sp>
      <p:sp>
        <p:nvSpPr>
          <p:cNvPr id="21" name="rule PAY · LEND · RISK name"/>
          <p:cNvSpPr txBox="1"/>
          <p:nvPr/>
        </p:nvSpPr>
        <p:spPr>
          <a:xfrm>
            <a:off x="6441338" y="3749040"/>
            <a:ext cx="1229258" cy="384048"/>
          </a:xfrm>
          <a:prstGeom prst="rect">
            <a:avLst/>
          </a:prstGeom>
          <a:noFill/>
          <a:ln/>
        </p:spPr>
        <p:txBody>
          <a:bodyPr wrap="square" lIns="0" tIns="0" rIns="0" bIns="0" rtlCol="0" anchor="ctr"/>
          <a:lstStyle/>
          <a:p>
            <a:pPr indent="0" marL="0">
              <a:buNone/>
            </a:pPr>
            <a:r>
              <a:rPr lang="en-US" sz="1700" b="1" dirty="0">
                <a:solidFill>
                  <a:schemeClr val="tx2"/>
                </a:solidFill>
              </a:rPr>
              <a:t>Controls</a:t>
            </a:r>
            <a:endParaRPr lang="en-US" sz="1700" dirty="0"/>
          </a:p>
        </p:txBody>
      </p:sp>
      <p:sp>
        <p:nvSpPr>
          <p:cNvPr id="22" name="rule PAY · LEND · RISK text"/>
          <p:cNvSpPr txBox="1"/>
          <p:nvPr/>
        </p:nvSpPr>
        <p:spPr>
          <a:xfrm>
            <a:off x="4566818" y="4297680"/>
            <a:ext cx="3058058" cy="822960"/>
          </a:xfrm>
          <a:prstGeom prst="rect">
            <a:avLst/>
          </a:prstGeom>
          <a:noFill/>
          <a:ln/>
        </p:spPr>
        <p:txBody>
          <a:bodyPr wrap="square" lIns="0" tIns="0" rIns="0" bIns="0" rtlCol="0" anchor="t"/>
          <a:lstStyle/>
          <a:p>
            <a:pPr indent="0" marL="0">
              <a:buNone/>
            </a:pPr>
            <a:r>
              <a:rPr lang="en-US" sz="1300" dirty="0">
                <a:solidFill>
                  <a:schemeClr val="tx1"/>
                </a:solidFill>
              </a:rPr>
              <a:t>Sanctions and risk checks fail closed, maker-checker, day-count conventions</a:t>
            </a:r>
            <a:endParaRPr lang="en-US" sz="1300" dirty="0"/>
          </a:p>
        </p:txBody>
      </p:sp>
      <p:sp>
        <p:nvSpPr>
          <p:cNvPr id="23" name="rule AUD · SEC · RES"/>
          <p:cNvSpPr/>
          <p:nvPr/>
        </p:nvSpPr>
        <p:spPr>
          <a:xfrm>
            <a:off x="8127797" y="3520440"/>
            <a:ext cx="3515258" cy="1691640"/>
          </a:xfrm>
          <a:prstGeom prst="roundRect">
            <a:avLst>
              <a:gd name="adj" fmla="val 4324"/>
            </a:avLst>
          </a:prstGeom>
          <a:solidFill>
            <a:schemeClr val="bg2"/>
          </a:solidFill>
          <a:ln w="12700">
            <a:solidFill>
              <a:schemeClr val="bg2"/>
            </a:solidFill>
            <a:prstDash val="solid"/>
          </a:ln>
        </p:spPr>
      </p:sp>
      <p:sp>
        <p:nvSpPr>
          <p:cNvPr id="24" name="rule AUD · SEC · RES tag"/>
          <p:cNvSpPr txBox="1"/>
          <p:nvPr/>
        </p:nvSpPr>
        <p:spPr>
          <a:xfrm>
            <a:off x="8356397" y="3749040"/>
            <a:ext cx="173736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accent1"/>
                </a:solidFill>
              </a:rPr>
              <a:t>AUD · SEC · RES</a:t>
            </a:r>
            <a:endParaRPr lang="en-US" sz="1200" dirty="0"/>
          </a:p>
        </p:txBody>
      </p:sp>
      <p:sp>
        <p:nvSpPr>
          <p:cNvPr id="25" name="rule AUD · SEC · RES name"/>
          <p:cNvSpPr txBox="1"/>
          <p:nvPr/>
        </p:nvSpPr>
        <p:spPr>
          <a:xfrm>
            <a:off x="10230917" y="3749040"/>
            <a:ext cx="1229258" cy="384048"/>
          </a:xfrm>
          <a:prstGeom prst="rect">
            <a:avLst/>
          </a:prstGeom>
          <a:noFill/>
          <a:ln/>
        </p:spPr>
        <p:txBody>
          <a:bodyPr wrap="square" lIns="0" tIns="0" rIns="0" bIns="0" rtlCol="0" anchor="ctr"/>
          <a:lstStyle/>
          <a:p>
            <a:pPr indent="0" marL="0">
              <a:buNone/>
            </a:pPr>
            <a:r>
              <a:rPr lang="en-US" sz="1700" b="1" dirty="0">
                <a:solidFill>
                  <a:schemeClr val="tx2"/>
                </a:solidFill>
              </a:rPr>
              <a:t>Trust</a:t>
            </a:r>
            <a:endParaRPr lang="en-US" sz="1700" dirty="0"/>
          </a:p>
        </p:txBody>
      </p:sp>
      <p:sp>
        <p:nvSpPr>
          <p:cNvPr id="26" name="rule AUD · SEC · RES text"/>
          <p:cNvSpPr txBox="1"/>
          <p:nvPr/>
        </p:nvSpPr>
        <p:spPr>
          <a:xfrm>
            <a:off x="8356397" y="4297680"/>
            <a:ext cx="3058058" cy="822960"/>
          </a:xfrm>
          <a:prstGeom prst="rect">
            <a:avLst/>
          </a:prstGeom>
          <a:noFill/>
          <a:ln/>
        </p:spPr>
        <p:txBody>
          <a:bodyPr wrap="square" lIns="0" tIns="0" rIns="0" bIns="0" rtlCol="0" anchor="t"/>
          <a:lstStyle/>
          <a:p>
            <a:pPr indent="0" marL="0">
              <a:buNone/>
            </a:pPr>
            <a:r>
              <a:rPr lang="en-US" sz="1300" dirty="0">
                <a:solidFill>
                  <a:schemeClr val="tx1"/>
                </a:solidFill>
              </a:rPr>
              <a:t>Append-only audit, no PII or secrets in logs, server-side entitlements, safe retries</a:t>
            </a:r>
            <a:endParaRPr lang="en-US" sz="1300" dirty="0"/>
          </a:p>
        </p:txBody>
      </p:sp>
      <p:sp>
        <p:nvSpPr>
          <p:cNvPr id="27" name="rules note"/>
          <p:cNvSpPr txBox="1"/>
          <p:nvPr/>
        </p:nvSpPr>
        <p:spPr>
          <a:xfrm>
            <a:off x="548640" y="5486400"/>
            <a:ext cx="11094415" cy="640080"/>
          </a:xfrm>
          <a:prstGeom prst="rect">
            <a:avLst/>
          </a:prstGeom>
          <a:noFill/>
          <a:ln/>
        </p:spPr>
        <p:txBody>
          <a:bodyPr wrap="square" lIns="0" tIns="0" rIns="0" bIns="0" rtlCol="0" anchor="ctr"/>
          <a:lstStyle/>
          <a:p>
            <a:pPr indent="0" marL="0">
              <a:buNone/>
            </a:pPr>
            <a:r>
              <a:rPr lang="en-US" sz="1300" i="1" dirty="0">
                <a:solidFill>
                  <a:schemeClr val="accent2"/>
                </a:solidFill>
              </a:rPr>
              <a:t>About 60 rules with ids such as BFSI-MON-01. The critic cites the id in every finding; non-negotiable rules need a written rulebook exception.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Brownfield pitfalls and how the kit handles them</a:t>
            </a:r>
            <a:endParaRPr lang="en-US" sz="3200" dirty="0"/>
          </a:p>
        </p:txBody>
      </p:sp>
      <p:graphicFrame>
        <p:nvGraphicFramePr>
          <p:cNvPr id="11" name="pitfalls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657600"/>
                <a:gridCol w="7434072"/>
              </a:tblGrid>
              <a:tr h="640080">
                <a:tc>
                  <a:txBody>
                    <a:bodyPr/>
                    <a:lstStyle/>
                    <a:p>
                      <a:pPr indent="0" marL="0">
                        <a:buNone/>
                      </a:pPr>
                      <a:r>
                        <a:rPr lang="en-US" sz="1500" b="1" dirty="0">
                          <a:solidFill>
                            <a:schemeClr val="bg1"/>
                          </a:solidFill>
                        </a:rPr>
                        <a:t>Pitfall</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How the kit handles it</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tx2"/>
                    </a:solidFill>
                  </a:tcPr>
                </a:tc>
              </a:tr>
              <a:tr h="640080">
                <a:tc>
                  <a:txBody>
                    <a:bodyPr/>
                    <a:lstStyle/>
                    <a:p>
                      <a:pPr indent="0" marL="0">
                        <a:buNone/>
                      </a:pPr>
                      <a:r>
                        <a:rPr lang="en-US" sz="1500" dirty="0">
                          <a:solidFill>
                            <a:schemeClr val="tx1"/>
                          </a:solidFill>
                        </a:rPr>
                        <a:t>Undocumented behaviour</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Onboard writes only scanned facts with path:line, and flags gaps instead of guessing</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640080">
                <a:tc>
                  <a:txBody>
                    <a:bodyPr/>
                    <a:lstStyle/>
                    <a:p>
                      <a:pPr indent="0" marL="0">
                        <a:buNone/>
                      </a:pPr>
                      <a:r>
                        <a:rPr lang="en-US" sz="1500" dirty="0">
                          <a:solidFill>
                            <a:schemeClr val="tx1"/>
                          </a:solidFill>
                        </a:rPr>
                        <a:t>Legacy code below the coverage threshold</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Agree the baseline in config first; agents never weaken a check</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r h="640080">
                <a:tc>
                  <a:txBody>
                    <a:bodyPr/>
                    <a:lstStyle/>
                    <a:p>
                      <a:pPr indent="0" marL="0">
                        <a:buNone/>
                      </a:pPr>
                      <a:r>
                        <a:rPr lang="en-US" sz="1500" dirty="0">
                          <a:solidFill>
                            <a:schemeClr val="tx1"/>
                          </a:solidFill>
                        </a:rPr>
                        <a:t>Uncommitted local changes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Dev stops until the working tree is clean</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640080">
                <a:tc>
                  <a:txBody>
                    <a:bodyPr/>
                    <a:lstStyle/>
                    <a:p>
                      <a:pPr indent="0" marL="0">
                        <a:buNone/>
                      </a:pPr>
                      <a:r>
                        <a:rPr lang="en-US" sz="1500" dirty="0">
                          <a:solidFill>
                            <a:schemeClr val="tx1"/>
                          </a:solidFill>
                        </a:rPr>
                        <a:t>Breaking another module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Critic searches other modules for uses of removed fields, endpoints or topics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r h="640080">
                <a:tc>
                  <a:txBody>
                    <a:bodyPr/>
                    <a:lstStyle/>
                    <a:p>
                      <a:pPr indent="0" marL="0">
                        <a:buNone/>
                      </a:pPr>
                      <a:r>
                        <a:rPr lang="en-US" sz="1500" dirty="0">
                          <a:solidFill>
                            <a:schemeClr val="tx1"/>
                          </a:solidFill>
                        </a:rPr>
                        <a:t>Design does not fit the code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Dev stops and hands back to the Architect (design gap rule)</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2"/>
                    </a:solidFill>
                  </a:tcPr>
                </a:tc>
              </a:tr>
              <a:tr h="640080">
                <a:tc>
                  <a:txBody>
                    <a:bodyPr/>
                    <a:lstStyle/>
                    <a:p>
                      <a:pPr indent="0" marL="0">
                        <a:buNone/>
                      </a:pPr>
                      <a:r>
                        <a:rPr lang="en-US" sz="1500" dirty="0">
                          <a:solidFill>
                            <a:schemeClr val="tx1"/>
                          </a:solidFill>
                        </a:rPr>
                        <a:t>No JIRA or Atlassian access</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Work items live in docs/bmad; JIRA mirroring is optional</a:t>
                      </a:r>
                      <a:endParaRPr lang="en-US" sz="1500" dirty="0"/>
                    </a:p>
                  </a:txBody>
                  <a:tcPr marL="109728" marR="109728" marT="73152" marB="73152" anchor="ctr">
                    <a:lnL w="6350" cap="flat" cmpd="sng" algn="ctr">
                      <a:solidFill>
                        <a:srgbClr val="EEF4F3"/>
                      </a:solidFill>
                      <a:prstDash val="solid"/>
                      <a:round/>
                      <a:headEnd type="none" w="med" len="med"/>
                      <a:tailEnd type="none" w="med" len="med"/>
                    </a:lnL>
                    <a:lnR w="6350" cap="flat" cmpd="sng" algn="ctr">
                      <a:solidFill>
                        <a:srgbClr val="EEF4F3"/>
                      </a:solidFill>
                      <a:prstDash val="solid"/>
                      <a:round/>
                      <a:headEnd type="none" w="med" len="med"/>
                      <a:tailEnd type="none" w="med" len="med"/>
                    </a:lnR>
                    <a:lnT w="6350" cap="flat" cmpd="sng" algn="ctr">
                      <a:solidFill>
                        <a:srgbClr val="EEF4F3"/>
                      </a:solidFill>
                      <a:prstDash val="solid"/>
                      <a:round/>
                      <a:headEnd type="none" w="med" len="med"/>
                      <a:tailEnd type="none" w="med" len="med"/>
                    </a:lnT>
                    <a:lnB w="6350" cap="flat" cmpd="sng" algn="ctr">
                      <a:solidFill>
                        <a:srgbClr val="EEF4F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Rollout checklist before teams start</a:t>
            </a:r>
            <a:endParaRPr lang="en-US" sz="3200" dirty="0"/>
          </a:p>
        </p:txBody>
      </p:sp>
      <p:sp>
        <p:nvSpPr>
          <p:cNvPr id="3" name="check 1 mark"/>
          <p:cNvSpPr txBox="1"/>
          <p:nvPr/>
        </p:nvSpPr>
        <p:spPr>
          <a:xfrm>
            <a:off x="548640" y="1627632"/>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4" name="check 1 text"/>
          <p:cNvSpPr txBox="1"/>
          <p:nvPr/>
        </p:nvSpPr>
        <p:spPr>
          <a:xfrm>
            <a:off x="1280160" y="1554480"/>
            <a:ext cx="4541368" cy="685800"/>
          </a:xfrm>
          <a:prstGeom prst="rect">
            <a:avLst/>
          </a:prstGeom>
          <a:noFill/>
          <a:ln/>
        </p:spPr>
        <p:txBody>
          <a:bodyPr wrap="square" lIns="0" tIns="0" rIns="0" bIns="0" rtlCol="0" anchor="ctr"/>
          <a:lstStyle/>
          <a:p>
            <a:pPr indent="0" marL="0">
              <a:buNone/>
            </a:pPr>
            <a:r>
              <a:rPr lang="en-US" sz="1500" dirty="0">
                <a:solidFill>
                  <a:schemeClr val="tx1"/>
                </a:solidFill>
              </a:rPr>
              <a:t>Branch protection on develop and main, with required CI checks</a:t>
            </a:r>
            <a:endParaRPr lang="en-US" sz="1500" dirty="0"/>
          </a:p>
        </p:txBody>
      </p:sp>
      <p:sp>
        <p:nvSpPr>
          <p:cNvPr id="5" name="check 2 mark"/>
          <p:cNvSpPr txBox="1"/>
          <p:nvPr/>
        </p:nvSpPr>
        <p:spPr>
          <a:xfrm>
            <a:off x="6278728" y="1627632"/>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check 2 text"/>
          <p:cNvSpPr txBox="1"/>
          <p:nvPr/>
        </p:nvSpPr>
        <p:spPr>
          <a:xfrm>
            <a:off x="7010248" y="1554480"/>
            <a:ext cx="4541368" cy="685800"/>
          </a:xfrm>
          <a:prstGeom prst="rect">
            <a:avLst/>
          </a:prstGeom>
          <a:noFill/>
          <a:ln/>
        </p:spPr>
        <p:txBody>
          <a:bodyPr wrap="square" lIns="0" tIns="0" rIns="0" bIns="0" rtlCol="0" anchor="ctr"/>
          <a:lstStyle/>
          <a:p>
            <a:pPr indent="0" marL="0">
              <a:buNone/>
            </a:pPr>
            <a:r>
              <a:rPr lang="en-US" sz="1500" dirty="0">
                <a:solidFill>
                  <a:schemeClr val="tx1"/>
                </a:solidFill>
              </a:rPr>
              <a:t>CODEOWNERS review on .github/** and every AGENTS.md</a:t>
            </a:r>
            <a:endParaRPr lang="en-US" sz="1500" dirty="0"/>
          </a:p>
        </p:txBody>
      </p:sp>
      <p:sp>
        <p:nvSpPr>
          <p:cNvPr id="7" name="check 3 mark"/>
          <p:cNvSpPr txBox="1"/>
          <p:nvPr/>
        </p:nvSpPr>
        <p:spPr>
          <a:xfrm>
            <a:off x="548640" y="2679192"/>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8" name="check 3 text"/>
          <p:cNvSpPr txBox="1"/>
          <p:nvPr/>
        </p:nvSpPr>
        <p:spPr>
          <a:xfrm>
            <a:off x="1280160" y="2606040"/>
            <a:ext cx="4541368" cy="685800"/>
          </a:xfrm>
          <a:prstGeom prst="rect">
            <a:avLst/>
          </a:prstGeom>
          <a:noFill/>
          <a:ln/>
        </p:spPr>
        <p:txBody>
          <a:bodyPr wrap="square" lIns="0" tIns="0" rIns="0" bIns="0" rtlCol="0" anchor="ctr"/>
          <a:lstStyle/>
          <a:p>
            <a:pPr indent="0" marL="0">
              <a:buNone/>
            </a:pPr>
            <a:r>
              <a:rPr lang="en-US" sz="1500" dirty="0">
                <a:solidFill>
                  <a:schemeClr val="tx1"/>
                </a:solidFill>
              </a:rPr>
              <a:t>VS Code Copilot Chat in Agent mode with the Run Subagent tool enabled</a:t>
            </a:r>
            <a:endParaRPr lang="en-US" sz="1500" dirty="0"/>
          </a:p>
        </p:txBody>
      </p:sp>
      <p:sp>
        <p:nvSpPr>
          <p:cNvPr id="9" name="check 4 mark"/>
          <p:cNvSpPr txBox="1"/>
          <p:nvPr/>
        </p:nvSpPr>
        <p:spPr>
          <a:xfrm>
            <a:off x="6278728" y="2679192"/>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0" name="check 4 text"/>
          <p:cNvSpPr txBox="1"/>
          <p:nvPr/>
        </p:nvSpPr>
        <p:spPr>
          <a:xfrm>
            <a:off x="7010248" y="2606040"/>
            <a:ext cx="4541368" cy="685800"/>
          </a:xfrm>
          <a:prstGeom prst="rect">
            <a:avLst/>
          </a:prstGeom>
          <a:noFill/>
          <a:ln/>
        </p:spPr>
        <p:txBody>
          <a:bodyPr wrap="square" lIns="0" tIns="0" rIns="0" bIns="0" rtlCol="0" anchor="ctr"/>
          <a:lstStyle/>
          <a:p>
            <a:pPr indent="0" marL="0">
              <a:buNone/>
            </a:pPr>
            <a:r>
              <a:rPr lang="en-US" sz="1500" dirty="0">
                <a:solidFill>
                  <a:schemeClr val="tx1"/>
                </a:solidFill>
              </a:rPr>
              <a:t>gh signed in; Git Bash as the default terminal on Windows</a:t>
            </a:r>
            <a:endParaRPr lang="en-US" sz="1500" dirty="0"/>
          </a:p>
        </p:txBody>
      </p:sp>
      <p:sp>
        <p:nvSpPr>
          <p:cNvPr id="11" name="check 5 mark"/>
          <p:cNvSpPr txBox="1"/>
          <p:nvPr/>
        </p:nvSpPr>
        <p:spPr>
          <a:xfrm>
            <a:off x="548640" y="3730752"/>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2" name="check 5 text"/>
          <p:cNvSpPr txBox="1"/>
          <p:nvPr/>
        </p:nvSpPr>
        <p:spPr>
          <a:xfrm>
            <a:off x="1280160" y="3657600"/>
            <a:ext cx="4541368" cy="685800"/>
          </a:xfrm>
          <a:prstGeom prst="rect">
            <a:avLst/>
          </a:prstGeom>
          <a:noFill/>
          <a:ln/>
        </p:spPr>
        <p:txBody>
          <a:bodyPr wrap="square" lIns="0" tIns="0" rIns="0" bIns="0" rtlCol="0" anchor="ctr"/>
          <a:lstStyle/>
          <a:p>
            <a:pPr indent="0" marL="0">
              <a:buNone/>
            </a:pPr>
            <a:r>
              <a:rPr lang="en-US" sz="1500" dirty="0">
                <a:solidFill>
                  <a:schemeClr val="tx1"/>
                </a:solidFill>
              </a:rPr>
              <a:t>bmad.config.yaml has no TODO left; root AGENTS.md filled</a:t>
            </a:r>
            <a:endParaRPr lang="en-US" sz="1500" dirty="0"/>
          </a:p>
        </p:txBody>
      </p:sp>
      <p:sp>
        <p:nvSpPr>
          <p:cNvPr id="13" name="check 6 mark"/>
          <p:cNvSpPr txBox="1"/>
          <p:nvPr/>
        </p:nvSpPr>
        <p:spPr>
          <a:xfrm>
            <a:off x="6278728" y="3730752"/>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4" name="check 6 text"/>
          <p:cNvSpPr txBox="1"/>
          <p:nvPr/>
        </p:nvSpPr>
        <p:spPr>
          <a:xfrm>
            <a:off x="7010248" y="3657600"/>
            <a:ext cx="4541368" cy="685800"/>
          </a:xfrm>
          <a:prstGeom prst="rect">
            <a:avLst/>
          </a:prstGeom>
          <a:noFill/>
          <a:ln/>
        </p:spPr>
        <p:txBody>
          <a:bodyPr wrap="square" lIns="0" tIns="0" rIns="0" bIns="0" rtlCol="0" anchor="ctr"/>
          <a:lstStyle/>
          <a:p>
            <a:pPr indent="0" marL="0">
              <a:buNone/>
            </a:pPr>
            <a:r>
              <a:rPr lang="en-US" sz="1500" dirty="0">
                <a:solidFill>
                  <a:schemeClr val="tx1"/>
                </a:solidFill>
              </a:rPr>
              <a:t>A pilot team and a named reviewer for designs and code</a:t>
            </a:r>
            <a:endParaRPr lang="en-US" sz="1500" dirty="0"/>
          </a:p>
        </p:txBody>
      </p:sp>
      <p:sp>
        <p:nvSpPr>
          <p:cNvPr id="15" name="check 7 mark"/>
          <p:cNvSpPr txBox="1"/>
          <p:nvPr/>
        </p:nvSpPr>
        <p:spPr>
          <a:xfrm>
            <a:off x="548640" y="4782312"/>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6" name="check 7 text"/>
          <p:cNvSpPr txBox="1"/>
          <p:nvPr/>
        </p:nvSpPr>
        <p:spPr>
          <a:xfrm>
            <a:off x="1280160" y="4709160"/>
            <a:ext cx="4541368" cy="685800"/>
          </a:xfrm>
          <a:prstGeom prst="rect">
            <a:avLst/>
          </a:prstGeom>
          <a:noFill/>
          <a:ln/>
        </p:spPr>
        <p:txBody>
          <a:bodyPr wrap="square" lIns="0" tIns="0" rIns="0" bIns="0" rtlCol="0" anchor="ctr"/>
          <a:lstStyle/>
          <a:p>
            <a:pPr indent="0" marL="0">
              <a:buNone/>
            </a:pPr>
            <a:r>
              <a:rPr lang="en-US" sz="1500" dirty="0">
                <a:solidFill>
                  <a:schemeClr val="tx1"/>
                </a:solidFill>
              </a:rPr>
              <a:t>Compliance has reviewed the BFSI domain pack for your markets</a:t>
            </a:r>
            <a:endParaRPr lang="en-US" sz="1500" dirty="0"/>
          </a:p>
        </p:txBody>
      </p:sp>
      <p:sp>
        <p:nvSpPr>
          <p:cNvPr id="17" name="check 8 mark"/>
          <p:cNvSpPr txBox="1"/>
          <p:nvPr/>
        </p:nvSpPr>
        <p:spPr>
          <a:xfrm>
            <a:off x="6278728" y="4782312"/>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8" name="check 8 text"/>
          <p:cNvSpPr txBox="1"/>
          <p:nvPr/>
        </p:nvSpPr>
        <p:spPr>
          <a:xfrm>
            <a:off x="7010248" y="4709160"/>
            <a:ext cx="4541368" cy="685800"/>
          </a:xfrm>
          <a:prstGeom prst="rect">
            <a:avLst/>
          </a:prstGeom>
          <a:noFill/>
          <a:ln/>
        </p:spPr>
        <p:txBody>
          <a:bodyPr wrap="square" lIns="0" tIns="0" rIns="0" bIns="0" rtlCol="0" anchor="ctr"/>
          <a:lstStyle/>
          <a:p>
            <a:pPr indent="0" marL="0">
              <a:buNone/>
            </a:pPr>
            <a:r>
              <a:rPr lang="en-US" sz="1500" dirty="0">
                <a:solidFill>
                  <a:schemeClr val="tx1"/>
                </a:solidFill>
              </a:rPr>
              <a:t>.bmad/ ignored; docs/bmad/ committed with normal PRs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lIns="0" tIns="0" rIns="0" bIns="0" rtlCol="0" anchor="b"/>
          <a:lstStyle/>
          <a:p>
            <a:pPr algn="l" indent="0" marL="0">
              <a:buNone/>
            </a:pPr>
            <a:r>
              <a:rPr lang="en-US" sz="4400" b="1" dirty="0">
                <a:solidFill>
                  <a:schemeClr val="bg1"/>
                </a:solidFill>
              </a:rPr>
              <a:t>Next steps</a:t>
            </a:r>
            <a:endParaRPr lang="en-US" sz="4400" dirty="0"/>
          </a:p>
        </p:txBody>
      </p:sp>
      <p:sp>
        <p:nvSpPr>
          <p:cNvPr id="3" name="Text 0"/>
          <p:cNvSpPr/>
          <p:nvPr>
            <p:ph idx="101" type="body" hasCustomPrompt="1"/>
          </p:nvPr>
        </p:nvSpPr>
        <p:spPr>
          <a:xfrm>
            <a:off x="548640" y="3657600"/>
            <a:ext cx="11094415" cy="128016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bg2"/>
                </a:solidFill>
              </a:rPr>
              <a:t>Pick a pilot module and run /onboard on it</a:t>
            </a:r>
            <a:endParaRPr lang="en-US" sz="2000" dirty="0"/>
          </a:p>
          <a:p>
            <a:pPr marL="342900" indent="-342900">
              <a:spcAft>
                <a:spcPts val="600"/>
              </a:spcAft>
              <a:buSzPct val="100000"/>
              <a:buChar char="•"/>
            </a:pPr>
            <a:r>
              <a:rPr lang="en-US" sz="2000" dirty="0">
                <a:solidFill>
                  <a:schemeClr val="bg2"/>
                </a:solidFill>
              </a:rPr>
              <a:t>Review its AGENTS.md with the module owner</a:t>
            </a:r>
            <a:endParaRPr lang="en-US" sz="2000" dirty="0"/>
          </a:p>
          <a:p>
            <a:pPr marL="342900" indent="-342900">
              <a:spcAft>
                <a:spcPts val="600"/>
              </a:spcAft>
              <a:buSzPct val="100000"/>
              <a:buChar char="•"/>
            </a:pPr>
            <a:r>
              <a:rPr lang="en-US" sz="2000" dirty="0">
                <a:solidFill>
                  <a:schemeClr val="bg2"/>
                </a:solidFill>
              </a:rPr>
              <a:t>Run one small story end to end</a:t>
            </a:r>
            <a:endParaRPr lang="en-US" sz="2000" dirty="0"/>
          </a:p>
          <a:p>
            <a:pPr marL="342900" indent="-342900">
              <a:spcAft>
                <a:spcPts val="600"/>
              </a:spcAft>
              <a:buSzPct val="100000"/>
              <a:buChar char="•"/>
            </a:pPr>
            <a:r>
              <a:rPr lang="en-US" sz="2000" dirty="0">
                <a:solidFill>
                  <a:schemeClr val="bg2"/>
                </a:solidFill>
              </a:rPr>
              <a:t>Read docs/BMAD_SETUP_Guide.md and docs/BMAD_REFERENCE.md</a:t>
            </a:r>
            <a:endParaRPr lang="en-US" sz="2000" dirty="0"/>
          </a:p>
        </p:txBody>
      </p:sp>
    </p:spTree>
  </p:cSld>
  <p:clrMapOvr>
    <a:masterClrMapping/>
  </p:clrMapOvr>
</p:sld>
</file>

<file path=ppt/theme/theme1.xml><?xml version="1.0" encoding="utf-8"?>
<a:theme xmlns:a="http://schemas.openxmlformats.org/drawingml/2006/main" name="BMAD BFSI">
  <a:themeElements>
    <a:clrScheme name="BMAD BFSI">
      <a:dk1>
        <a:srgbClr val="1B2A2F"/>
      </a:dk1>
      <a:lt1>
        <a:srgbClr val="FFFFFF"/>
      </a:lt1>
      <a:dk2>
        <a:srgbClr val="0E3B43"/>
      </a:dk2>
      <a:lt2>
        <a:srgbClr val="EEF4F3"/>
      </a:lt2>
      <a:accent1>
        <a:srgbClr val="C9A227"/>
      </a:accent1>
      <a:accent2>
        <a:srgbClr val="1F7A6D"/>
      </a:accent2>
      <a:accent3>
        <a:srgbClr val="5B8C85"/>
      </a:accent3>
      <a:accent4>
        <a:srgbClr val="B5523B"/>
      </a:accent4>
      <a:accent5>
        <a:srgbClr val="6C7A89"/>
      </a:accent5>
      <a:accent6>
        <a:srgbClr val="2E5E8C"/>
      </a:accent6>
      <a:hlink>
        <a:srgbClr val="1F7A6D"/>
      </a:hlink>
      <a:folHlink>
        <a:srgbClr val="5B8C85"/>
      </a:folHlink>
    </a:clrScheme>
    <a:fontScheme name="BMAD BFS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BMAD Agentic SDLC — Brownfield</dc:title>
  <dc:subject>GitHub Copilot agents for BFSI application design and development</dc:subject>
  <dc:creator>Wissen</dc:creator>
  <cp:lastModifiedBy>Wissen</cp:lastModifiedBy>
  <cp:revision>1</cp:revision>
  <dcterms:created xsi:type="dcterms:W3CDTF">2026-10-27T07:02:17Z</dcterms:created>
  <dcterms:modified xsi:type="dcterms:W3CDTF">2026-10-27T07:02:17Z</dcterms:modified>
</cp:coreProperties>
</file>