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45d661b-3938-1233-9cf6-74214ed2e18a}">
          <p14:sldIdLst>
            <p14:sldId id="256"/>
          </p14:sldIdLst>
        </p14:section>
        <p14:section name="How it works" id="{1a10e3c4-a7f2-3146-f957-e00d78463a7f}">
          <p14:sldIdLst>
            <p14:sldId id="257"/>
            <p14:sldId id="258"/>
            <p14:sldId id="259"/>
          </p14:sldIdLst>
        </p14:section>
        <p14:section name="Starting fresh" id="{e99cba15-edbd-50ce-4326-253fbdd37162}">
          <p14:sldIdLst>
            <p14:sldId id="260"/>
            <p14:sldId id="261"/>
            <p14:sldId id="262"/>
            <p14:sldId id="263"/>
            <p14:sldId id="264"/>
          </p14:sldIdLst>
        </p14:section>
        <p14:section name="Guardrails and rollout" id="{dbb102dc-baf7-0597-8149-094173d8177a}">
          <p14:sldIdLst>
            <p14:sldId id="265"/>
            <p14:sldId id="266"/>
          </p14:sldIdLst>
        </p14:section>
        <p14:section name="Close" id="{aa34ee41-1293-1c00-dc85-078c4b9e350c}">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show teams how to start a new application with the BMAD agents. Covers how the agents work, writing the rulebook first, setup, the first story, and the rollout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new application the cycle starts at PM. Each stage produces a file in the repository and sets a gate the next stage checks. Two helpers sit beside the pipeline: the critic, which judges each stage in a clean context, and the BFSI advisor for domain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loop is identical in every stage. Highlighted boxes are where a human acts. The flow block in bmad.config.yaml controls it: auto_loop decides whether the agent asks between rounds, review_changes and review_granularity decide how often it pauses for review, and critic turns the independent judge on or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three human touchpoints. Reviews happen in the VS Code editor with the native Keep and Undo buttons, then a one-word reply. The loop decision is skipped only when auto_loop is true. Approvals for anything leaving the machine are never skipped.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greenfield project the rulebook is the architecture. Spend time on the state machines and domain rules: the Architect and Dev agents enforce exactly what is written here, and the critic checks against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skeleton per module lets the Dev agent's build and coverage checks run from the first story. If you use a stack other than Java/Spring or React, add a stack pack first; agents rely on its build, test and scan commands. See docs/BMAD_SETUP_Guide.md Part A for commands and docs/bmad.config.example.yaml for an example config.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stage checks the gate from the previous one, so the order is enforced. Gates live in the story file's front matter in docs/bmad.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Atlassian access is needed. The files are the source of truth and every agent reads gates from them. Ids use the project key from the config, for example PAY-1. JIRA can be added later as a mirror.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choices shape every later artifact, so settle them before the first PRD. They can change later, but changing money representation or roles mid-project means revisiting designs.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 pack lives in .github/bmad/domain/bfsi-rules.md and is technology-neutral. Stack packs translate the key ones into grep checks, so many violations are caught deterministically before the critic runs. Regulatory content in the domain pack is orientation only and must be confirmed by Compliance.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organisational controls the agents rely on. The approval prompts are instructions the agent follows; branch protection and CODEOWNERS are the hard safety net. Per Wissen policy, a qualified reviewer validates agent output before delivery.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a concrete pilot. All agent output is assistive: a qualified reviewer validates designs, code and documents before delivery, and Compliance confirms any regulatory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MAD Title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94415" cy="14630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3657600"/>
            <a:ext cx="11094415" cy="128016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
        <p:nvSpPr>
          <p:cNvPr id="4" name="Text 0"/>
          <p:cNvSpPr/>
          <p:nvPr/>
        </p:nvSpPr>
        <p:spPr>
          <a:xfrm>
            <a:off x="548640" y="6126480"/>
            <a:ext cx="7315200" cy="365760"/>
          </a:xfrm>
          <a:prstGeom prst="rect">
            <a:avLst/>
          </a:prstGeom>
          <a:noFill/>
          <a:ln/>
        </p:spPr>
        <p:txBody>
          <a:bodyPr wrap="square" lIns="0" tIns="0" rIns="0" bIns="0" rtlCol="0" anchor="ctr"/>
          <a:lstStyle/>
          <a:p>
            <a:pPr indent="0" marL="0">
              <a:buNone/>
            </a:pPr>
            <a:r>
              <a:rPr lang="en-US" sz="1200" dirty="0">
                <a:solidFill>
                  <a:schemeClr val="accent1"/>
                </a:solidFill>
              </a:rPr>
              <a:t>BMAD for GitHub Copilot · BFSI edition</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MAD 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chemeClr val="accent5"/>
                </a:solidFill>
              </a:rPr>
              <a:t>BMAD Agentic SDLC · Greenfield</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94415" cy="1463040"/>
          </a:xfrm>
          <a:prstGeom prst="rect">
            <a:avLst/>
          </a:prstGeom>
          <a:noFill/>
          <a:ln/>
        </p:spPr>
        <p:txBody>
          <a:bodyPr wrap="square" lIns="0" tIns="0" rIns="0" bIns="0" rtlCol="0" anchor="b"/>
          <a:lstStyle/>
          <a:p>
            <a:pPr algn="l" indent="0" marL="0">
              <a:buNone/>
            </a:pPr>
            <a:r>
              <a:rPr lang="en-US" sz="4400" b="1" dirty="0">
                <a:solidFill>
                  <a:schemeClr val="bg1"/>
                </a:solidFill>
              </a:rPr>
              <a:t>BMAD Agentic SDLC — Greenfield start</a:t>
            </a:r>
            <a:endParaRPr lang="en-US" sz="4400" dirty="0"/>
          </a:p>
        </p:txBody>
      </p:sp>
      <p:sp>
        <p:nvSpPr>
          <p:cNvPr id="3" name="Text 0"/>
          <p:cNvSpPr/>
          <p:nvPr>
            <p:ph idx="101" type="body" hasCustomPrompt="1"/>
          </p:nvPr>
        </p:nvSpPr>
        <p:spPr>
          <a:xfrm>
            <a:off x="548640" y="3657600"/>
            <a:ext cx="11094415" cy="1280160"/>
          </a:xfrm>
          <a:prstGeom prst="rect">
            <a:avLst/>
          </a:prstGeom>
          <a:noFill/>
          <a:ln/>
        </p:spPr>
        <p:txBody>
          <a:bodyPr wrap="square" lIns="0" tIns="0" rIns="0" bIns="0" rtlCol="0" anchor="t"/>
          <a:lstStyle/>
          <a:p>
            <a:pPr indent="0" marL="0">
              <a:buNone/>
            </a:pPr>
            <a:r>
              <a:rPr lang="en-US" sz="2000" dirty="0">
                <a:solidFill>
                  <a:schemeClr val="bg2"/>
                </a:solidFill>
              </a:rPr>
              <a:t>Build a new Banking and Financial Services application with GitHub Copilot agents from day one</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2"/>
                </a:solidFill>
              </a:rPr>
              <a:t>Seven agents take an idea to tested, documented code</a:t>
            </a:r>
            <a:endParaRPr lang="en-US" sz="3200" dirty="0"/>
          </a:p>
        </p:txBody>
      </p:sp>
      <p:sp>
        <p:nvSpPr>
          <p:cNvPr id="3" name="stage PM"/>
          <p:cNvSpPr/>
          <p:nvPr/>
        </p:nvSpPr>
        <p:spPr>
          <a:xfrm>
            <a:off x="548640" y="1600200"/>
            <a:ext cx="1443838" cy="3017520"/>
          </a:xfrm>
          <a:prstGeom prst="roundRect">
            <a:avLst>
              <a:gd name="adj" fmla="val 5066"/>
            </a:avLst>
          </a:prstGeom>
          <a:solidFill>
            <a:schemeClr val="bg2"/>
          </a:solidFill>
          <a:ln w="12700">
            <a:solidFill>
              <a:schemeClr val="bg2"/>
            </a:solidFill>
            <a:prstDash val="solid"/>
          </a:ln>
        </p:spPr>
      </p:sp>
      <p:sp>
        <p:nvSpPr>
          <p:cNvPr id="4" name="stage PM number"/>
          <p:cNvSpPr txBox="1"/>
          <p:nvPr/>
        </p:nvSpPr>
        <p:spPr>
          <a:xfrm>
            <a:off x="950519" y="1874520"/>
            <a:ext cx="640080" cy="64008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tx2"/>
                </a:solidFill>
              </a:rPr>
              <a:t>1</a:t>
            </a:r>
            <a:endParaRPr lang="en-US" sz="1800" dirty="0"/>
          </a:p>
        </p:txBody>
      </p:sp>
      <p:sp>
        <p:nvSpPr>
          <p:cNvPr id="5" name="stage PM name"/>
          <p:cNvSpPr txBox="1"/>
          <p:nvPr/>
        </p:nvSpPr>
        <p:spPr>
          <a:xfrm>
            <a:off x="640080" y="2651760"/>
            <a:ext cx="1260958" cy="457200"/>
          </a:xfrm>
          <a:prstGeom prst="rect">
            <a:avLst/>
          </a:prstGeom>
          <a:noFill/>
          <a:ln/>
        </p:spPr>
        <p:txBody>
          <a:bodyPr wrap="square" lIns="0" tIns="0" rIns="0" bIns="0" rtlCol="0" anchor="ctr"/>
          <a:lstStyle/>
          <a:p>
            <a:pPr algn="ctr" indent="0" marL="0">
              <a:buNone/>
            </a:pPr>
            <a:r>
              <a:rPr lang="en-US" sz="1600" b="1" dirty="0">
                <a:solidFill>
                  <a:schemeClr val="tx2"/>
                </a:solidFill>
              </a:rPr>
              <a:t>PM</a:t>
            </a:r>
            <a:endParaRPr lang="en-US" sz="1600" dirty="0"/>
          </a:p>
        </p:txBody>
      </p:sp>
      <p:sp>
        <p:nvSpPr>
          <p:cNvPr id="6" name="stage PM cmd"/>
          <p:cNvSpPr txBox="1"/>
          <p:nvPr/>
        </p:nvSpPr>
        <p:spPr>
          <a:xfrm>
            <a:off x="640080" y="3108960"/>
            <a:ext cx="1260958" cy="365760"/>
          </a:xfrm>
          <a:prstGeom prst="rect">
            <a:avLst/>
          </a:prstGeom>
          <a:noFill/>
          <a:ln/>
        </p:spPr>
        <p:txBody>
          <a:bodyPr wrap="square" lIns="0" tIns="0" rIns="0" bIns="0" rtlCol="0" anchor="ctr"/>
          <a:lstStyle/>
          <a:p>
            <a:pPr algn="ctr" indent="0" marL="0">
              <a:buNone/>
            </a:pPr>
            <a:r>
              <a:rPr lang="en-US" sz="1300" dirty="0">
                <a:solidFill>
                  <a:schemeClr val="accent2"/>
                </a:solidFill>
              </a:rPr>
              <a:t>/pm</a:t>
            </a:r>
            <a:endParaRPr lang="en-US" sz="1300" dirty="0"/>
          </a:p>
        </p:txBody>
      </p:sp>
      <p:sp>
        <p:nvSpPr>
          <p:cNvPr id="7" name="stage PM out"/>
          <p:cNvSpPr txBox="1"/>
          <p:nvPr/>
        </p:nvSpPr>
        <p:spPr>
          <a:xfrm>
            <a:off x="658368" y="3520440"/>
            <a:ext cx="1224382" cy="960120"/>
          </a:xfrm>
          <a:prstGeom prst="rect">
            <a:avLst/>
          </a:prstGeom>
          <a:noFill/>
          <a:ln/>
        </p:spPr>
        <p:txBody>
          <a:bodyPr wrap="square" lIns="0" tIns="0" rIns="0" bIns="0" rtlCol="0" anchor="t"/>
          <a:lstStyle/>
          <a:p>
            <a:pPr algn="ctr" indent="0" marL="0">
              <a:buNone/>
            </a:pPr>
            <a:r>
              <a:rPr lang="en-US" sz="1200" dirty="0">
                <a:solidFill>
                  <a:schemeClr val="tx1"/>
                </a:solidFill>
              </a:rPr>
              <a:t>PRD and epic</a:t>
            </a:r>
            <a:endParaRPr lang="en-US" sz="1200" dirty="0"/>
          </a:p>
        </p:txBody>
      </p:sp>
      <p:sp>
        <p:nvSpPr>
          <p:cNvPr id="8" name="stage BA"/>
          <p:cNvSpPr/>
          <p:nvPr/>
        </p:nvSpPr>
        <p:spPr>
          <a:xfrm>
            <a:off x="2157070" y="1600200"/>
            <a:ext cx="1443838" cy="3017520"/>
          </a:xfrm>
          <a:prstGeom prst="roundRect">
            <a:avLst>
              <a:gd name="adj" fmla="val 5066"/>
            </a:avLst>
          </a:prstGeom>
          <a:solidFill>
            <a:schemeClr val="bg2"/>
          </a:solidFill>
          <a:ln w="12700">
            <a:solidFill>
              <a:schemeClr val="bg2"/>
            </a:solidFill>
            <a:prstDash val="solid"/>
          </a:ln>
        </p:spPr>
      </p:sp>
      <p:sp>
        <p:nvSpPr>
          <p:cNvPr id="9" name="stage BA number"/>
          <p:cNvSpPr txBox="1"/>
          <p:nvPr/>
        </p:nvSpPr>
        <p:spPr>
          <a:xfrm>
            <a:off x="2558948" y="1874520"/>
            <a:ext cx="640080" cy="64008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tx2"/>
                </a:solidFill>
              </a:rPr>
              <a:t>2</a:t>
            </a:r>
            <a:endParaRPr lang="en-US" sz="1800" dirty="0"/>
          </a:p>
        </p:txBody>
      </p:sp>
      <p:sp>
        <p:nvSpPr>
          <p:cNvPr id="10" name="stage BA name"/>
          <p:cNvSpPr txBox="1"/>
          <p:nvPr/>
        </p:nvSpPr>
        <p:spPr>
          <a:xfrm>
            <a:off x="2248510" y="2651760"/>
            <a:ext cx="1260958" cy="457200"/>
          </a:xfrm>
          <a:prstGeom prst="rect">
            <a:avLst/>
          </a:prstGeom>
          <a:noFill/>
          <a:ln/>
        </p:spPr>
        <p:txBody>
          <a:bodyPr wrap="square" lIns="0" tIns="0" rIns="0" bIns="0" rtlCol="0" anchor="ctr"/>
          <a:lstStyle/>
          <a:p>
            <a:pPr algn="ctr" indent="0" marL="0">
              <a:buNone/>
            </a:pPr>
            <a:r>
              <a:rPr lang="en-US" sz="1600" b="1" dirty="0">
                <a:solidFill>
                  <a:schemeClr val="tx2"/>
                </a:solidFill>
              </a:rPr>
              <a:t>BA</a:t>
            </a:r>
            <a:endParaRPr lang="en-US" sz="1600" dirty="0"/>
          </a:p>
        </p:txBody>
      </p:sp>
      <p:sp>
        <p:nvSpPr>
          <p:cNvPr id="11" name="stage BA cmd"/>
          <p:cNvSpPr txBox="1"/>
          <p:nvPr/>
        </p:nvSpPr>
        <p:spPr>
          <a:xfrm>
            <a:off x="2248510" y="3108960"/>
            <a:ext cx="1260958" cy="365760"/>
          </a:xfrm>
          <a:prstGeom prst="rect">
            <a:avLst/>
          </a:prstGeom>
          <a:noFill/>
          <a:ln/>
        </p:spPr>
        <p:txBody>
          <a:bodyPr wrap="square" lIns="0" tIns="0" rIns="0" bIns="0" rtlCol="0" anchor="ctr"/>
          <a:lstStyle/>
          <a:p>
            <a:pPr algn="ctr" indent="0" marL="0">
              <a:buNone/>
            </a:pPr>
            <a:r>
              <a:rPr lang="en-US" sz="1300" dirty="0">
                <a:solidFill>
                  <a:schemeClr val="accent2"/>
                </a:solidFill>
              </a:rPr>
              <a:t>/ba</a:t>
            </a:r>
            <a:endParaRPr lang="en-US" sz="1300" dirty="0"/>
          </a:p>
        </p:txBody>
      </p:sp>
      <p:sp>
        <p:nvSpPr>
          <p:cNvPr id="12" name="stage BA out"/>
          <p:cNvSpPr txBox="1"/>
          <p:nvPr/>
        </p:nvSpPr>
        <p:spPr>
          <a:xfrm>
            <a:off x="2266798" y="3520440"/>
            <a:ext cx="1224382" cy="960120"/>
          </a:xfrm>
          <a:prstGeom prst="rect">
            <a:avLst/>
          </a:prstGeom>
          <a:noFill/>
          <a:ln/>
        </p:spPr>
        <p:txBody>
          <a:bodyPr wrap="square" lIns="0" tIns="0" rIns="0" bIns="0" rtlCol="0" anchor="t"/>
          <a:lstStyle/>
          <a:p>
            <a:pPr algn="ctr" indent="0" marL="0">
              <a:buNone/>
            </a:pPr>
            <a:r>
              <a:rPr lang="en-US" sz="1200" dirty="0">
                <a:solidFill>
                  <a:schemeClr val="tx1"/>
                </a:solidFill>
              </a:rPr>
              <a:t>Stories and acceptance criteria</a:t>
            </a:r>
            <a:endParaRPr lang="en-US" sz="1200" dirty="0"/>
          </a:p>
        </p:txBody>
      </p:sp>
      <p:sp>
        <p:nvSpPr>
          <p:cNvPr id="13" name="stage Architect"/>
          <p:cNvSpPr/>
          <p:nvPr/>
        </p:nvSpPr>
        <p:spPr>
          <a:xfrm>
            <a:off x="3765499" y="1600200"/>
            <a:ext cx="1443838" cy="3017520"/>
          </a:xfrm>
          <a:prstGeom prst="roundRect">
            <a:avLst>
              <a:gd name="adj" fmla="val 5066"/>
            </a:avLst>
          </a:prstGeom>
          <a:solidFill>
            <a:schemeClr val="bg2"/>
          </a:solidFill>
          <a:ln w="12700">
            <a:solidFill>
              <a:schemeClr val="bg2"/>
            </a:solidFill>
            <a:prstDash val="solid"/>
          </a:ln>
        </p:spPr>
      </p:sp>
      <p:sp>
        <p:nvSpPr>
          <p:cNvPr id="14" name="stage Architect number"/>
          <p:cNvSpPr txBox="1"/>
          <p:nvPr/>
        </p:nvSpPr>
        <p:spPr>
          <a:xfrm>
            <a:off x="4167378" y="1874520"/>
            <a:ext cx="640080" cy="64008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tx2"/>
                </a:solidFill>
              </a:rPr>
              <a:t>3</a:t>
            </a:r>
            <a:endParaRPr lang="en-US" sz="1800" dirty="0"/>
          </a:p>
        </p:txBody>
      </p:sp>
      <p:sp>
        <p:nvSpPr>
          <p:cNvPr id="15" name="stage Architect name"/>
          <p:cNvSpPr txBox="1"/>
          <p:nvPr/>
        </p:nvSpPr>
        <p:spPr>
          <a:xfrm>
            <a:off x="3856939" y="2651760"/>
            <a:ext cx="1260958" cy="457200"/>
          </a:xfrm>
          <a:prstGeom prst="rect">
            <a:avLst/>
          </a:prstGeom>
          <a:noFill/>
          <a:ln/>
        </p:spPr>
        <p:txBody>
          <a:bodyPr wrap="square" lIns="0" tIns="0" rIns="0" bIns="0" rtlCol="0" anchor="ctr"/>
          <a:lstStyle/>
          <a:p>
            <a:pPr algn="ctr" indent="0" marL="0">
              <a:buNone/>
            </a:pPr>
            <a:r>
              <a:rPr lang="en-US" sz="1600" b="1" dirty="0">
                <a:solidFill>
                  <a:schemeClr val="tx2"/>
                </a:solidFill>
              </a:rPr>
              <a:t>Architect</a:t>
            </a:r>
            <a:endParaRPr lang="en-US" sz="1600" dirty="0"/>
          </a:p>
        </p:txBody>
      </p:sp>
      <p:sp>
        <p:nvSpPr>
          <p:cNvPr id="16" name="stage Architect cmd"/>
          <p:cNvSpPr txBox="1"/>
          <p:nvPr/>
        </p:nvSpPr>
        <p:spPr>
          <a:xfrm>
            <a:off x="3856939" y="3108960"/>
            <a:ext cx="1260958" cy="365760"/>
          </a:xfrm>
          <a:prstGeom prst="rect">
            <a:avLst/>
          </a:prstGeom>
          <a:noFill/>
          <a:ln/>
        </p:spPr>
        <p:txBody>
          <a:bodyPr wrap="square" lIns="0" tIns="0" rIns="0" bIns="0" rtlCol="0" anchor="ctr"/>
          <a:lstStyle/>
          <a:p>
            <a:pPr algn="ctr" indent="0" marL="0">
              <a:buNone/>
            </a:pPr>
            <a:r>
              <a:rPr lang="en-US" sz="1300" dirty="0">
                <a:solidFill>
                  <a:schemeClr val="accent2"/>
                </a:solidFill>
              </a:rPr>
              <a:t>/arch</a:t>
            </a:r>
            <a:endParaRPr lang="en-US" sz="1300" dirty="0"/>
          </a:p>
        </p:txBody>
      </p:sp>
      <p:sp>
        <p:nvSpPr>
          <p:cNvPr id="17" name="stage Architect out"/>
          <p:cNvSpPr txBox="1"/>
          <p:nvPr/>
        </p:nvSpPr>
        <p:spPr>
          <a:xfrm>
            <a:off x="3875227" y="3520440"/>
            <a:ext cx="1224382" cy="960120"/>
          </a:xfrm>
          <a:prstGeom prst="rect">
            <a:avLst/>
          </a:prstGeom>
          <a:noFill/>
          <a:ln/>
        </p:spPr>
        <p:txBody>
          <a:bodyPr wrap="square" lIns="0" tIns="0" rIns="0" bIns="0" rtlCol="0" anchor="t"/>
          <a:lstStyle/>
          <a:p>
            <a:pPr algn="ctr" indent="0" marL="0">
              <a:buNone/>
            </a:pPr>
            <a:r>
              <a:rPr lang="en-US" sz="1200" dirty="0">
                <a:solidFill>
                  <a:schemeClr val="tx1"/>
                </a:solidFill>
              </a:rPr>
              <a:t>Design D1–D20</a:t>
            </a:r>
            <a:endParaRPr lang="en-US" sz="1200" dirty="0"/>
          </a:p>
        </p:txBody>
      </p:sp>
      <p:sp>
        <p:nvSpPr>
          <p:cNvPr id="18" name="stage Dev"/>
          <p:cNvSpPr/>
          <p:nvPr/>
        </p:nvSpPr>
        <p:spPr>
          <a:xfrm>
            <a:off x="5373929" y="1600200"/>
            <a:ext cx="1443838" cy="3017520"/>
          </a:xfrm>
          <a:prstGeom prst="roundRect">
            <a:avLst>
              <a:gd name="adj" fmla="val 5066"/>
            </a:avLst>
          </a:prstGeom>
          <a:solidFill>
            <a:schemeClr val="bg2"/>
          </a:solidFill>
          <a:ln w="12700">
            <a:solidFill>
              <a:schemeClr val="bg2"/>
            </a:solidFill>
            <a:prstDash val="solid"/>
          </a:ln>
        </p:spPr>
      </p:sp>
      <p:sp>
        <p:nvSpPr>
          <p:cNvPr id="19" name="stage Dev number"/>
          <p:cNvSpPr txBox="1"/>
          <p:nvPr/>
        </p:nvSpPr>
        <p:spPr>
          <a:xfrm>
            <a:off x="5775808" y="1874520"/>
            <a:ext cx="640080" cy="64008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tx2"/>
                </a:solidFill>
              </a:rPr>
              <a:t>4</a:t>
            </a:r>
            <a:endParaRPr lang="en-US" sz="1800" dirty="0"/>
          </a:p>
        </p:txBody>
      </p:sp>
      <p:sp>
        <p:nvSpPr>
          <p:cNvPr id="20" name="stage Dev name"/>
          <p:cNvSpPr txBox="1"/>
          <p:nvPr/>
        </p:nvSpPr>
        <p:spPr>
          <a:xfrm>
            <a:off x="5465369" y="2651760"/>
            <a:ext cx="1260958" cy="457200"/>
          </a:xfrm>
          <a:prstGeom prst="rect">
            <a:avLst/>
          </a:prstGeom>
          <a:noFill/>
          <a:ln/>
        </p:spPr>
        <p:txBody>
          <a:bodyPr wrap="square" lIns="0" tIns="0" rIns="0" bIns="0" rtlCol="0" anchor="ctr"/>
          <a:lstStyle/>
          <a:p>
            <a:pPr algn="ctr" indent="0" marL="0">
              <a:buNone/>
            </a:pPr>
            <a:r>
              <a:rPr lang="en-US" sz="1600" b="1" dirty="0">
                <a:solidFill>
                  <a:schemeClr val="tx2"/>
                </a:solidFill>
              </a:rPr>
              <a:t>Dev</a:t>
            </a:r>
            <a:endParaRPr lang="en-US" sz="1600" dirty="0"/>
          </a:p>
        </p:txBody>
      </p:sp>
      <p:sp>
        <p:nvSpPr>
          <p:cNvPr id="21" name="stage Dev cmd"/>
          <p:cNvSpPr txBox="1"/>
          <p:nvPr/>
        </p:nvSpPr>
        <p:spPr>
          <a:xfrm>
            <a:off x="5465369" y="3108960"/>
            <a:ext cx="1260958" cy="365760"/>
          </a:xfrm>
          <a:prstGeom prst="rect">
            <a:avLst/>
          </a:prstGeom>
          <a:noFill/>
          <a:ln/>
        </p:spPr>
        <p:txBody>
          <a:bodyPr wrap="square" lIns="0" tIns="0" rIns="0" bIns="0" rtlCol="0" anchor="ctr"/>
          <a:lstStyle/>
          <a:p>
            <a:pPr algn="ctr" indent="0" marL="0">
              <a:buNone/>
            </a:pPr>
            <a:r>
              <a:rPr lang="en-US" sz="1300" dirty="0">
                <a:solidFill>
                  <a:schemeClr val="accent2"/>
                </a:solidFill>
              </a:rPr>
              <a:t>/dev</a:t>
            </a:r>
            <a:endParaRPr lang="en-US" sz="1300" dirty="0"/>
          </a:p>
        </p:txBody>
      </p:sp>
      <p:sp>
        <p:nvSpPr>
          <p:cNvPr id="22" name="stage Dev out"/>
          <p:cNvSpPr txBox="1"/>
          <p:nvPr/>
        </p:nvSpPr>
        <p:spPr>
          <a:xfrm>
            <a:off x="5483657" y="3520440"/>
            <a:ext cx="1224382" cy="960120"/>
          </a:xfrm>
          <a:prstGeom prst="rect">
            <a:avLst/>
          </a:prstGeom>
          <a:noFill/>
          <a:ln/>
        </p:spPr>
        <p:txBody>
          <a:bodyPr wrap="square" lIns="0" tIns="0" rIns="0" bIns="0" rtlCol="0" anchor="t"/>
          <a:lstStyle/>
          <a:p>
            <a:pPr algn="ctr" indent="0" marL="0">
              <a:buNone/>
            </a:pPr>
            <a:r>
              <a:rPr lang="en-US" sz="1200" dirty="0">
                <a:solidFill>
                  <a:schemeClr val="tx1"/>
                </a:solidFill>
              </a:rPr>
              <a:t>Code, tests, PR</a:t>
            </a:r>
            <a:endParaRPr lang="en-US" sz="1200" dirty="0"/>
          </a:p>
        </p:txBody>
      </p:sp>
      <p:sp>
        <p:nvSpPr>
          <p:cNvPr id="23" name="stage Code Review"/>
          <p:cNvSpPr/>
          <p:nvPr/>
        </p:nvSpPr>
        <p:spPr>
          <a:xfrm>
            <a:off x="6982358" y="1600200"/>
            <a:ext cx="1443838" cy="3017520"/>
          </a:xfrm>
          <a:prstGeom prst="roundRect">
            <a:avLst>
              <a:gd name="adj" fmla="val 5066"/>
            </a:avLst>
          </a:prstGeom>
          <a:solidFill>
            <a:schemeClr val="bg2"/>
          </a:solidFill>
          <a:ln w="12700">
            <a:solidFill>
              <a:schemeClr val="bg2"/>
            </a:solidFill>
            <a:prstDash val="solid"/>
          </a:ln>
        </p:spPr>
      </p:sp>
      <p:sp>
        <p:nvSpPr>
          <p:cNvPr id="24" name="stage Code Review number"/>
          <p:cNvSpPr txBox="1"/>
          <p:nvPr/>
        </p:nvSpPr>
        <p:spPr>
          <a:xfrm>
            <a:off x="7384237" y="1874520"/>
            <a:ext cx="640080" cy="64008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tx2"/>
                </a:solidFill>
              </a:rPr>
              <a:t>5</a:t>
            </a:r>
            <a:endParaRPr lang="en-US" sz="1800" dirty="0"/>
          </a:p>
        </p:txBody>
      </p:sp>
      <p:sp>
        <p:nvSpPr>
          <p:cNvPr id="25" name="stage Code Review name"/>
          <p:cNvSpPr txBox="1"/>
          <p:nvPr/>
        </p:nvSpPr>
        <p:spPr>
          <a:xfrm>
            <a:off x="7073798" y="2651760"/>
            <a:ext cx="1260958" cy="457200"/>
          </a:xfrm>
          <a:prstGeom prst="rect">
            <a:avLst/>
          </a:prstGeom>
          <a:noFill/>
          <a:ln/>
        </p:spPr>
        <p:txBody>
          <a:bodyPr wrap="square" lIns="0" tIns="0" rIns="0" bIns="0" rtlCol="0" anchor="ctr"/>
          <a:lstStyle/>
          <a:p>
            <a:pPr algn="ctr" indent="0" marL="0">
              <a:buNone/>
            </a:pPr>
            <a:r>
              <a:rPr lang="en-US" sz="1600" b="1" dirty="0">
                <a:solidFill>
                  <a:schemeClr val="tx2"/>
                </a:solidFill>
              </a:rPr>
              <a:t>Code Review</a:t>
            </a:r>
            <a:endParaRPr lang="en-US" sz="1600" dirty="0"/>
          </a:p>
        </p:txBody>
      </p:sp>
      <p:sp>
        <p:nvSpPr>
          <p:cNvPr id="26" name="stage Code Review cmd"/>
          <p:cNvSpPr txBox="1"/>
          <p:nvPr/>
        </p:nvSpPr>
        <p:spPr>
          <a:xfrm>
            <a:off x="7073798" y="3108960"/>
            <a:ext cx="1260958" cy="365760"/>
          </a:xfrm>
          <a:prstGeom prst="rect">
            <a:avLst/>
          </a:prstGeom>
          <a:noFill/>
          <a:ln/>
        </p:spPr>
        <p:txBody>
          <a:bodyPr wrap="square" lIns="0" tIns="0" rIns="0" bIns="0" rtlCol="0" anchor="ctr"/>
          <a:lstStyle/>
          <a:p>
            <a:pPr algn="ctr" indent="0" marL="0">
              <a:buNone/>
            </a:pPr>
            <a:r>
              <a:rPr lang="en-US" sz="1300" dirty="0">
                <a:solidFill>
                  <a:schemeClr val="accent2"/>
                </a:solidFill>
              </a:rPr>
              <a:t>/review</a:t>
            </a:r>
            <a:endParaRPr lang="en-US" sz="1300" dirty="0"/>
          </a:p>
        </p:txBody>
      </p:sp>
      <p:sp>
        <p:nvSpPr>
          <p:cNvPr id="27" name="stage Code Review out"/>
          <p:cNvSpPr txBox="1"/>
          <p:nvPr/>
        </p:nvSpPr>
        <p:spPr>
          <a:xfrm>
            <a:off x="7092086" y="3520440"/>
            <a:ext cx="1224382" cy="960120"/>
          </a:xfrm>
          <a:prstGeom prst="rect">
            <a:avLst/>
          </a:prstGeom>
          <a:noFill/>
          <a:ln/>
        </p:spPr>
        <p:txBody>
          <a:bodyPr wrap="square" lIns="0" tIns="0" rIns="0" bIns="0" rtlCol="0" anchor="t"/>
          <a:lstStyle/>
          <a:p>
            <a:pPr algn="ctr" indent="0" marL="0">
              <a:buNone/>
            </a:pPr>
            <a:r>
              <a:rPr lang="en-US" sz="1200" dirty="0">
                <a:solidFill>
                  <a:schemeClr val="tx1"/>
                </a:solidFill>
              </a:rPr>
              <a:t>Review comment on the PR</a:t>
            </a:r>
            <a:endParaRPr lang="en-US" sz="1200" dirty="0"/>
          </a:p>
        </p:txBody>
      </p:sp>
      <p:sp>
        <p:nvSpPr>
          <p:cNvPr id="28" name="stage QA"/>
          <p:cNvSpPr/>
          <p:nvPr/>
        </p:nvSpPr>
        <p:spPr>
          <a:xfrm>
            <a:off x="8590788" y="1600200"/>
            <a:ext cx="1443838" cy="3017520"/>
          </a:xfrm>
          <a:prstGeom prst="roundRect">
            <a:avLst>
              <a:gd name="adj" fmla="val 5066"/>
            </a:avLst>
          </a:prstGeom>
          <a:solidFill>
            <a:schemeClr val="bg2"/>
          </a:solidFill>
          <a:ln w="12700">
            <a:solidFill>
              <a:schemeClr val="bg2"/>
            </a:solidFill>
            <a:prstDash val="solid"/>
          </a:ln>
        </p:spPr>
      </p:sp>
      <p:sp>
        <p:nvSpPr>
          <p:cNvPr id="29" name="stage QA number"/>
          <p:cNvSpPr txBox="1"/>
          <p:nvPr/>
        </p:nvSpPr>
        <p:spPr>
          <a:xfrm>
            <a:off x="8992667" y="1874520"/>
            <a:ext cx="640080" cy="64008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tx2"/>
                </a:solidFill>
              </a:rPr>
              <a:t>6</a:t>
            </a:r>
            <a:endParaRPr lang="en-US" sz="1800" dirty="0"/>
          </a:p>
        </p:txBody>
      </p:sp>
      <p:sp>
        <p:nvSpPr>
          <p:cNvPr id="30" name="stage QA name"/>
          <p:cNvSpPr txBox="1"/>
          <p:nvPr/>
        </p:nvSpPr>
        <p:spPr>
          <a:xfrm>
            <a:off x="8682228" y="2651760"/>
            <a:ext cx="1260958" cy="457200"/>
          </a:xfrm>
          <a:prstGeom prst="rect">
            <a:avLst/>
          </a:prstGeom>
          <a:noFill/>
          <a:ln/>
        </p:spPr>
        <p:txBody>
          <a:bodyPr wrap="square" lIns="0" tIns="0" rIns="0" bIns="0" rtlCol="0" anchor="ctr"/>
          <a:lstStyle/>
          <a:p>
            <a:pPr algn="ctr" indent="0" marL="0">
              <a:buNone/>
            </a:pPr>
            <a:r>
              <a:rPr lang="en-US" sz="1600" b="1" dirty="0">
                <a:solidFill>
                  <a:schemeClr val="tx2"/>
                </a:solidFill>
              </a:rPr>
              <a:t>QA</a:t>
            </a:r>
            <a:endParaRPr lang="en-US" sz="1600" dirty="0"/>
          </a:p>
        </p:txBody>
      </p:sp>
      <p:sp>
        <p:nvSpPr>
          <p:cNvPr id="31" name="stage QA cmd"/>
          <p:cNvSpPr txBox="1"/>
          <p:nvPr/>
        </p:nvSpPr>
        <p:spPr>
          <a:xfrm>
            <a:off x="8682228" y="3108960"/>
            <a:ext cx="1260958" cy="365760"/>
          </a:xfrm>
          <a:prstGeom prst="rect">
            <a:avLst/>
          </a:prstGeom>
          <a:noFill/>
          <a:ln/>
        </p:spPr>
        <p:txBody>
          <a:bodyPr wrap="square" lIns="0" tIns="0" rIns="0" bIns="0" rtlCol="0" anchor="ctr"/>
          <a:lstStyle/>
          <a:p>
            <a:pPr algn="ctr" indent="0" marL="0">
              <a:buNone/>
            </a:pPr>
            <a:r>
              <a:rPr lang="en-US" sz="1300" dirty="0">
                <a:solidFill>
                  <a:schemeClr val="accent2"/>
                </a:solidFill>
              </a:rPr>
              <a:t>/qa</a:t>
            </a:r>
            <a:endParaRPr lang="en-US" sz="1300" dirty="0"/>
          </a:p>
        </p:txBody>
      </p:sp>
      <p:sp>
        <p:nvSpPr>
          <p:cNvPr id="32" name="stage QA out"/>
          <p:cNvSpPr txBox="1"/>
          <p:nvPr/>
        </p:nvSpPr>
        <p:spPr>
          <a:xfrm>
            <a:off x="8700516" y="3520440"/>
            <a:ext cx="1224382" cy="960120"/>
          </a:xfrm>
          <a:prstGeom prst="rect">
            <a:avLst/>
          </a:prstGeom>
          <a:noFill/>
          <a:ln/>
        </p:spPr>
        <p:txBody>
          <a:bodyPr wrap="square" lIns="0" tIns="0" rIns="0" bIns="0" rtlCol="0" anchor="t"/>
          <a:lstStyle/>
          <a:p>
            <a:pPr algn="ctr" indent="0" marL="0">
              <a:buNone/>
            </a:pPr>
            <a:r>
              <a:rPr lang="en-US" sz="1200" dirty="0">
                <a:solidFill>
                  <a:schemeClr val="tx1"/>
                </a:solidFill>
              </a:rPr>
              <a:t>Acceptance evidence</a:t>
            </a:r>
            <a:endParaRPr lang="en-US" sz="1200" dirty="0"/>
          </a:p>
        </p:txBody>
      </p:sp>
      <p:sp>
        <p:nvSpPr>
          <p:cNvPr id="33" name="stage Docs"/>
          <p:cNvSpPr/>
          <p:nvPr/>
        </p:nvSpPr>
        <p:spPr>
          <a:xfrm>
            <a:off x="10199218" y="1600200"/>
            <a:ext cx="1443838" cy="3017520"/>
          </a:xfrm>
          <a:prstGeom prst="roundRect">
            <a:avLst>
              <a:gd name="adj" fmla="val 5066"/>
            </a:avLst>
          </a:prstGeom>
          <a:solidFill>
            <a:schemeClr val="bg2"/>
          </a:solidFill>
          <a:ln w="12700">
            <a:solidFill>
              <a:schemeClr val="bg2"/>
            </a:solidFill>
            <a:prstDash val="solid"/>
          </a:ln>
        </p:spPr>
      </p:sp>
      <p:sp>
        <p:nvSpPr>
          <p:cNvPr id="34" name="stage Docs number"/>
          <p:cNvSpPr txBox="1"/>
          <p:nvPr/>
        </p:nvSpPr>
        <p:spPr>
          <a:xfrm>
            <a:off x="10601096" y="1874520"/>
            <a:ext cx="640080" cy="64008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tx2"/>
                </a:solidFill>
              </a:rPr>
              <a:t>7</a:t>
            </a:r>
            <a:endParaRPr lang="en-US" sz="1800" dirty="0"/>
          </a:p>
        </p:txBody>
      </p:sp>
      <p:sp>
        <p:nvSpPr>
          <p:cNvPr id="35" name="stage Docs name"/>
          <p:cNvSpPr txBox="1"/>
          <p:nvPr/>
        </p:nvSpPr>
        <p:spPr>
          <a:xfrm>
            <a:off x="10290658" y="2651760"/>
            <a:ext cx="1260958" cy="457200"/>
          </a:xfrm>
          <a:prstGeom prst="rect">
            <a:avLst/>
          </a:prstGeom>
          <a:noFill/>
          <a:ln/>
        </p:spPr>
        <p:txBody>
          <a:bodyPr wrap="square" lIns="0" tIns="0" rIns="0" bIns="0" rtlCol="0" anchor="ctr"/>
          <a:lstStyle/>
          <a:p>
            <a:pPr algn="ctr" indent="0" marL="0">
              <a:buNone/>
            </a:pPr>
            <a:r>
              <a:rPr lang="en-US" sz="1600" b="1" dirty="0">
                <a:solidFill>
                  <a:schemeClr val="tx2"/>
                </a:solidFill>
              </a:rPr>
              <a:t>Docs</a:t>
            </a:r>
            <a:endParaRPr lang="en-US" sz="1600" dirty="0"/>
          </a:p>
        </p:txBody>
      </p:sp>
      <p:sp>
        <p:nvSpPr>
          <p:cNvPr id="36" name="stage Docs cmd"/>
          <p:cNvSpPr txBox="1"/>
          <p:nvPr/>
        </p:nvSpPr>
        <p:spPr>
          <a:xfrm>
            <a:off x="10290658" y="3108960"/>
            <a:ext cx="1260958" cy="365760"/>
          </a:xfrm>
          <a:prstGeom prst="rect">
            <a:avLst/>
          </a:prstGeom>
          <a:noFill/>
          <a:ln/>
        </p:spPr>
        <p:txBody>
          <a:bodyPr wrap="square" lIns="0" tIns="0" rIns="0" bIns="0" rtlCol="0" anchor="ctr"/>
          <a:lstStyle/>
          <a:p>
            <a:pPr algn="ctr" indent="0" marL="0">
              <a:buNone/>
            </a:pPr>
            <a:r>
              <a:rPr lang="en-US" sz="1300" dirty="0">
                <a:solidFill>
                  <a:schemeClr val="accent2"/>
                </a:solidFill>
              </a:rPr>
              <a:t>/doc</a:t>
            </a:r>
            <a:endParaRPr lang="en-US" sz="1300" dirty="0"/>
          </a:p>
        </p:txBody>
      </p:sp>
      <p:sp>
        <p:nvSpPr>
          <p:cNvPr id="37" name="stage Docs out"/>
          <p:cNvSpPr txBox="1"/>
          <p:nvPr/>
        </p:nvSpPr>
        <p:spPr>
          <a:xfrm>
            <a:off x="10308946" y="3520440"/>
            <a:ext cx="1224382" cy="960120"/>
          </a:xfrm>
          <a:prstGeom prst="rect">
            <a:avLst/>
          </a:prstGeom>
          <a:noFill/>
          <a:ln/>
        </p:spPr>
        <p:txBody>
          <a:bodyPr wrap="square" lIns="0" tIns="0" rIns="0" bIns="0" rtlCol="0" anchor="t"/>
          <a:lstStyle/>
          <a:p>
            <a:pPr algn="ctr" indent="0" marL="0">
              <a:buNone/>
            </a:pPr>
            <a:r>
              <a:rPr lang="en-US" sz="1200" dirty="0">
                <a:solidFill>
                  <a:schemeClr val="tx1"/>
                </a:solidFill>
              </a:rPr>
              <a:t>API spec and rulebook sync</a:t>
            </a:r>
            <a:endParaRPr lang="en-US" sz="1200" dirty="0"/>
          </a:p>
        </p:txBody>
      </p:sp>
      <p:sp>
        <p:nvSpPr>
          <p:cNvPr id="38" name="helpers note"/>
          <p:cNvSpPr txBox="1"/>
          <p:nvPr/>
        </p:nvSpPr>
        <p:spPr>
          <a:xfrm>
            <a:off x="548640" y="4892040"/>
            <a:ext cx="11094415" cy="640080"/>
          </a:xfrm>
          <a:prstGeom prst="rect">
            <a:avLst/>
          </a:prstGeom>
          <a:noFill/>
          <a:ln/>
        </p:spPr>
        <p:txBody>
          <a:bodyPr wrap="square" lIns="0" tIns="0" rIns="0" bIns="0" rtlCol="0" anchor="ctr"/>
          <a:lstStyle/>
          <a:p>
            <a:pPr indent="0" marL="0">
              <a:buNone/>
            </a:pPr>
            <a:r>
              <a:rPr lang="en-US" sz="1400" b="1" dirty="0">
                <a:solidFill>
                  <a:schemeClr val="tx2"/>
                </a:solidFill>
              </a:rPr>
              <a:t>Helpers: </a:t>
            </a:r>
            <a:pPr indent="0" marL="0">
              <a:buNone/>
            </a:pPr>
            <a:r>
              <a:rPr lang="en-US" sz="1400" dirty="0">
                <a:solidFill>
                  <a:schemeClr val="tx1"/>
                </a:solidFill>
              </a:rPr>
              <a:t>bmad-critic judges every stage independently (read-only). bmad-bfsi-advisor answers domain questions on trading, allocation, settlement, payments and lending.</a:t>
            </a:r>
            <a:endParaRPr lang="en-US" sz="1400" dirty="0"/>
          </a:p>
        </p:txBody>
      </p:sp>
      <p:sp>
        <p:nvSpPr>
          <p:cNvPr id="39" name="handoff note"/>
          <p:cNvSpPr txBox="1"/>
          <p:nvPr/>
        </p:nvSpPr>
        <p:spPr>
          <a:xfrm>
            <a:off x="548640" y="5577840"/>
            <a:ext cx="11094415" cy="365760"/>
          </a:xfrm>
          <a:prstGeom prst="rect">
            <a:avLst/>
          </a:prstGeom>
          <a:noFill/>
          <a:ln/>
        </p:spPr>
        <p:txBody>
          <a:bodyPr wrap="square" lIns="0" tIns="0" rIns="0" bIns="0" rtlCol="0" anchor="ctr"/>
          <a:lstStyle/>
          <a:p>
            <a:pPr indent="0" marL="0">
              <a:buNone/>
            </a:pPr>
            <a:r>
              <a:rPr lang="en-US" sz="1300" i="1" dirty="0">
                <a:solidFill>
                  <a:schemeClr val="accent2"/>
                </a:solidFill>
              </a:rPr>
              <a:t>A hand-off button under each agent's reply opens the next stage.</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2"/>
                </a:solidFill>
              </a:rPr>
              <a:t>Every stage runs the same controlled loop</a:t>
            </a:r>
            <a:endParaRPr lang="en-US" sz="3200" dirty="0"/>
          </a:p>
        </p:txBody>
      </p:sp>
      <p:sp>
        <p:nvSpPr>
          <p:cNvPr id="3" name="loop Change"/>
          <p:cNvSpPr/>
          <p:nvPr/>
        </p:nvSpPr>
        <p:spPr>
          <a:xfrm>
            <a:off x="548640" y="1645920"/>
            <a:ext cx="1962851" cy="2011680"/>
          </a:xfrm>
          <a:prstGeom prst="roundRect">
            <a:avLst>
              <a:gd name="adj" fmla="val 3727"/>
            </a:avLst>
          </a:prstGeom>
          <a:solidFill>
            <a:schemeClr val="bg2"/>
          </a:solidFill>
          <a:ln w="12700">
            <a:solidFill>
              <a:schemeClr val="bg2"/>
            </a:solidFill>
            <a:prstDash val="solid"/>
          </a:ln>
        </p:spPr>
      </p:sp>
      <p:sp>
        <p:nvSpPr>
          <p:cNvPr id="4" name="loop Change number"/>
          <p:cNvSpPr txBox="1"/>
          <p:nvPr/>
        </p:nvSpPr>
        <p:spPr>
          <a:xfrm>
            <a:off x="777240" y="1874520"/>
            <a:ext cx="502920" cy="50292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tx2"/>
                </a:solidFill>
              </a:rPr>
              <a:t>1</a:t>
            </a:r>
            <a:endParaRPr lang="en-US" sz="1500" dirty="0"/>
          </a:p>
        </p:txBody>
      </p:sp>
      <p:sp>
        <p:nvSpPr>
          <p:cNvPr id="5" name="loop Change name"/>
          <p:cNvSpPr txBox="1"/>
          <p:nvPr/>
        </p:nvSpPr>
        <p:spPr>
          <a:xfrm>
            <a:off x="1417320" y="1874520"/>
            <a:ext cx="957011" cy="502920"/>
          </a:xfrm>
          <a:prstGeom prst="rect">
            <a:avLst/>
          </a:prstGeom>
          <a:noFill/>
          <a:ln/>
        </p:spPr>
        <p:txBody>
          <a:bodyPr wrap="square" lIns="0" tIns="0" rIns="0" bIns="0" rtlCol="0" anchor="ctr"/>
          <a:lstStyle/>
          <a:p>
            <a:pPr indent="0" marL="0">
              <a:buNone/>
            </a:pPr>
            <a:r>
              <a:rPr lang="en-US" sz="1700" b="1" dirty="0">
                <a:solidFill>
                  <a:schemeClr val="tx2"/>
                </a:solidFill>
              </a:rPr>
              <a:t>Change</a:t>
            </a:r>
            <a:endParaRPr lang="en-US" sz="1700" dirty="0"/>
          </a:p>
        </p:txBody>
      </p:sp>
      <p:sp>
        <p:nvSpPr>
          <p:cNvPr id="6" name="loop Change text"/>
          <p:cNvSpPr txBox="1"/>
          <p:nvPr/>
        </p:nvSpPr>
        <p:spPr>
          <a:xfrm>
            <a:off x="777240" y="2560320"/>
            <a:ext cx="1505651" cy="960120"/>
          </a:xfrm>
          <a:prstGeom prst="rect">
            <a:avLst/>
          </a:prstGeom>
          <a:noFill/>
          <a:ln/>
        </p:spPr>
        <p:txBody>
          <a:bodyPr wrap="square" lIns="0" tIns="0" rIns="0" bIns="0" rtlCol="0" anchor="t"/>
          <a:lstStyle/>
          <a:p>
            <a:pPr indent="0" marL="0">
              <a:buNone/>
            </a:pPr>
            <a:r>
              <a:rPr lang="en-US" sz="1300" dirty="0">
                <a:solidFill>
                  <a:schemeClr val="tx1"/>
                </a:solidFill>
              </a:rPr>
              <a:t>Agent edits one step: a document or a code layer</a:t>
            </a:r>
            <a:endParaRPr lang="en-US" sz="1300" dirty="0"/>
          </a:p>
        </p:txBody>
      </p:sp>
      <p:sp>
        <p:nvSpPr>
          <p:cNvPr id="7" name="loop arrow 1"/>
          <p:cNvSpPr/>
          <p:nvPr/>
        </p:nvSpPr>
        <p:spPr>
          <a:xfrm>
            <a:off x="2557211" y="2514600"/>
            <a:ext cx="228600" cy="274320"/>
          </a:xfrm>
          <a:prstGeom prst="rightArrow">
            <a:avLst/>
          </a:prstGeom>
          <a:solidFill>
            <a:schemeClr val="accent3"/>
          </a:solidFill>
          <a:ln w="12700">
            <a:solidFill>
              <a:schemeClr val="accent3"/>
            </a:solidFill>
            <a:prstDash val="solid"/>
          </a:ln>
        </p:spPr>
      </p:sp>
      <p:sp>
        <p:nvSpPr>
          <p:cNvPr id="8" name="loop Your review"/>
          <p:cNvSpPr/>
          <p:nvPr/>
        </p:nvSpPr>
        <p:spPr>
          <a:xfrm>
            <a:off x="2831531" y="1645920"/>
            <a:ext cx="1962851" cy="2011680"/>
          </a:xfrm>
          <a:prstGeom prst="roundRect">
            <a:avLst>
              <a:gd name="adj" fmla="val 3727"/>
            </a:avLst>
          </a:prstGeom>
          <a:solidFill>
            <a:schemeClr val="tx2"/>
          </a:solidFill>
          <a:ln w="12700">
            <a:solidFill>
              <a:schemeClr val="tx2"/>
            </a:solidFill>
            <a:prstDash val="solid"/>
          </a:ln>
        </p:spPr>
      </p:sp>
      <p:sp>
        <p:nvSpPr>
          <p:cNvPr id="9" name="loop Your review number"/>
          <p:cNvSpPr txBox="1"/>
          <p:nvPr/>
        </p:nvSpPr>
        <p:spPr>
          <a:xfrm>
            <a:off x="3060131" y="1874520"/>
            <a:ext cx="502920" cy="50292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tx2"/>
                </a:solidFill>
              </a:rPr>
              <a:t>2</a:t>
            </a:r>
            <a:endParaRPr lang="en-US" sz="1500" dirty="0"/>
          </a:p>
        </p:txBody>
      </p:sp>
      <p:sp>
        <p:nvSpPr>
          <p:cNvPr id="10" name="loop Your review name"/>
          <p:cNvSpPr txBox="1"/>
          <p:nvPr/>
        </p:nvSpPr>
        <p:spPr>
          <a:xfrm>
            <a:off x="3700211" y="1874520"/>
            <a:ext cx="957011" cy="502920"/>
          </a:xfrm>
          <a:prstGeom prst="rect">
            <a:avLst/>
          </a:prstGeom>
          <a:noFill/>
          <a:ln/>
        </p:spPr>
        <p:txBody>
          <a:bodyPr wrap="square" lIns="0" tIns="0" rIns="0" bIns="0" rtlCol="0" anchor="ctr"/>
          <a:lstStyle/>
          <a:p>
            <a:pPr indent="0" marL="0">
              <a:buNone/>
            </a:pPr>
            <a:r>
              <a:rPr lang="en-US" sz="1700" b="1" dirty="0">
                <a:solidFill>
                  <a:schemeClr val="bg1"/>
                </a:solidFill>
              </a:rPr>
              <a:t>Your review</a:t>
            </a:r>
            <a:endParaRPr lang="en-US" sz="1700" dirty="0"/>
          </a:p>
        </p:txBody>
      </p:sp>
      <p:sp>
        <p:nvSpPr>
          <p:cNvPr id="11" name="loop Your review text"/>
          <p:cNvSpPr txBox="1"/>
          <p:nvPr/>
        </p:nvSpPr>
        <p:spPr>
          <a:xfrm>
            <a:off x="3060131" y="2560320"/>
            <a:ext cx="1505651" cy="960120"/>
          </a:xfrm>
          <a:prstGeom prst="rect">
            <a:avLst/>
          </a:prstGeom>
          <a:noFill/>
          <a:ln/>
        </p:spPr>
        <p:txBody>
          <a:bodyPr wrap="square" lIns="0" tIns="0" rIns="0" bIns="0" rtlCol="0" anchor="t"/>
          <a:lstStyle/>
          <a:p>
            <a:pPr indent="0" marL="0">
              <a:buNone/>
            </a:pPr>
            <a:r>
              <a:rPr lang="en-US" sz="1300" dirty="0">
                <a:solidFill>
                  <a:schemeClr val="bg2"/>
                </a:solidFill>
              </a:rPr>
              <a:t>Keep / Undo in the editor, then keep, revise or discard</a:t>
            </a:r>
            <a:endParaRPr lang="en-US" sz="1300" dirty="0"/>
          </a:p>
        </p:txBody>
      </p:sp>
      <p:sp>
        <p:nvSpPr>
          <p:cNvPr id="12" name="loop arrow 2"/>
          <p:cNvSpPr/>
          <p:nvPr/>
        </p:nvSpPr>
        <p:spPr>
          <a:xfrm>
            <a:off x="4840102" y="2514600"/>
            <a:ext cx="228600" cy="274320"/>
          </a:xfrm>
          <a:prstGeom prst="rightArrow">
            <a:avLst/>
          </a:prstGeom>
          <a:solidFill>
            <a:schemeClr val="accent3"/>
          </a:solidFill>
          <a:ln w="12700">
            <a:solidFill>
              <a:schemeClr val="accent3"/>
            </a:solidFill>
            <a:prstDash val="solid"/>
          </a:ln>
        </p:spPr>
      </p:sp>
      <p:sp>
        <p:nvSpPr>
          <p:cNvPr id="13" name="loop Checks"/>
          <p:cNvSpPr/>
          <p:nvPr/>
        </p:nvSpPr>
        <p:spPr>
          <a:xfrm>
            <a:off x="5114422" y="1645920"/>
            <a:ext cx="1962851" cy="2011680"/>
          </a:xfrm>
          <a:prstGeom prst="roundRect">
            <a:avLst>
              <a:gd name="adj" fmla="val 3727"/>
            </a:avLst>
          </a:prstGeom>
          <a:solidFill>
            <a:schemeClr val="bg2"/>
          </a:solidFill>
          <a:ln w="12700">
            <a:solidFill>
              <a:schemeClr val="bg2"/>
            </a:solidFill>
            <a:prstDash val="solid"/>
          </a:ln>
        </p:spPr>
      </p:sp>
      <p:sp>
        <p:nvSpPr>
          <p:cNvPr id="14" name="loop Checks number"/>
          <p:cNvSpPr txBox="1"/>
          <p:nvPr/>
        </p:nvSpPr>
        <p:spPr>
          <a:xfrm>
            <a:off x="5343022" y="1874520"/>
            <a:ext cx="502920" cy="50292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tx2"/>
                </a:solidFill>
              </a:rPr>
              <a:t>3</a:t>
            </a:r>
            <a:endParaRPr lang="en-US" sz="1500" dirty="0"/>
          </a:p>
        </p:txBody>
      </p:sp>
      <p:sp>
        <p:nvSpPr>
          <p:cNvPr id="15" name="loop Checks name"/>
          <p:cNvSpPr txBox="1"/>
          <p:nvPr/>
        </p:nvSpPr>
        <p:spPr>
          <a:xfrm>
            <a:off x="5983102" y="1874520"/>
            <a:ext cx="957011" cy="502920"/>
          </a:xfrm>
          <a:prstGeom prst="rect">
            <a:avLst/>
          </a:prstGeom>
          <a:noFill/>
          <a:ln/>
        </p:spPr>
        <p:txBody>
          <a:bodyPr wrap="square" lIns="0" tIns="0" rIns="0" bIns="0" rtlCol="0" anchor="ctr"/>
          <a:lstStyle/>
          <a:p>
            <a:pPr indent="0" marL="0">
              <a:buNone/>
            </a:pPr>
            <a:r>
              <a:rPr lang="en-US" sz="1700" b="1" dirty="0">
                <a:solidFill>
                  <a:schemeClr val="tx2"/>
                </a:solidFill>
              </a:rPr>
              <a:t>Checks</a:t>
            </a:r>
            <a:endParaRPr lang="en-US" sz="1700" dirty="0"/>
          </a:p>
        </p:txBody>
      </p:sp>
      <p:sp>
        <p:nvSpPr>
          <p:cNvPr id="16" name="loop Checks text"/>
          <p:cNvSpPr txBox="1"/>
          <p:nvPr/>
        </p:nvSpPr>
        <p:spPr>
          <a:xfrm>
            <a:off x="5343022" y="2560320"/>
            <a:ext cx="1505651" cy="960120"/>
          </a:xfrm>
          <a:prstGeom prst="rect">
            <a:avLst/>
          </a:prstGeom>
          <a:noFill/>
          <a:ln/>
        </p:spPr>
        <p:txBody>
          <a:bodyPr wrap="square" lIns="0" tIns="0" rIns="0" bIns="0" rtlCol="0" anchor="t"/>
          <a:lstStyle/>
          <a:p>
            <a:pPr indent="0" marL="0">
              <a:buNone/>
            </a:pPr>
            <a:r>
              <a:rPr lang="en-US" sz="1300" dirty="0">
                <a:solidFill>
                  <a:schemeClr val="tx1"/>
                </a:solidFill>
              </a:rPr>
              <a:t>Build, tests, coverage, headings, BFSI grep rules</a:t>
            </a:r>
            <a:endParaRPr lang="en-US" sz="1300" dirty="0"/>
          </a:p>
        </p:txBody>
      </p:sp>
      <p:sp>
        <p:nvSpPr>
          <p:cNvPr id="17" name="loop arrow 3"/>
          <p:cNvSpPr/>
          <p:nvPr/>
        </p:nvSpPr>
        <p:spPr>
          <a:xfrm>
            <a:off x="7122993" y="2514600"/>
            <a:ext cx="228600" cy="274320"/>
          </a:xfrm>
          <a:prstGeom prst="rightArrow">
            <a:avLst/>
          </a:prstGeom>
          <a:solidFill>
            <a:schemeClr val="accent3"/>
          </a:solidFill>
          <a:ln w="12700">
            <a:solidFill>
              <a:schemeClr val="accent3"/>
            </a:solidFill>
            <a:prstDash val="solid"/>
          </a:ln>
        </p:spPr>
      </p:sp>
      <p:sp>
        <p:nvSpPr>
          <p:cNvPr id="18" name="loop Critic"/>
          <p:cNvSpPr/>
          <p:nvPr/>
        </p:nvSpPr>
        <p:spPr>
          <a:xfrm>
            <a:off x="7397313" y="1645920"/>
            <a:ext cx="1962851" cy="2011680"/>
          </a:xfrm>
          <a:prstGeom prst="roundRect">
            <a:avLst>
              <a:gd name="adj" fmla="val 3727"/>
            </a:avLst>
          </a:prstGeom>
          <a:solidFill>
            <a:schemeClr val="bg2"/>
          </a:solidFill>
          <a:ln w="12700">
            <a:solidFill>
              <a:schemeClr val="bg2"/>
            </a:solidFill>
            <a:prstDash val="solid"/>
          </a:ln>
        </p:spPr>
      </p:sp>
      <p:sp>
        <p:nvSpPr>
          <p:cNvPr id="19" name="loop Critic number"/>
          <p:cNvSpPr txBox="1"/>
          <p:nvPr/>
        </p:nvSpPr>
        <p:spPr>
          <a:xfrm>
            <a:off x="7625913" y="1874520"/>
            <a:ext cx="502920" cy="50292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tx2"/>
                </a:solidFill>
              </a:rPr>
              <a:t>4</a:t>
            </a:r>
            <a:endParaRPr lang="en-US" sz="1500" dirty="0"/>
          </a:p>
        </p:txBody>
      </p:sp>
      <p:sp>
        <p:nvSpPr>
          <p:cNvPr id="20" name="loop Critic name"/>
          <p:cNvSpPr txBox="1"/>
          <p:nvPr/>
        </p:nvSpPr>
        <p:spPr>
          <a:xfrm>
            <a:off x="8265993" y="1874520"/>
            <a:ext cx="957011" cy="502920"/>
          </a:xfrm>
          <a:prstGeom prst="rect">
            <a:avLst/>
          </a:prstGeom>
          <a:noFill/>
          <a:ln/>
        </p:spPr>
        <p:txBody>
          <a:bodyPr wrap="square" lIns="0" tIns="0" rIns="0" bIns="0" rtlCol="0" anchor="ctr"/>
          <a:lstStyle/>
          <a:p>
            <a:pPr indent="0" marL="0">
              <a:buNone/>
            </a:pPr>
            <a:r>
              <a:rPr lang="en-US" sz="1700" b="1" dirty="0">
                <a:solidFill>
                  <a:schemeClr val="tx2"/>
                </a:solidFill>
              </a:rPr>
              <a:t>Critic</a:t>
            </a:r>
            <a:endParaRPr lang="en-US" sz="1700" dirty="0"/>
          </a:p>
        </p:txBody>
      </p:sp>
      <p:sp>
        <p:nvSpPr>
          <p:cNvPr id="21" name="loop Critic text"/>
          <p:cNvSpPr txBox="1"/>
          <p:nvPr/>
        </p:nvSpPr>
        <p:spPr>
          <a:xfrm>
            <a:off x="7625913" y="2560320"/>
            <a:ext cx="1505651" cy="960120"/>
          </a:xfrm>
          <a:prstGeom prst="rect">
            <a:avLst/>
          </a:prstGeom>
          <a:noFill/>
          <a:ln/>
        </p:spPr>
        <p:txBody>
          <a:bodyPr wrap="square" lIns="0" tIns="0" rIns="0" bIns="0" rtlCol="0" anchor="t"/>
          <a:lstStyle/>
          <a:p>
            <a:pPr indent="0" marL="0">
              <a:buNone/>
            </a:pPr>
            <a:r>
              <a:rPr lang="en-US" sz="1300" dirty="0">
                <a:solidFill>
                  <a:schemeClr val="tx1"/>
                </a:solidFill>
              </a:rPr>
              <a:t>Independent read-only judge applies the rubric</a:t>
            </a:r>
            <a:endParaRPr lang="en-US" sz="1300" dirty="0"/>
          </a:p>
        </p:txBody>
      </p:sp>
      <p:sp>
        <p:nvSpPr>
          <p:cNvPr id="22" name="loop arrow 4"/>
          <p:cNvSpPr/>
          <p:nvPr/>
        </p:nvSpPr>
        <p:spPr>
          <a:xfrm>
            <a:off x="9405884" y="2514600"/>
            <a:ext cx="228600" cy="274320"/>
          </a:xfrm>
          <a:prstGeom prst="rightArrow">
            <a:avLst/>
          </a:prstGeom>
          <a:solidFill>
            <a:schemeClr val="accent3"/>
          </a:solidFill>
          <a:ln w="12700">
            <a:solidFill>
              <a:schemeClr val="accent3"/>
            </a:solidFill>
            <a:prstDash val="solid"/>
          </a:ln>
        </p:spPr>
      </p:sp>
      <p:sp>
        <p:nvSpPr>
          <p:cNvPr id="23" name="loop Decision"/>
          <p:cNvSpPr/>
          <p:nvPr/>
        </p:nvSpPr>
        <p:spPr>
          <a:xfrm>
            <a:off x="9680204" y="1645920"/>
            <a:ext cx="1962851" cy="2011680"/>
          </a:xfrm>
          <a:prstGeom prst="roundRect">
            <a:avLst>
              <a:gd name="adj" fmla="val 3727"/>
            </a:avLst>
          </a:prstGeom>
          <a:solidFill>
            <a:schemeClr val="tx2"/>
          </a:solidFill>
          <a:ln w="12700">
            <a:solidFill>
              <a:schemeClr val="tx2"/>
            </a:solidFill>
            <a:prstDash val="solid"/>
          </a:ln>
        </p:spPr>
      </p:sp>
      <p:sp>
        <p:nvSpPr>
          <p:cNvPr id="24" name="loop Decision number"/>
          <p:cNvSpPr txBox="1"/>
          <p:nvPr/>
        </p:nvSpPr>
        <p:spPr>
          <a:xfrm>
            <a:off x="9908804" y="1874520"/>
            <a:ext cx="502920" cy="50292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tx2"/>
                </a:solidFill>
              </a:rPr>
              <a:t>5</a:t>
            </a:r>
            <a:endParaRPr lang="en-US" sz="1500" dirty="0"/>
          </a:p>
        </p:txBody>
      </p:sp>
      <p:sp>
        <p:nvSpPr>
          <p:cNvPr id="25" name="loop Decision name"/>
          <p:cNvSpPr txBox="1"/>
          <p:nvPr/>
        </p:nvSpPr>
        <p:spPr>
          <a:xfrm>
            <a:off x="10548884" y="1874520"/>
            <a:ext cx="957011" cy="502920"/>
          </a:xfrm>
          <a:prstGeom prst="rect">
            <a:avLst/>
          </a:prstGeom>
          <a:noFill/>
          <a:ln/>
        </p:spPr>
        <p:txBody>
          <a:bodyPr wrap="square" lIns="0" tIns="0" rIns="0" bIns="0" rtlCol="0" anchor="ctr"/>
          <a:lstStyle/>
          <a:p>
            <a:pPr indent="0" marL="0">
              <a:buNone/>
            </a:pPr>
            <a:r>
              <a:rPr lang="en-US" sz="1700" b="1" dirty="0">
                <a:solidFill>
                  <a:schemeClr val="bg1"/>
                </a:solidFill>
              </a:rPr>
              <a:t>Decision</a:t>
            </a:r>
            <a:endParaRPr lang="en-US" sz="1700" dirty="0"/>
          </a:p>
        </p:txBody>
      </p:sp>
      <p:sp>
        <p:nvSpPr>
          <p:cNvPr id="26" name="loop Decision text"/>
          <p:cNvSpPr txBox="1"/>
          <p:nvPr/>
        </p:nvSpPr>
        <p:spPr>
          <a:xfrm>
            <a:off x="9908804" y="2560320"/>
            <a:ext cx="1505651" cy="960120"/>
          </a:xfrm>
          <a:prstGeom prst="rect">
            <a:avLst/>
          </a:prstGeom>
          <a:noFill/>
          <a:ln/>
        </p:spPr>
        <p:txBody>
          <a:bodyPr wrap="square" lIns="0" tIns="0" rIns="0" bIns="0" rtlCol="0" anchor="t"/>
          <a:lstStyle/>
          <a:p>
            <a:pPr indent="0" marL="0">
              <a:buNone/>
            </a:pPr>
            <a:r>
              <a:rPr lang="en-US" sz="1300" dirty="0">
                <a:solidFill>
                  <a:schemeClr val="bg2"/>
                </a:solidFill>
              </a:rPr>
              <a:t>Next agent, continue loop, or stop</a:t>
            </a:r>
            <a:endParaRPr lang="en-US" sz="1300" dirty="0"/>
          </a:p>
        </p:txBody>
      </p:sp>
      <p:sp>
        <p:nvSpPr>
          <p:cNvPr id="27" name="ask mode card"/>
          <p:cNvSpPr/>
          <p:nvPr/>
        </p:nvSpPr>
        <p:spPr>
          <a:xfrm>
            <a:off x="548640" y="4069080"/>
            <a:ext cx="5387188" cy="1737360"/>
          </a:xfrm>
          <a:prstGeom prst="roundRect">
            <a:avLst>
              <a:gd name="adj" fmla="val 4211"/>
            </a:avLst>
          </a:prstGeom>
          <a:solidFill>
            <a:schemeClr val="bg2"/>
          </a:solidFill>
          <a:ln w="12700">
            <a:solidFill>
              <a:schemeClr val="bg2"/>
            </a:solidFill>
            <a:prstDash val="solid"/>
          </a:ln>
        </p:spPr>
      </p:sp>
      <p:sp>
        <p:nvSpPr>
          <p:cNvPr id="28" name="ask mode title"/>
          <p:cNvSpPr txBox="1"/>
          <p:nvPr/>
        </p:nvSpPr>
        <p:spPr>
          <a:xfrm>
            <a:off x="777240" y="4233672"/>
            <a:ext cx="4929988" cy="411480"/>
          </a:xfrm>
          <a:prstGeom prst="rect">
            <a:avLst/>
          </a:prstGeom>
          <a:noFill/>
          <a:ln/>
        </p:spPr>
        <p:txBody>
          <a:bodyPr wrap="square" lIns="0" tIns="0" rIns="0" bIns="0" rtlCol="0" anchor="t"/>
          <a:lstStyle/>
          <a:p>
            <a:pPr indent="0" marL="0">
              <a:buNone/>
            </a:pPr>
            <a:r>
              <a:rPr lang="en-US" sz="1700" b="1" dirty="0">
                <a:solidFill>
                  <a:schemeClr val="tx2"/>
                </a:solidFill>
              </a:rPr>
              <a:t>auto_loop: false  (default)</a:t>
            </a:r>
            <a:endParaRPr lang="en-US" sz="1700" dirty="0"/>
          </a:p>
        </p:txBody>
      </p:sp>
      <p:sp>
        <p:nvSpPr>
          <p:cNvPr id="29" name="ask mode body"/>
          <p:cNvSpPr txBox="1"/>
          <p:nvPr/>
        </p:nvSpPr>
        <p:spPr>
          <a:xfrm>
            <a:off x="777240" y="4690872"/>
            <a:ext cx="4929988" cy="9601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After every check round the agent asks: 1 next agent · 2 continue loop · 3 stop. You decide each time.</a:t>
            </a:r>
            <a:endParaRPr lang="en-US" sz="1400" dirty="0"/>
          </a:p>
        </p:txBody>
      </p:sp>
      <p:sp>
        <p:nvSpPr>
          <p:cNvPr id="30" name="auto mode card"/>
          <p:cNvSpPr/>
          <p:nvPr/>
        </p:nvSpPr>
        <p:spPr>
          <a:xfrm>
            <a:off x="6255868" y="4069080"/>
            <a:ext cx="5387188" cy="1737360"/>
          </a:xfrm>
          <a:prstGeom prst="roundRect">
            <a:avLst>
              <a:gd name="adj" fmla="val 4211"/>
            </a:avLst>
          </a:prstGeom>
          <a:solidFill>
            <a:schemeClr val="bg2"/>
          </a:solidFill>
          <a:ln w="12700">
            <a:solidFill>
              <a:schemeClr val="bg2"/>
            </a:solidFill>
            <a:prstDash val="solid"/>
          </a:ln>
        </p:spPr>
      </p:sp>
      <p:sp>
        <p:nvSpPr>
          <p:cNvPr id="31" name="auto mode title"/>
          <p:cNvSpPr txBox="1"/>
          <p:nvPr/>
        </p:nvSpPr>
        <p:spPr>
          <a:xfrm>
            <a:off x="6484468" y="4233672"/>
            <a:ext cx="4929988" cy="411480"/>
          </a:xfrm>
          <a:prstGeom prst="rect">
            <a:avLst/>
          </a:prstGeom>
          <a:noFill/>
          <a:ln/>
        </p:spPr>
        <p:txBody>
          <a:bodyPr wrap="square" lIns="0" tIns="0" rIns="0" bIns="0" rtlCol="0" anchor="t"/>
          <a:lstStyle/>
          <a:p>
            <a:pPr indent="0" marL="0">
              <a:buNone/>
            </a:pPr>
            <a:r>
              <a:rPr lang="en-US" sz="1700" b="1" dirty="0">
                <a:solidFill>
                  <a:schemeClr val="tx2"/>
                </a:solidFill>
              </a:rPr>
              <a:t>auto_loop: true</a:t>
            </a:r>
            <a:endParaRPr lang="en-US" sz="1700" dirty="0"/>
          </a:p>
        </p:txBody>
      </p:sp>
      <p:sp>
        <p:nvSpPr>
          <p:cNvPr id="32" name="auto mode body"/>
          <p:cNvSpPr txBox="1"/>
          <p:nvPr/>
        </p:nvSpPr>
        <p:spPr>
          <a:xfrm>
            <a:off x="6484468" y="4690872"/>
            <a:ext cx="4929988" cy="9601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The agent fixes findings and re-checks on its own, up to max_attempts, then offers the next agent. Change reviews and approvals still apply.</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2"/>
                </a:solidFill>
              </a:rPr>
              <a:t>You stay in control at three points</a:t>
            </a:r>
            <a:endParaRPr lang="en-US" sz="3200" dirty="0"/>
          </a:p>
        </p:txBody>
      </p:sp>
      <p:sp>
        <p:nvSpPr>
          <p:cNvPr id="3" name="control 1"/>
          <p:cNvSpPr/>
          <p:nvPr/>
        </p:nvSpPr>
        <p:spPr>
          <a:xfrm>
            <a:off x="548640" y="1554480"/>
            <a:ext cx="3484778" cy="4206240"/>
          </a:xfrm>
          <a:prstGeom prst="roundRect">
            <a:avLst>
              <a:gd name="adj" fmla="val 2099"/>
            </a:avLst>
          </a:prstGeom>
          <a:solidFill>
            <a:schemeClr val="bg2"/>
          </a:solidFill>
          <a:ln w="12700">
            <a:solidFill>
              <a:schemeClr val="bg2"/>
            </a:solidFill>
            <a:prstDash val="solid"/>
          </a:ln>
        </p:spPr>
      </p:sp>
      <p:sp>
        <p:nvSpPr>
          <p:cNvPr id="4" name="control 1 number"/>
          <p:cNvSpPr txBox="1"/>
          <p:nvPr/>
        </p:nvSpPr>
        <p:spPr>
          <a:xfrm>
            <a:off x="822960" y="1828800"/>
            <a:ext cx="640080" cy="640080"/>
          </a:xfrm>
          <a:prstGeom prst="ellipse">
            <a:avLst/>
          </a:prstGeom>
          <a:solidFill>
            <a:schemeClr val="tx2"/>
          </a:solidFill>
          <a:ln/>
        </p:spPr>
        <p:txBody>
          <a:bodyPr wrap="square" lIns="0" tIns="0" rIns="0" bIns="0" rtlCol="0" anchor="ctr"/>
          <a:lstStyle/>
          <a:p>
            <a:pPr algn="ctr" indent="0" marL="0">
              <a:buNone/>
            </a:pPr>
            <a:r>
              <a:rPr lang="en-US" sz="2000" b="1" dirty="0">
                <a:solidFill>
                  <a:schemeClr val="accent1"/>
                </a:solidFill>
              </a:rPr>
              <a:t>1</a:t>
            </a:r>
            <a:endParaRPr lang="en-US" sz="2000" dirty="0"/>
          </a:p>
        </p:txBody>
      </p:sp>
      <p:sp>
        <p:nvSpPr>
          <p:cNvPr id="5" name="control 1 title"/>
          <p:cNvSpPr txBox="1"/>
          <p:nvPr/>
        </p:nvSpPr>
        <p:spPr>
          <a:xfrm>
            <a:off x="1600200" y="1828800"/>
            <a:ext cx="2250338" cy="640080"/>
          </a:xfrm>
          <a:prstGeom prst="rect">
            <a:avLst/>
          </a:prstGeom>
          <a:noFill/>
          <a:ln/>
        </p:spPr>
        <p:txBody>
          <a:bodyPr wrap="square" lIns="0" tIns="0" rIns="0" bIns="0" rtlCol="0" anchor="ctr"/>
          <a:lstStyle/>
          <a:p>
            <a:pPr indent="0" marL="0">
              <a:buNone/>
            </a:pPr>
            <a:r>
              <a:rPr lang="en-US" sz="1900" b="1" dirty="0">
                <a:solidFill>
                  <a:schemeClr val="tx2"/>
                </a:solidFill>
              </a:rPr>
              <a:t>Review every change</a:t>
            </a:r>
            <a:endParaRPr lang="en-US" sz="1900" dirty="0"/>
          </a:p>
        </p:txBody>
      </p:sp>
      <p:sp>
        <p:nvSpPr>
          <p:cNvPr id="6" name="control 1 text"/>
          <p:cNvSpPr txBox="1"/>
          <p:nvPr/>
        </p:nvSpPr>
        <p:spPr>
          <a:xfrm>
            <a:off x="822960" y="2651760"/>
            <a:ext cx="2936138" cy="914400"/>
          </a:xfrm>
          <a:prstGeom prst="rect">
            <a:avLst/>
          </a:prstGeom>
          <a:noFill/>
          <a:ln/>
        </p:spPr>
        <p:txBody>
          <a:bodyPr wrap="square" lIns="0" tIns="0" rIns="0" bIns="0" rtlCol="0" anchor="t"/>
          <a:lstStyle/>
          <a:p>
            <a:pPr indent="0" marL="0">
              <a:buNone/>
            </a:pPr>
            <a:r>
              <a:rPr lang="en-US" sz="1400" dirty="0">
                <a:solidFill>
                  <a:schemeClr val="tx1"/>
                </a:solidFill>
              </a:rPr>
              <a:t>After each step the agent stops and lists the files it changed.</a:t>
            </a:r>
            <a:endParaRPr lang="en-US" sz="1400" dirty="0"/>
          </a:p>
        </p:txBody>
      </p:sp>
      <p:sp>
        <p:nvSpPr>
          <p:cNvPr id="7" name="control 1 list"/>
          <p:cNvSpPr txBox="1"/>
          <p:nvPr/>
        </p:nvSpPr>
        <p:spPr>
          <a:xfrm>
            <a:off x="822960" y="3657600"/>
            <a:ext cx="2936138" cy="19202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keep — accept and continue</a:t>
            </a:r>
            <a:endParaRPr lang="en-US" sz="1400" dirty="0"/>
          </a:p>
          <a:p>
            <a:pPr marL="342900" indent="-342900">
              <a:spcAft>
                <a:spcPts val="600"/>
              </a:spcAft>
              <a:buSzPct val="100000"/>
              <a:buChar char="•"/>
            </a:pPr>
            <a:r>
              <a:rPr lang="en-US" sz="1400" dirty="0">
                <a:solidFill>
                  <a:schemeClr val="tx1"/>
                </a:solidFill>
              </a:rPr>
              <a:t>revise: &lt;notes&gt; — rework and ask again</a:t>
            </a:r>
            <a:endParaRPr lang="en-US" sz="1400" dirty="0"/>
          </a:p>
          <a:p>
            <a:pPr marL="342900" indent="-342900">
              <a:spcAft>
                <a:spcPts val="600"/>
              </a:spcAft>
              <a:buSzPct val="100000"/>
              <a:buChar char="•"/>
            </a:pPr>
            <a:r>
              <a:rPr lang="en-US" sz="1400" dirty="0">
                <a:solidFill>
                  <a:schemeClr val="tx1"/>
                </a:solidFill>
              </a:rPr>
              <a:t>discard — restore the files</a:t>
            </a:r>
            <a:endParaRPr lang="en-US" sz="1400" dirty="0"/>
          </a:p>
        </p:txBody>
      </p:sp>
      <p:sp>
        <p:nvSpPr>
          <p:cNvPr id="8" name="control 2"/>
          <p:cNvSpPr/>
          <p:nvPr/>
        </p:nvSpPr>
        <p:spPr>
          <a:xfrm>
            <a:off x="4353458" y="1554480"/>
            <a:ext cx="3484778" cy="4206240"/>
          </a:xfrm>
          <a:prstGeom prst="roundRect">
            <a:avLst>
              <a:gd name="adj" fmla="val 2099"/>
            </a:avLst>
          </a:prstGeom>
          <a:solidFill>
            <a:schemeClr val="bg2"/>
          </a:solidFill>
          <a:ln w="12700">
            <a:solidFill>
              <a:schemeClr val="bg2"/>
            </a:solidFill>
            <a:prstDash val="solid"/>
          </a:ln>
        </p:spPr>
      </p:sp>
      <p:sp>
        <p:nvSpPr>
          <p:cNvPr id="9" name="control 2 number"/>
          <p:cNvSpPr txBox="1"/>
          <p:nvPr/>
        </p:nvSpPr>
        <p:spPr>
          <a:xfrm>
            <a:off x="4627778" y="1828800"/>
            <a:ext cx="640080" cy="640080"/>
          </a:xfrm>
          <a:prstGeom prst="ellipse">
            <a:avLst/>
          </a:prstGeom>
          <a:solidFill>
            <a:schemeClr val="tx2"/>
          </a:solidFill>
          <a:ln/>
        </p:spPr>
        <p:txBody>
          <a:bodyPr wrap="square" lIns="0" tIns="0" rIns="0" bIns="0" rtlCol="0" anchor="ctr"/>
          <a:lstStyle/>
          <a:p>
            <a:pPr algn="ctr" indent="0" marL="0">
              <a:buNone/>
            </a:pPr>
            <a:r>
              <a:rPr lang="en-US" sz="2000" b="1" dirty="0">
                <a:solidFill>
                  <a:schemeClr val="accent1"/>
                </a:solidFill>
              </a:rPr>
              <a:t>2</a:t>
            </a:r>
            <a:endParaRPr lang="en-US" sz="2000" dirty="0"/>
          </a:p>
        </p:txBody>
      </p:sp>
      <p:sp>
        <p:nvSpPr>
          <p:cNvPr id="10" name="control 2 title"/>
          <p:cNvSpPr txBox="1"/>
          <p:nvPr/>
        </p:nvSpPr>
        <p:spPr>
          <a:xfrm>
            <a:off x="5405018" y="1828800"/>
            <a:ext cx="2250338" cy="640080"/>
          </a:xfrm>
          <a:prstGeom prst="rect">
            <a:avLst/>
          </a:prstGeom>
          <a:noFill/>
          <a:ln/>
        </p:spPr>
        <p:txBody>
          <a:bodyPr wrap="square" lIns="0" tIns="0" rIns="0" bIns="0" rtlCol="0" anchor="ctr"/>
          <a:lstStyle/>
          <a:p>
            <a:pPr indent="0" marL="0">
              <a:buNone/>
            </a:pPr>
            <a:r>
              <a:rPr lang="en-US" sz="1900" b="1" dirty="0">
                <a:solidFill>
                  <a:schemeClr val="tx2"/>
                </a:solidFill>
              </a:rPr>
              <a:t>Decide the loop</a:t>
            </a:r>
            <a:endParaRPr lang="en-US" sz="1900" dirty="0"/>
          </a:p>
        </p:txBody>
      </p:sp>
      <p:sp>
        <p:nvSpPr>
          <p:cNvPr id="11" name="control 2 text"/>
          <p:cNvSpPr txBox="1"/>
          <p:nvPr/>
        </p:nvSpPr>
        <p:spPr>
          <a:xfrm>
            <a:off x="4627778" y="2651760"/>
            <a:ext cx="2936138" cy="914400"/>
          </a:xfrm>
          <a:prstGeom prst="rect">
            <a:avLst/>
          </a:prstGeom>
          <a:noFill/>
          <a:ln/>
        </p:spPr>
        <p:txBody>
          <a:bodyPr wrap="square" lIns="0" tIns="0" rIns="0" bIns="0" rtlCol="0" anchor="t"/>
          <a:lstStyle/>
          <a:p>
            <a:pPr indent="0" marL="0">
              <a:buNone/>
            </a:pPr>
            <a:r>
              <a:rPr lang="en-US" sz="1400" dirty="0">
                <a:solidFill>
                  <a:schemeClr val="tx1"/>
                </a:solidFill>
              </a:rPr>
              <a:t>After checks and the critic, the agent asks what next (unless auto_loop is on).</a:t>
            </a:r>
            <a:endParaRPr lang="en-US" sz="1400" dirty="0"/>
          </a:p>
        </p:txBody>
      </p:sp>
      <p:sp>
        <p:nvSpPr>
          <p:cNvPr id="12" name="control 2 list"/>
          <p:cNvSpPr txBox="1"/>
          <p:nvPr/>
        </p:nvSpPr>
        <p:spPr>
          <a:xfrm>
            <a:off x="4627778" y="3657600"/>
            <a:ext cx="2936138" cy="19202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1 — next agent (open items recorded)</a:t>
            </a:r>
            <a:endParaRPr lang="en-US" sz="1400" dirty="0"/>
          </a:p>
          <a:p>
            <a:pPr marL="342900" indent="-342900">
              <a:spcAft>
                <a:spcPts val="600"/>
              </a:spcAft>
              <a:buSzPct val="100000"/>
              <a:buChar char="•"/>
            </a:pPr>
            <a:r>
              <a:rPr lang="en-US" sz="1400" dirty="0">
                <a:solidFill>
                  <a:schemeClr val="tx1"/>
                </a:solidFill>
              </a:rPr>
              <a:t>2 — continue loop and fix findings</a:t>
            </a:r>
            <a:endParaRPr lang="en-US" sz="1400" dirty="0"/>
          </a:p>
          <a:p>
            <a:pPr marL="342900" indent="-342900">
              <a:spcAft>
                <a:spcPts val="600"/>
              </a:spcAft>
              <a:buSzPct val="100000"/>
              <a:buChar char="•"/>
            </a:pPr>
            <a:r>
              <a:rPr lang="en-US" sz="1400" dirty="0">
                <a:solidFill>
                  <a:schemeClr val="tx1"/>
                </a:solidFill>
              </a:rPr>
              <a:t>3 — stop</a:t>
            </a:r>
            <a:endParaRPr lang="en-US" sz="1400" dirty="0"/>
          </a:p>
        </p:txBody>
      </p:sp>
      <p:sp>
        <p:nvSpPr>
          <p:cNvPr id="13" name="control 3"/>
          <p:cNvSpPr/>
          <p:nvPr/>
        </p:nvSpPr>
        <p:spPr>
          <a:xfrm>
            <a:off x="8158277" y="1554480"/>
            <a:ext cx="3484778" cy="4206240"/>
          </a:xfrm>
          <a:prstGeom prst="roundRect">
            <a:avLst>
              <a:gd name="adj" fmla="val 2099"/>
            </a:avLst>
          </a:prstGeom>
          <a:solidFill>
            <a:schemeClr val="bg2"/>
          </a:solidFill>
          <a:ln w="12700">
            <a:solidFill>
              <a:schemeClr val="bg2"/>
            </a:solidFill>
            <a:prstDash val="solid"/>
          </a:ln>
        </p:spPr>
      </p:sp>
      <p:sp>
        <p:nvSpPr>
          <p:cNvPr id="14" name="control 3 number"/>
          <p:cNvSpPr txBox="1"/>
          <p:nvPr/>
        </p:nvSpPr>
        <p:spPr>
          <a:xfrm>
            <a:off x="8432597" y="1828800"/>
            <a:ext cx="640080" cy="640080"/>
          </a:xfrm>
          <a:prstGeom prst="ellipse">
            <a:avLst/>
          </a:prstGeom>
          <a:solidFill>
            <a:schemeClr val="tx2"/>
          </a:solidFill>
          <a:ln/>
        </p:spPr>
        <p:txBody>
          <a:bodyPr wrap="square" lIns="0" tIns="0" rIns="0" bIns="0" rtlCol="0" anchor="ctr"/>
          <a:lstStyle/>
          <a:p>
            <a:pPr algn="ctr" indent="0" marL="0">
              <a:buNone/>
            </a:pPr>
            <a:r>
              <a:rPr lang="en-US" sz="2000" b="1" dirty="0">
                <a:solidFill>
                  <a:schemeClr val="accent1"/>
                </a:solidFill>
              </a:rPr>
              <a:t>3</a:t>
            </a:r>
            <a:endParaRPr lang="en-US" sz="2000" dirty="0"/>
          </a:p>
        </p:txBody>
      </p:sp>
      <p:sp>
        <p:nvSpPr>
          <p:cNvPr id="15" name="control 3 title"/>
          <p:cNvSpPr txBox="1"/>
          <p:nvPr/>
        </p:nvSpPr>
        <p:spPr>
          <a:xfrm>
            <a:off x="9209837" y="1828800"/>
            <a:ext cx="2250338" cy="640080"/>
          </a:xfrm>
          <a:prstGeom prst="rect">
            <a:avLst/>
          </a:prstGeom>
          <a:noFill/>
          <a:ln/>
        </p:spPr>
        <p:txBody>
          <a:bodyPr wrap="square" lIns="0" tIns="0" rIns="0" bIns="0" rtlCol="0" anchor="ctr"/>
          <a:lstStyle/>
          <a:p>
            <a:pPr indent="0" marL="0">
              <a:buNone/>
            </a:pPr>
            <a:r>
              <a:rPr lang="en-US" sz="1900" b="1" dirty="0">
                <a:solidFill>
                  <a:schemeClr val="tx2"/>
                </a:solidFill>
              </a:rPr>
              <a:t>Approve external writes</a:t>
            </a:r>
            <a:endParaRPr lang="en-US" sz="1900" dirty="0"/>
          </a:p>
        </p:txBody>
      </p:sp>
      <p:sp>
        <p:nvSpPr>
          <p:cNvPr id="16" name="control 3 text"/>
          <p:cNvSpPr txBox="1"/>
          <p:nvPr/>
        </p:nvSpPr>
        <p:spPr>
          <a:xfrm>
            <a:off x="8432597" y="2651760"/>
            <a:ext cx="2936138" cy="914400"/>
          </a:xfrm>
          <a:prstGeom prst="rect">
            <a:avLst/>
          </a:prstGeom>
          <a:noFill/>
          <a:ln/>
        </p:spPr>
        <p:txBody>
          <a:bodyPr wrap="square" lIns="0" tIns="0" rIns="0" bIns="0" rtlCol="0" anchor="t"/>
          <a:lstStyle/>
          <a:p>
            <a:pPr indent="0" marL="0">
              <a:buNone/>
            </a:pPr>
            <a:r>
              <a:rPr lang="en-US" sz="1400" dirty="0">
                <a:solidFill>
                  <a:schemeClr val="tx1"/>
                </a:solidFill>
              </a:rPr>
              <a:t>Always asked, in every mode. The agent acts only on yes.</a:t>
            </a:r>
            <a:endParaRPr lang="en-US" sz="1400" dirty="0"/>
          </a:p>
        </p:txBody>
      </p:sp>
      <p:sp>
        <p:nvSpPr>
          <p:cNvPr id="17" name="control 3 list"/>
          <p:cNvSpPr txBox="1"/>
          <p:nvPr/>
        </p:nvSpPr>
        <p:spPr>
          <a:xfrm>
            <a:off x="8432597" y="3657600"/>
            <a:ext cx="2936138" cy="19202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git push and gh pr create</a:t>
            </a:r>
            <a:endParaRPr lang="en-US" sz="1400" dirty="0"/>
          </a:p>
          <a:p>
            <a:pPr marL="342900" indent="-342900">
              <a:spcAft>
                <a:spcPts val="600"/>
              </a:spcAft>
              <a:buSzPct val="100000"/>
              <a:buChar char="•"/>
            </a:pPr>
            <a:r>
              <a:rPr lang="en-US" sz="1400" dirty="0">
                <a:solidFill>
                  <a:schemeClr val="tx1"/>
                </a:solidFill>
              </a:rPr>
              <a:t>PR review comments</a:t>
            </a:r>
            <a:endParaRPr lang="en-US" sz="1400" dirty="0"/>
          </a:p>
          <a:p>
            <a:pPr marL="342900" indent="-342900">
              <a:spcAft>
                <a:spcPts val="600"/>
              </a:spcAft>
              <a:buSzPct val="100000"/>
              <a:buChar char="•"/>
            </a:pPr>
            <a:r>
              <a:rPr lang="en-US" sz="1400" dirty="0">
                <a:solidFill>
                  <a:schemeClr val="tx1"/>
                </a:solidFill>
              </a:rPr>
              <a:t>Rulebook edits and optional JIRA writes</a:t>
            </a:r>
            <a:endParaRPr lang="en-US" sz="1400" dirty="0"/>
          </a:p>
        </p:txBody>
      </p:sp>
      <p:sp>
        <p:nvSpPr>
          <p:cNvPr id="18" name="never note"/>
          <p:cNvSpPr txBox="1"/>
          <p:nvPr/>
        </p:nvSpPr>
        <p:spPr>
          <a:xfrm>
            <a:off x="548640" y="5897880"/>
            <a:ext cx="11094415" cy="365760"/>
          </a:xfrm>
          <a:prstGeom prst="rect">
            <a:avLst/>
          </a:prstGeom>
          <a:noFill/>
          <a:ln/>
        </p:spPr>
        <p:txBody>
          <a:bodyPr wrap="square" lIns="0" tIns="0" rIns="0" bIns="0" rtlCol="0" anchor="ctr"/>
          <a:lstStyle/>
          <a:p>
            <a:pPr indent="0" marL="0">
              <a:buNone/>
            </a:pPr>
            <a:r>
              <a:rPr lang="en-US" sz="1300" i="1" dirty="0">
                <a:solidFill>
                  <a:schemeClr val="accent4"/>
                </a:solidFill>
              </a:rPr>
              <a:t>Never done by any agent: push to protected branches, merge, force-push, or edit CI and infrastructure files.</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2"/>
                </a:solidFill>
              </a:rPr>
              <a:t>Write the rulebook before the first line of code</a:t>
            </a:r>
            <a:endParaRPr lang="en-US" sz="3200" dirty="0"/>
          </a:p>
        </p:txBody>
      </p:sp>
      <p:sp>
        <p:nvSpPr>
          <p:cNvPr id="3" name="rulebook 1 card"/>
          <p:cNvSpPr/>
          <p:nvPr/>
        </p:nvSpPr>
        <p:spPr>
          <a:xfrm>
            <a:off x="548640" y="1554480"/>
            <a:ext cx="3515258" cy="1600200"/>
          </a:xfrm>
          <a:prstGeom prst="roundRect">
            <a:avLst>
              <a:gd name="adj" fmla="val 4571"/>
            </a:avLst>
          </a:prstGeom>
          <a:solidFill>
            <a:schemeClr val="bg2"/>
          </a:solidFill>
          <a:ln w="12700">
            <a:solidFill>
              <a:schemeClr val="bg2"/>
            </a:solidFill>
            <a:prstDash val="solid"/>
          </a:ln>
        </p:spPr>
      </p:sp>
      <p:sp>
        <p:nvSpPr>
          <p:cNvPr id="4" name="rulebook 1 title"/>
          <p:cNvSpPr txBox="1"/>
          <p:nvPr/>
        </p:nvSpPr>
        <p:spPr>
          <a:xfrm>
            <a:off x="777240" y="1719072"/>
            <a:ext cx="3058058" cy="411480"/>
          </a:xfrm>
          <a:prstGeom prst="rect">
            <a:avLst/>
          </a:prstGeom>
          <a:noFill/>
          <a:ln/>
        </p:spPr>
        <p:txBody>
          <a:bodyPr wrap="square" lIns="0" tIns="0" rIns="0" bIns="0" rtlCol="0" anchor="t"/>
          <a:lstStyle/>
          <a:p>
            <a:pPr indent="0" marL="0">
              <a:buNone/>
            </a:pPr>
            <a:r>
              <a:rPr lang="en-US" sz="1700" b="1" dirty="0">
                <a:solidFill>
                  <a:schemeClr val="tx2"/>
                </a:solidFill>
              </a:rPr>
              <a:t>Modules</a:t>
            </a:r>
            <a:endParaRPr lang="en-US" sz="1700" dirty="0"/>
          </a:p>
        </p:txBody>
      </p:sp>
      <p:sp>
        <p:nvSpPr>
          <p:cNvPr id="5" name="rulebook 1 body"/>
          <p:cNvSpPr txBox="1"/>
          <p:nvPr/>
        </p:nvSpPr>
        <p:spPr>
          <a:xfrm>
            <a:off x="777240" y="2176272"/>
            <a:ext cx="3058058" cy="82296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What each module owns and must never do; one schema each</a:t>
            </a:r>
            <a:endParaRPr lang="en-US" sz="1400" dirty="0"/>
          </a:p>
        </p:txBody>
      </p:sp>
      <p:sp>
        <p:nvSpPr>
          <p:cNvPr id="6" name="rulebook 2 card"/>
          <p:cNvSpPr/>
          <p:nvPr/>
        </p:nvSpPr>
        <p:spPr>
          <a:xfrm>
            <a:off x="4338218" y="1554480"/>
            <a:ext cx="3515258" cy="1600200"/>
          </a:xfrm>
          <a:prstGeom prst="roundRect">
            <a:avLst>
              <a:gd name="adj" fmla="val 4571"/>
            </a:avLst>
          </a:prstGeom>
          <a:solidFill>
            <a:schemeClr val="bg2"/>
          </a:solidFill>
          <a:ln w="12700">
            <a:solidFill>
              <a:schemeClr val="bg2"/>
            </a:solidFill>
            <a:prstDash val="solid"/>
          </a:ln>
        </p:spPr>
      </p:sp>
      <p:sp>
        <p:nvSpPr>
          <p:cNvPr id="7" name="rulebook 2 title"/>
          <p:cNvSpPr txBox="1"/>
          <p:nvPr/>
        </p:nvSpPr>
        <p:spPr>
          <a:xfrm>
            <a:off x="4566818" y="1719072"/>
            <a:ext cx="3058058" cy="411480"/>
          </a:xfrm>
          <a:prstGeom prst="rect">
            <a:avLst/>
          </a:prstGeom>
          <a:noFill/>
          <a:ln/>
        </p:spPr>
        <p:txBody>
          <a:bodyPr wrap="square" lIns="0" tIns="0" rIns="0" bIns="0" rtlCol="0" anchor="t"/>
          <a:lstStyle/>
          <a:p>
            <a:pPr indent="0" marL="0">
              <a:buNone/>
            </a:pPr>
            <a:r>
              <a:rPr lang="en-US" sz="1700" b="1" dirty="0">
                <a:solidFill>
                  <a:schemeClr val="tx2"/>
                </a:solidFill>
              </a:rPr>
              <a:t>State machines</a:t>
            </a:r>
            <a:endParaRPr lang="en-US" sz="1700" dirty="0"/>
          </a:p>
        </p:txBody>
      </p:sp>
      <p:sp>
        <p:nvSpPr>
          <p:cNvPr id="8" name="rulebook 2 body"/>
          <p:cNvSpPr txBox="1"/>
          <p:nvPr/>
        </p:nvSpPr>
        <p:spPr>
          <a:xfrm>
            <a:off x="4566818" y="2176272"/>
            <a:ext cx="3058058" cy="82296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States, terminal states and every allowed transition</a:t>
            </a:r>
            <a:endParaRPr lang="en-US" sz="1400" dirty="0"/>
          </a:p>
        </p:txBody>
      </p:sp>
      <p:sp>
        <p:nvSpPr>
          <p:cNvPr id="9" name="rulebook 3 card"/>
          <p:cNvSpPr/>
          <p:nvPr/>
        </p:nvSpPr>
        <p:spPr>
          <a:xfrm>
            <a:off x="8127797" y="1554480"/>
            <a:ext cx="3515258" cy="1600200"/>
          </a:xfrm>
          <a:prstGeom prst="roundRect">
            <a:avLst>
              <a:gd name="adj" fmla="val 4571"/>
            </a:avLst>
          </a:prstGeom>
          <a:solidFill>
            <a:schemeClr val="bg2"/>
          </a:solidFill>
          <a:ln w="12700">
            <a:solidFill>
              <a:schemeClr val="bg2"/>
            </a:solidFill>
            <a:prstDash val="solid"/>
          </a:ln>
        </p:spPr>
      </p:sp>
      <p:sp>
        <p:nvSpPr>
          <p:cNvPr id="10" name="rulebook 3 title"/>
          <p:cNvSpPr txBox="1"/>
          <p:nvPr/>
        </p:nvSpPr>
        <p:spPr>
          <a:xfrm>
            <a:off x="8356397" y="1719072"/>
            <a:ext cx="3058058" cy="411480"/>
          </a:xfrm>
          <a:prstGeom prst="rect">
            <a:avLst/>
          </a:prstGeom>
          <a:noFill/>
          <a:ln/>
        </p:spPr>
        <p:txBody>
          <a:bodyPr wrap="square" lIns="0" tIns="0" rIns="0" bIns="0" rtlCol="0" anchor="t"/>
          <a:lstStyle/>
          <a:p>
            <a:pPr indent="0" marL="0">
              <a:buNone/>
            </a:pPr>
            <a:r>
              <a:rPr lang="en-US" sz="1700" b="1" dirty="0">
                <a:solidFill>
                  <a:schemeClr val="tx2"/>
                </a:solidFill>
              </a:rPr>
              <a:t>Domain rules</a:t>
            </a:r>
            <a:endParaRPr lang="en-US" sz="1700" dirty="0"/>
          </a:p>
        </p:txBody>
      </p:sp>
      <p:sp>
        <p:nvSpPr>
          <p:cNvPr id="11" name="rulebook 3 body"/>
          <p:cNvSpPr txBox="1"/>
          <p:nvPr/>
        </p:nvSpPr>
        <p:spPr>
          <a:xfrm>
            <a:off x="8356397" y="2176272"/>
            <a:ext cx="3058058" cy="82296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Precision per currency, rounding, calendars, cut-offs, allocation residual rule</a:t>
            </a:r>
            <a:endParaRPr lang="en-US" sz="1400" dirty="0"/>
          </a:p>
        </p:txBody>
      </p:sp>
      <p:sp>
        <p:nvSpPr>
          <p:cNvPr id="12" name="rulebook 4 card"/>
          <p:cNvSpPr/>
          <p:nvPr/>
        </p:nvSpPr>
        <p:spPr>
          <a:xfrm>
            <a:off x="548640" y="3429000"/>
            <a:ext cx="3515258" cy="1600200"/>
          </a:xfrm>
          <a:prstGeom prst="roundRect">
            <a:avLst>
              <a:gd name="adj" fmla="val 4571"/>
            </a:avLst>
          </a:prstGeom>
          <a:solidFill>
            <a:schemeClr val="bg2"/>
          </a:solidFill>
          <a:ln w="12700">
            <a:solidFill>
              <a:schemeClr val="bg2"/>
            </a:solidFill>
            <a:prstDash val="solid"/>
          </a:ln>
        </p:spPr>
      </p:sp>
      <p:sp>
        <p:nvSpPr>
          <p:cNvPr id="13" name="rulebook 4 title"/>
          <p:cNvSpPr txBox="1"/>
          <p:nvPr/>
        </p:nvSpPr>
        <p:spPr>
          <a:xfrm>
            <a:off x="777240" y="3593592"/>
            <a:ext cx="3058058" cy="411480"/>
          </a:xfrm>
          <a:prstGeom prst="rect">
            <a:avLst/>
          </a:prstGeom>
          <a:noFill/>
          <a:ln/>
        </p:spPr>
        <p:txBody>
          <a:bodyPr wrap="square" lIns="0" tIns="0" rIns="0" bIns="0" rtlCol="0" anchor="t"/>
          <a:lstStyle/>
          <a:p>
            <a:pPr indent="0" marL="0">
              <a:buNone/>
            </a:pPr>
            <a:r>
              <a:rPr lang="en-US" sz="1700" b="1" dirty="0">
                <a:solidFill>
                  <a:schemeClr val="tx2"/>
                </a:solidFill>
              </a:rPr>
              <a:t>Roles and entitlements</a:t>
            </a:r>
            <a:endParaRPr lang="en-US" sz="1700" dirty="0"/>
          </a:p>
        </p:txBody>
      </p:sp>
      <p:sp>
        <p:nvSpPr>
          <p:cNvPr id="14" name="rulebook 4 body"/>
          <p:cNvSpPr txBox="1"/>
          <p:nvPr/>
        </p:nvSpPr>
        <p:spPr>
          <a:xfrm>
            <a:off x="777240" y="4050792"/>
            <a:ext cx="3058058" cy="82296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Who may do what, and per-record ownership</a:t>
            </a:r>
            <a:endParaRPr lang="en-US" sz="1400" dirty="0"/>
          </a:p>
        </p:txBody>
      </p:sp>
      <p:sp>
        <p:nvSpPr>
          <p:cNvPr id="15" name="rulebook 5 card"/>
          <p:cNvSpPr/>
          <p:nvPr/>
        </p:nvSpPr>
        <p:spPr>
          <a:xfrm>
            <a:off x="4338218" y="3429000"/>
            <a:ext cx="3515258" cy="1600200"/>
          </a:xfrm>
          <a:prstGeom prst="roundRect">
            <a:avLst>
              <a:gd name="adj" fmla="val 4571"/>
            </a:avLst>
          </a:prstGeom>
          <a:solidFill>
            <a:schemeClr val="bg2"/>
          </a:solidFill>
          <a:ln w="12700">
            <a:solidFill>
              <a:schemeClr val="bg2"/>
            </a:solidFill>
            <a:prstDash val="solid"/>
          </a:ln>
        </p:spPr>
      </p:sp>
      <p:sp>
        <p:nvSpPr>
          <p:cNvPr id="16" name="rulebook 5 title"/>
          <p:cNvSpPr txBox="1"/>
          <p:nvPr/>
        </p:nvSpPr>
        <p:spPr>
          <a:xfrm>
            <a:off x="4566818" y="3593592"/>
            <a:ext cx="3058058" cy="411480"/>
          </a:xfrm>
          <a:prstGeom prst="rect">
            <a:avLst/>
          </a:prstGeom>
          <a:noFill/>
          <a:ln/>
        </p:spPr>
        <p:txBody>
          <a:bodyPr wrap="square" lIns="0" tIns="0" rIns="0" bIns="0" rtlCol="0" anchor="t"/>
          <a:lstStyle/>
          <a:p>
            <a:pPr indent="0" marL="0">
              <a:buNone/>
            </a:pPr>
            <a:r>
              <a:rPr lang="en-US" sz="1700" b="1" dirty="0">
                <a:solidFill>
                  <a:schemeClr val="tx2"/>
                </a:solidFill>
              </a:rPr>
              <a:t>API standards</a:t>
            </a:r>
            <a:endParaRPr lang="en-US" sz="1700" dirty="0"/>
          </a:p>
        </p:txBody>
      </p:sp>
      <p:sp>
        <p:nvSpPr>
          <p:cNvPr id="17" name="rulebook 5 body"/>
          <p:cNvSpPr txBox="1"/>
          <p:nvPr/>
        </p:nvSpPr>
        <p:spPr>
          <a:xfrm>
            <a:off x="4566818" y="4050792"/>
            <a:ext cx="3058058" cy="82296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Envelopes, money as string, idempotency header</a:t>
            </a:r>
            <a:endParaRPr lang="en-US" sz="1400" dirty="0"/>
          </a:p>
        </p:txBody>
      </p:sp>
      <p:sp>
        <p:nvSpPr>
          <p:cNvPr id="18" name="rulebook 6 card"/>
          <p:cNvSpPr/>
          <p:nvPr/>
        </p:nvSpPr>
        <p:spPr>
          <a:xfrm>
            <a:off x="8127797" y="3429000"/>
            <a:ext cx="3515258" cy="1600200"/>
          </a:xfrm>
          <a:prstGeom prst="roundRect">
            <a:avLst>
              <a:gd name="adj" fmla="val 4571"/>
            </a:avLst>
          </a:prstGeom>
          <a:solidFill>
            <a:schemeClr val="bg2"/>
          </a:solidFill>
          <a:ln w="12700">
            <a:solidFill>
              <a:schemeClr val="bg2"/>
            </a:solidFill>
            <a:prstDash val="solid"/>
          </a:ln>
        </p:spPr>
      </p:sp>
      <p:sp>
        <p:nvSpPr>
          <p:cNvPr id="19" name="rulebook 6 title"/>
          <p:cNvSpPr txBox="1"/>
          <p:nvPr/>
        </p:nvSpPr>
        <p:spPr>
          <a:xfrm>
            <a:off x="8356397" y="3593592"/>
            <a:ext cx="3058058" cy="411480"/>
          </a:xfrm>
          <a:prstGeom prst="rect">
            <a:avLst/>
          </a:prstGeom>
          <a:noFill/>
          <a:ln/>
        </p:spPr>
        <p:txBody>
          <a:bodyPr wrap="square" lIns="0" tIns="0" rIns="0" bIns="0" rtlCol="0" anchor="t"/>
          <a:lstStyle/>
          <a:p>
            <a:pPr indent="0" marL="0">
              <a:buNone/>
            </a:pPr>
            <a:r>
              <a:rPr lang="en-US" sz="1700" b="1" dirty="0">
                <a:solidFill>
                  <a:schemeClr val="tx2"/>
                </a:solidFill>
              </a:rPr>
              <a:t>Data classification</a:t>
            </a:r>
            <a:endParaRPr lang="en-US" sz="1700" dirty="0"/>
          </a:p>
        </p:txBody>
      </p:sp>
      <p:sp>
        <p:nvSpPr>
          <p:cNvPr id="20" name="rulebook 6 body"/>
          <p:cNvSpPr txBox="1"/>
          <p:nvPr/>
        </p:nvSpPr>
        <p:spPr>
          <a:xfrm>
            <a:off x="8356397" y="4050792"/>
            <a:ext cx="3058058" cy="82296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Restricted fields, masking, retention</a:t>
            </a:r>
            <a:endParaRPr lang="en-US" sz="1400" dirty="0"/>
          </a:p>
        </p:txBody>
      </p:sp>
      <p:sp>
        <p:nvSpPr>
          <p:cNvPr id="21" name="rulebook note"/>
          <p:cNvSpPr txBox="1"/>
          <p:nvPr/>
        </p:nvSpPr>
        <p:spPr>
          <a:xfrm>
            <a:off x="548640" y="5486400"/>
            <a:ext cx="11094415" cy="548640"/>
          </a:xfrm>
          <a:prstGeom prst="rect">
            <a:avLst/>
          </a:prstGeom>
          <a:noFill/>
          <a:ln/>
        </p:spPr>
        <p:txBody>
          <a:bodyPr wrap="square" lIns="0" tIns="0" rIns="0" bIns="0" rtlCol="0" anchor="ctr"/>
          <a:lstStyle/>
          <a:p>
            <a:pPr indent="0" marL="0">
              <a:buNone/>
            </a:pPr>
            <a:r>
              <a:rPr lang="en-US" sz="1400" dirty="0">
                <a:solidFill>
                  <a:schemeClr val="tx1"/>
                </a:solidFill>
              </a:rPr>
              <a:t>Start from </a:t>
            </a:r>
            <a:pPr indent="0" marL="0">
              <a:buNone/>
            </a:pPr>
            <a:r>
              <a:rPr lang="en-US" sz="1400" b="1" dirty="0">
                <a:solidFill>
                  <a:schemeClr val="tx2"/>
                </a:solidFill>
              </a:rPr>
              <a:t>.github/bmad/templates/AGENTS.md</a:t>
            </a:r>
            <a:pPr indent="0" marL="0">
              <a:buNone/>
            </a:pPr>
            <a:r>
              <a:rPr lang="en-US" sz="1400" dirty="0">
                <a:solidFill>
                  <a:schemeClr val="tx1"/>
                </a:solidFill>
              </a:rPr>
              <a:t>. Every agent reads it on every run, so short and precise beats long.</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2"/>
                </a:solidFill>
              </a:rPr>
              <a:t>Greenfield setup in seven steps</a:t>
            </a:r>
            <a:endParaRPr lang="en-US" sz="3200" dirty="0"/>
          </a:p>
        </p:txBody>
      </p:sp>
      <p:graphicFrame>
        <p:nvGraphicFramePr>
          <p:cNvPr id="7" name="greenfield setup table"/>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457200"/>
                <a:gridCol w="2651760"/>
                <a:gridCol w="4480560"/>
                <a:gridCol w="3502152"/>
              </a:tblGrid>
              <a:tr h="560070">
                <a:tc>
                  <a:txBody>
                    <a:bodyPr/>
                    <a:lstStyle/>
                    <a:p>
                      <a:pPr indent="0" marL="0">
                        <a:buNone/>
                      </a:pPr>
                      <a:r>
                        <a:rPr lang="en-US" sz="1500" b="1" dirty="0">
                          <a:solidFill>
                            <a:schemeClr val="bg1"/>
                          </a:solidFill>
                        </a:rPr>
                        <a:t>#</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Step</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Where</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Done when</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tx2"/>
                    </a:solidFill>
                  </a:tcPr>
                </a:tc>
              </a:tr>
              <a:tr h="560070">
                <a:tc>
                  <a:txBody>
                    <a:bodyPr/>
                    <a:lstStyle/>
                    <a:p>
                      <a:pPr indent="0" marL="0">
                        <a:buNone/>
                      </a:pPr>
                      <a:r>
                        <a:rPr lang="en-US" sz="1500" dirty="0">
                          <a:solidFill>
                            <a:schemeClr val="tx1"/>
                          </a:solidFill>
                        </a:rPr>
                        <a:t>1</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Create the repo and skeleton</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One folder per module with a build file</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Each module builds and runs an empty test</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r>
              <a:tr h="560070">
                <a:tc>
                  <a:txBody>
                    <a:bodyPr/>
                    <a:lstStyle/>
                    <a:p>
                      <a:pPr indent="0" marL="0">
                        <a:buNone/>
                      </a:pPr>
                      <a:r>
                        <a:rPr lang="en-US" sz="1500" dirty="0">
                          <a:solidFill>
                            <a:schemeClr val="tx1"/>
                          </a:solidFill>
                        </a:rPr>
                        <a:t>2</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Copy the kit folders</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.github/agents, prompts, bmad, instructions, copilot-instructions.md</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Agents appear in the Copilot agent list</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1"/>
                    </a:solidFill>
                  </a:tcPr>
                </a:tc>
              </a:tr>
              <a:tr h="560070">
                <a:tc>
                  <a:txBody>
                    <a:bodyPr/>
                    <a:lstStyle/>
                    <a:p>
                      <a:pPr indent="0" marL="0">
                        <a:buNone/>
                      </a:pPr>
                      <a:r>
                        <a:rPr lang="en-US" sz="1500" dirty="0">
                          <a:solidFill>
                            <a:schemeClr val="tx1"/>
                          </a:solidFill>
                        </a:rPr>
                        <a:t>3</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Ignore scratch files</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.gitignore → .bmad/</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git check-ignore passes</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r>
              <a:tr h="560070">
                <a:tc>
                  <a:txBody>
                    <a:bodyPr/>
                    <a:lstStyle/>
                    <a:p>
                      <a:pPr indent="0" marL="0">
                        <a:buNone/>
                      </a:pPr>
                      <a:r>
                        <a:rPr lang="en-US" sz="1500" dirty="0">
                          <a:solidFill>
                            <a:schemeClr val="tx1"/>
                          </a:solidFill>
                        </a:rPr>
                        <a:t>4</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Fill the profile</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.github/bmad/bmad.config.yaml</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No TODO left</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1"/>
                    </a:solidFill>
                  </a:tcPr>
                </a:tc>
              </a:tr>
              <a:tr h="560070">
                <a:tc>
                  <a:txBody>
                    <a:bodyPr/>
                    <a:lstStyle/>
                    <a:p>
                      <a:pPr indent="0" marL="0">
                        <a:buNone/>
                      </a:pPr>
                      <a:r>
                        <a:rPr lang="en-US" sz="1500" dirty="0">
                          <a:solidFill>
                            <a:schemeClr val="tx1"/>
                          </a:solidFill>
                        </a:rPr>
                        <a:t>5</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Write the rulebook</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AGENTS.md from templates/AGENTS.md</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Modules, state machines, domain rules, roles filled</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r>
              <a:tr h="560070">
                <a:tc>
                  <a:txBody>
                    <a:bodyPr/>
                    <a:lstStyle/>
                    <a:p>
                      <a:pPr indent="0" marL="0">
                        <a:buNone/>
                      </a:pPr>
                      <a:r>
                        <a:rPr lang="en-US" sz="1500" dirty="0">
                          <a:solidFill>
                            <a:schemeClr val="tx1"/>
                          </a:solidFill>
                        </a:rPr>
                        <a:t>6</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Check the stack packs</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.github/bmad/stacks/</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A pack exists for every stack (copy _template.md)</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1"/>
                    </a:solidFill>
                  </a:tcPr>
                </a:tc>
              </a:tr>
              <a:tr h="560070">
                <a:tc>
                  <a:txBody>
                    <a:bodyPr/>
                    <a:lstStyle/>
                    <a:p>
                      <a:pPr indent="0" marL="0">
                        <a:buNone/>
                      </a:pPr>
                      <a:r>
                        <a:rPr lang="en-US" sz="1500" dirty="0">
                          <a:solidFill>
                            <a:schemeClr val="tx1"/>
                          </a:solidFill>
                        </a:rPr>
                        <a:t>7</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Start the first epic</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/pm "requirement"</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PRD approved, hand-off to BA</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2"/>
                </a:solidFill>
              </a:rPr>
              <a:t>From idea to the first merged story</a:t>
            </a:r>
            <a:endParaRPr lang="en-US" sz="3200" dirty="0"/>
          </a:p>
        </p:txBody>
      </p:sp>
      <p:graphicFrame>
        <p:nvGraphicFramePr>
          <p:cNvPr id="8" name="greenfield flow table"/>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1463040"/>
                <a:gridCol w="2377440"/>
                <a:gridCol w="2103120"/>
                <a:gridCol w="5148072"/>
              </a:tblGrid>
              <a:tr h="560070">
                <a:tc>
                  <a:txBody>
                    <a:bodyPr/>
                    <a:lstStyle/>
                    <a:p>
                      <a:pPr indent="0" marL="0">
                        <a:buNone/>
                      </a:pPr>
                      <a:r>
                        <a:rPr lang="en-US" sz="1500" b="1" dirty="0">
                          <a:solidFill>
                            <a:schemeClr val="bg1"/>
                          </a:solidFill>
                        </a:rPr>
                        <a:t>Stage</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Produces</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Gate set</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Key BFSI content</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tx2"/>
                    </a:solidFill>
                  </a:tcPr>
                </a:tc>
              </a:tr>
              <a:tr h="560070">
                <a:tc>
                  <a:txBody>
                    <a:bodyPr/>
                    <a:lstStyle/>
                    <a:p>
                      <a:pPr indent="0" marL="0">
                        <a:buNone/>
                      </a:pPr>
                      <a:r>
                        <a:rPr lang="en-US" sz="1500" dirty="0">
                          <a:solidFill>
                            <a:schemeClr val="tx1"/>
                          </a:solidFill>
                        </a:rPr>
                        <a:t>PM</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PRD and epic</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prd-approved</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Regulatory and control impact, open compliance questions</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r>
              <a:tr h="560070">
                <a:tc>
                  <a:txBody>
                    <a:bodyPr/>
                    <a:lstStyle/>
                    <a:p>
                      <a:pPr indent="0" marL="0">
                        <a:buNone/>
                      </a:pPr>
                      <a:r>
                        <a:rPr lang="en-US" sz="1500" dirty="0">
                          <a:solidFill>
                            <a:schemeClr val="tx1"/>
                          </a:solidFill>
                        </a:rPr>
                        <a:t>BA</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Stories with tagged ACs</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dor-ready</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Money scale, replay, rejected transitions, 403, audit, cut-offs</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1"/>
                    </a:solidFill>
                  </a:tcPr>
                </a:tc>
              </a:tr>
              <a:tr h="560070">
                <a:tc>
                  <a:txBody>
                    <a:bodyPr/>
                    <a:lstStyle/>
                    <a:p>
                      <a:pPr indent="0" marL="0">
                        <a:buNone/>
                      </a:pPr>
                      <a:r>
                        <a:rPr lang="en-US" sz="1500" dirty="0">
                          <a:solidFill>
                            <a:schemeClr val="tx1"/>
                          </a:solidFill>
                        </a:rPr>
                        <a:t>Architect</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Design D1–D20</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arch-approved</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Lifecycle delta, rounding step, idempotency, outbox, entitlements</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r>
              <a:tr h="560070">
                <a:tc>
                  <a:txBody>
                    <a:bodyPr/>
                    <a:lstStyle/>
                    <a:p>
                      <a:pPr indent="0" marL="0">
                        <a:buNone/>
                      </a:pPr>
                      <a:r>
                        <a:rPr lang="en-US" sz="1500" dirty="0">
                          <a:solidFill>
                            <a:schemeClr val="tx1"/>
                          </a:solidFill>
                        </a:rPr>
                        <a:t>Dev</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Code, tests, PR</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status in-review</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Boundary, replay and transition tests; BFSI grep checks</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1"/>
                    </a:solidFill>
                  </a:tcPr>
                </a:tc>
              </a:tr>
              <a:tr h="560070">
                <a:tc>
                  <a:txBody>
                    <a:bodyPr/>
                    <a:lstStyle/>
                    <a:p>
                      <a:pPr indent="0" marL="0">
                        <a:buNone/>
                      </a:pPr>
                      <a:r>
                        <a:rPr lang="en-US" sz="1500" dirty="0">
                          <a:solidFill>
                            <a:schemeClr val="tx1"/>
                          </a:solidFill>
                        </a:rPr>
                        <a:t>Code Review</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PR review comment</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code-review-approved</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12 categories, 4 zero-tolerance</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r>
              <a:tr h="560070">
                <a:tc>
                  <a:txBody>
                    <a:bodyPr/>
                    <a:lstStyle/>
                    <a:p>
                      <a:pPr indent="0" marL="0">
                        <a:buNone/>
                      </a:pPr>
                      <a:r>
                        <a:rPr lang="en-US" sz="1500" dirty="0">
                          <a:solidFill>
                            <a:schemeClr val="tx1"/>
                          </a:solidFill>
                        </a:rPr>
                        <a:t>QA</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Evidence report</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qa-passed</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Replay, money format, denial for other roles, audit record</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1"/>
                    </a:solidFill>
                  </a:tcPr>
                </a:tc>
              </a:tr>
              <a:tr h="560070">
                <a:tc>
                  <a:txBody>
                    <a:bodyPr/>
                    <a:lstStyle/>
                    <a:p>
                      <a:pPr indent="0" marL="0">
                        <a:buNone/>
                      </a:pPr>
                      <a:r>
                        <a:rPr lang="en-US" sz="1500" dirty="0">
                          <a:solidFill>
                            <a:schemeClr val="tx1"/>
                          </a:solidFill>
                        </a:rPr>
                        <a:t>Docs</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Spec and rulebook sync</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Money fields typed as configured</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2"/>
                </a:solidFill>
              </a:rPr>
              <a:t>Work items live in the repo, no tracker needed</a:t>
            </a:r>
            <a:endParaRPr lang="en-US" sz="3200" dirty="0"/>
          </a:p>
        </p:txBody>
      </p:sp>
      <p:sp>
        <p:nvSpPr>
          <p:cNvPr id="3" name="work dir card"/>
          <p:cNvSpPr/>
          <p:nvPr/>
        </p:nvSpPr>
        <p:spPr>
          <a:xfrm>
            <a:off x="548640" y="1463040"/>
            <a:ext cx="5120640" cy="4480560"/>
          </a:xfrm>
          <a:prstGeom prst="roundRect">
            <a:avLst>
              <a:gd name="adj" fmla="val 1633"/>
            </a:avLst>
          </a:prstGeom>
          <a:solidFill>
            <a:schemeClr val="tx2"/>
          </a:solidFill>
          <a:ln w="12700">
            <a:solidFill>
              <a:schemeClr val="tx2"/>
            </a:solidFill>
            <a:prstDash val="solid"/>
          </a:ln>
        </p:spPr>
      </p:sp>
      <p:sp>
        <p:nvSpPr>
          <p:cNvPr id="4" name="work dir title"/>
          <p:cNvSpPr txBox="1"/>
          <p:nvPr/>
        </p:nvSpPr>
        <p:spPr>
          <a:xfrm>
            <a:off x="777240" y="1627632"/>
            <a:ext cx="4663440" cy="411480"/>
          </a:xfrm>
          <a:prstGeom prst="rect">
            <a:avLst/>
          </a:prstGeom>
          <a:noFill/>
          <a:ln/>
        </p:spPr>
        <p:txBody>
          <a:bodyPr wrap="square" lIns="0" tIns="0" rIns="0" bIns="0" rtlCol="0" anchor="t"/>
          <a:lstStyle/>
          <a:p>
            <a:pPr indent="0" marL="0">
              <a:buNone/>
            </a:pPr>
            <a:r>
              <a:rPr lang="en-US" sz="1700" b="1" dirty="0">
                <a:solidFill>
                  <a:schemeClr val="accent1"/>
                </a:solidFill>
              </a:rPr>
              <a:t>docs/bmad/</a:t>
            </a:r>
            <a:endParaRPr lang="en-US" sz="1700" dirty="0"/>
          </a:p>
        </p:txBody>
      </p:sp>
      <p:sp>
        <p:nvSpPr>
          <p:cNvPr id="5" name="work dir body"/>
          <p:cNvSpPr txBox="1"/>
          <p:nvPr/>
        </p:nvSpPr>
        <p:spPr>
          <a:xfrm>
            <a:off x="777240" y="2084832"/>
            <a:ext cx="4663440" cy="3703320"/>
          </a:xfrm>
          <a:prstGeom prst="rect">
            <a:avLst/>
          </a:prstGeom>
          <a:noFill/>
          <a:ln/>
        </p:spPr>
        <p:txBody>
          <a:bodyPr wrap="square" lIns="0" tIns="0" rIns="0" bIns="0" rtlCol="0" anchor="t"/>
          <a:lstStyle/>
          <a:p>
            <a:pPr indent="0" marL="0">
              <a:spcAft>
                <a:spcPts val="400"/>
              </a:spcAft>
              <a:buNone/>
            </a:pPr>
            <a:r>
              <a:rPr lang="en-US" sz="1500" dirty="0">
                <a:solidFill>
                  <a:schemeClr val="bg1"/>
                </a:solidFill>
              </a:rPr>
              <a:t>backlog.md — index of epics and stories</a:t>
            </a:r>
            <a:endParaRPr lang="en-US" sz="1500" dirty="0"/>
          </a:p>
          <a:p>
            <a:pPr indent="0" marL="0">
              <a:spcAft>
                <a:spcPts val="400"/>
              </a:spcAft>
              <a:buNone/>
            </a:pPr>
            <a:r>
              <a:rPr lang="en-US" sz="1500" dirty="0">
                <a:solidFill>
                  <a:schemeClr val="bg1"/>
                </a:solidFill>
              </a:rPr>
              <a:t>PAY-1-prd.md — PRD (epic)</a:t>
            </a:r>
            <a:endParaRPr lang="en-US" sz="1500" dirty="0"/>
          </a:p>
          <a:p>
            <a:pPr indent="0" marL="0">
              <a:spcAft>
                <a:spcPts val="400"/>
              </a:spcAft>
              <a:buNone/>
            </a:pPr>
            <a:r>
              <a:rPr lang="en-US" sz="1500" dirty="0">
                <a:solidFill>
                  <a:schemeClr val="bg1"/>
                </a:solidFill>
              </a:rPr>
              <a:t>PAY-2.md — story with front matter</a:t>
            </a:r>
            <a:endParaRPr lang="en-US" sz="1500" dirty="0"/>
          </a:p>
          <a:p>
            <a:pPr indent="0" marL="0">
              <a:spcAft>
                <a:spcPts val="400"/>
              </a:spcAft>
              <a:buNone/>
            </a:pPr>
            <a:r>
              <a:rPr lang="en-US" sz="1500" dirty="0">
                <a:solidFill>
                  <a:schemeClr val="bg1"/>
                </a:solidFill>
              </a:rPr>
              <a:t>PAY-2-design.md — technical design</a:t>
            </a:r>
            <a:endParaRPr lang="en-US" sz="1500" dirty="0"/>
          </a:p>
          <a:p>
            <a:pPr indent="0" marL="0">
              <a:spcAft>
                <a:spcPts val="400"/>
              </a:spcAft>
              <a:buNone/>
            </a:pPr>
            <a:r>
              <a:rPr lang="en-US" sz="1500" dirty="0">
                <a:solidFill>
                  <a:schemeClr val="bg1"/>
                </a:solidFill>
              </a:rPr>
              <a:t>PAY-2-qa.md — QA evidence</a:t>
            </a:r>
            <a:endParaRPr lang="en-US" sz="1500" dirty="0"/>
          </a:p>
          <a:p>
            <a:pPr indent="0" marL="0">
              <a:spcAft>
                <a:spcPts val="400"/>
              </a:spcAft>
              <a:buNone/>
            </a:pPr>
            <a:endParaRPr lang="en-US" sz="1500" dirty="0"/>
          </a:p>
          <a:p>
            <a:pPr indent="0" marL="0">
              <a:spcAft>
                <a:spcPts val="400"/>
              </a:spcAft>
              <a:buNone/>
            </a:pPr>
            <a:r>
              <a:rPr lang="en-US" sz="1500" dirty="0">
                <a:solidFill>
                  <a:schemeClr val="bg1"/>
                </a:solidFill>
              </a:rPr>
              <a:t>Committed with your normal PRs.</a:t>
            </a:r>
            <a:endParaRPr lang="en-US" sz="1500" dirty="0"/>
          </a:p>
        </p:txBody>
      </p:sp>
      <p:sp>
        <p:nvSpPr>
          <p:cNvPr id="6" name="status todo number"/>
          <p:cNvSpPr txBox="1"/>
          <p:nvPr/>
        </p:nvSpPr>
        <p:spPr>
          <a:xfrm>
            <a:off x="6126480" y="1554480"/>
            <a:ext cx="640080" cy="640080"/>
          </a:xfrm>
          <a:prstGeom prst="ellipse">
            <a:avLst/>
          </a:prstGeom>
          <a:solidFill>
            <a:schemeClr val="accent1"/>
          </a:solidFill>
          <a:ln/>
        </p:spPr>
        <p:txBody>
          <a:bodyPr wrap="square" lIns="0" tIns="0" rIns="0" bIns="0" rtlCol="0" anchor="ctr"/>
          <a:lstStyle/>
          <a:p>
            <a:pPr algn="ctr" indent="0" marL="0">
              <a:buNone/>
            </a:pPr>
            <a:r>
              <a:rPr lang="en-US" sz="1700" b="1" dirty="0">
                <a:solidFill>
                  <a:schemeClr val="tx2"/>
                </a:solidFill>
              </a:rPr>
              <a:t>1</a:t>
            </a:r>
            <a:endParaRPr lang="en-US" sz="1700" dirty="0"/>
          </a:p>
        </p:txBody>
      </p:sp>
      <p:sp>
        <p:nvSpPr>
          <p:cNvPr id="7" name="status todo name"/>
          <p:cNvSpPr txBox="1"/>
          <p:nvPr/>
        </p:nvSpPr>
        <p:spPr>
          <a:xfrm>
            <a:off x="6995160" y="1463040"/>
            <a:ext cx="2377440" cy="822960"/>
          </a:xfrm>
          <a:prstGeom prst="rect">
            <a:avLst/>
          </a:prstGeom>
          <a:noFill/>
          <a:ln/>
        </p:spPr>
        <p:txBody>
          <a:bodyPr wrap="square" lIns="0" tIns="0" rIns="0" bIns="0" rtlCol="0" anchor="ctr"/>
          <a:lstStyle/>
          <a:p>
            <a:pPr indent="0" marL="0">
              <a:buNone/>
            </a:pPr>
            <a:r>
              <a:rPr lang="en-US" sz="1800" b="1" dirty="0">
                <a:solidFill>
                  <a:schemeClr val="tx2"/>
                </a:solidFill>
              </a:rPr>
              <a:t>todo</a:t>
            </a:r>
            <a:endParaRPr lang="en-US" sz="1800" dirty="0"/>
          </a:p>
        </p:txBody>
      </p:sp>
      <p:sp>
        <p:nvSpPr>
          <p:cNvPr id="8" name="status todo text"/>
          <p:cNvSpPr txBox="1"/>
          <p:nvPr/>
        </p:nvSpPr>
        <p:spPr>
          <a:xfrm>
            <a:off x="9326880" y="1463040"/>
            <a:ext cx="2316175" cy="822960"/>
          </a:xfrm>
          <a:prstGeom prst="rect">
            <a:avLst/>
          </a:prstGeom>
          <a:noFill/>
          <a:ln/>
        </p:spPr>
        <p:txBody>
          <a:bodyPr wrap="square" lIns="0" tIns="0" rIns="0" bIns="0" rtlCol="0" anchor="ctr"/>
          <a:lstStyle/>
          <a:p>
            <a:pPr indent="0" marL="0">
              <a:buNone/>
            </a:pPr>
            <a:r>
              <a:rPr lang="en-US" sz="1400" dirty="0">
                <a:solidFill>
                  <a:schemeClr val="tx1"/>
                </a:solidFill>
              </a:rPr>
              <a:t>PM / BA create</a:t>
            </a:r>
            <a:endParaRPr lang="en-US" sz="1400" dirty="0"/>
          </a:p>
        </p:txBody>
      </p:sp>
      <p:sp>
        <p:nvSpPr>
          <p:cNvPr id="9" name="status in-progress number"/>
          <p:cNvSpPr txBox="1"/>
          <p:nvPr/>
        </p:nvSpPr>
        <p:spPr>
          <a:xfrm>
            <a:off x="6126480" y="2697480"/>
            <a:ext cx="640080" cy="640080"/>
          </a:xfrm>
          <a:prstGeom prst="ellipse">
            <a:avLst/>
          </a:prstGeom>
          <a:solidFill>
            <a:schemeClr val="accent1"/>
          </a:solidFill>
          <a:ln/>
        </p:spPr>
        <p:txBody>
          <a:bodyPr wrap="square" lIns="0" tIns="0" rIns="0" bIns="0" rtlCol="0" anchor="ctr"/>
          <a:lstStyle/>
          <a:p>
            <a:pPr algn="ctr" indent="0" marL="0">
              <a:buNone/>
            </a:pPr>
            <a:r>
              <a:rPr lang="en-US" sz="1700" b="1" dirty="0">
                <a:solidFill>
                  <a:schemeClr val="tx2"/>
                </a:solidFill>
              </a:rPr>
              <a:t>2</a:t>
            </a:r>
            <a:endParaRPr lang="en-US" sz="1700" dirty="0"/>
          </a:p>
        </p:txBody>
      </p:sp>
      <p:sp>
        <p:nvSpPr>
          <p:cNvPr id="10" name="status in-progress name"/>
          <p:cNvSpPr txBox="1"/>
          <p:nvPr/>
        </p:nvSpPr>
        <p:spPr>
          <a:xfrm>
            <a:off x="6995160" y="2606040"/>
            <a:ext cx="2377440" cy="822960"/>
          </a:xfrm>
          <a:prstGeom prst="rect">
            <a:avLst/>
          </a:prstGeom>
          <a:noFill/>
          <a:ln/>
        </p:spPr>
        <p:txBody>
          <a:bodyPr wrap="square" lIns="0" tIns="0" rIns="0" bIns="0" rtlCol="0" anchor="ctr"/>
          <a:lstStyle/>
          <a:p>
            <a:pPr indent="0" marL="0">
              <a:buNone/>
            </a:pPr>
            <a:r>
              <a:rPr lang="en-US" sz="1800" b="1" dirty="0">
                <a:solidFill>
                  <a:schemeClr val="tx2"/>
                </a:solidFill>
              </a:rPr>
              <a:t>in-progress</a:t>
            </a:r>
            <a:endParaRPr lang="en-US" sz="1800" dirty="0"/>
          </a:p>
        </p:txBody>
      </p:sp>
      <p:sp>
        <p:nvSpPr>
          <p:cNvPr id="11" name="status in-progress text"/>
          <p:cNvSpPr txBox="1"/>
          <p:nvPr/>
        </p:nvSpPr>
        <p:spPr>
          <a:xfrm>
            <a:off x="9326880" y="2606040"/>
            <a:ext cx="2316175" cy="822960"/>
          </a:xfrm>
          <a:prstGeom prst="rect">
            <a:avLst/>
          </a:prstGeom>
          <a:noFill/>
          <a:ln/>
        </p:spPr>
        <p:txBody>
          <a:bodyPr wrap="square" lIns="0" tIns="0" rIns="0" bIns="0" rtlCol="0" anchor="ctr"/>
          <a:lstStyle/>
          <a:p>
            <a:pPr indent="0" marL="0">
              <a:buNone/>
            </a:pPr>
            <a:r>
              <a:rPr lang="en-US" sz="1400" dirty="0">
                <a:solidFill>
                  <a:schemeClr val="tx1"/>
                </a:solidFill>
              </a:rPr>
              <a:t>Dev starts</a:t>
            </a:r>
            <a:endParaRPr lang="en-US" sz="1400" dirty="0"/>
          </a:p>
        </p:txBody>
      </p:sp>
      <p:sp>
        <p:nvSpPr>
          <p:cNvPr id="12" name="status in-review number"/>
          <p:cNvSpPr txBox="1"/>
          <p:nvPr/>
        </p:nvSpPr>
        <p:spPr>
          <a:xfrm>
            <a:off x="6126480" y="3840480"/>
            <a:ext cx="640080" cy="640080"/>
          </a:xfrm>
          <a:prstGeom prst="ellipse">
            <a:avLst/>
          </a:prstGeom>
          <a:solidFill>
            <a:schemeClr val="accent1"/>
          </a:solidFill>
          <a:ln/>
        </p:spPr>
        <p:txBody>
          <a:bodyPr wrap="square" lIns="0" tIns="0" rIns="0" bIns="0" rtlCol="0" anchor="ctr"/>
          <a:lstStyle/>
          <a:p>
            <a:pPr algn="ctr" indent="0" marL="0">
              <a:buNone/>
            </a:pPr>
            <a:r>
              <a:rPr lang="en-US" sz="1700" b="1" dirty="0">
                <a:solidFill>
                  <a:schemeClr val="tx2"/>
                </a:solidFill>
              </a:rPr>
              <a:t>3</a:t>
            </a:r>
            <a:endParaRPr lang="en-US" sz="1700" dirty="0"/>
          </a:p>
        </p:txBody>
      </p:sp>
      <p:sp>
        <p:nvSpPr>
          <p:cNvPr id="13" name="status in-review name"/>
          <p:cNvSpPr txBox="1"/>
          <p:nvPr/>
        </p:nvSpPr>
        <p:spPr>
          <a:xfrm>
            <a:off x="6995160" y="3749040"/>
            <a:ext cx="2377440" cy="822960"/>
          </a:xfrm>
          <a:prstGeom prst="rect">
            <a:avLst/>
          </a:prstGeom>
          <a:noFill/>
          <a:ln/>
        </p:spPr>
        <p:txBody>
          <a:bodyPr wrap="square" lIns="0" tIns="0" rIns="0" bIns="0" rtlCol="0" anchor="ctr"/>
          <a:lstStyle/>
          <a:p>
            <a:pPr indent="0" marL="0">
              <a:buNone/>
            </a:pPr>
            <a:r>
              <a:rPr lang="en-US" sz="1800" b="1" dirty="0">
                <a:solidFill>
                  <a:schemeClr val="tx2"/>
                </a:solidFill>
              </a:rPr>
              <a:t>in-review</a:t>
            </a:r>
            <a:endParaRPr lang="en-US" sz="1800" dirty="0"/>
          </a:p>
        </p:txBody>
      </p:sp>
      <p:sp>
        <p:nvSpPr>
          <p:cNvPr id="14" name="status in-review text"/>
          <p:cNvSpPr txBox="1"/>
          <p:nvPr/>
        </p:nvSpPr>
        <p:spPr>
          <a:xfrm>
            <a:off x="9326880" y="3749040"/>
            <a:ext cx="2316175" cy="822960"/>
          </a:xfrm>
          <a:prstGeom prst="rect">
            <a:avLst/>
          </a:prstGeom>
          <a:noFill/>
          <a:ln/>
        </p:spPr>
        <p:txBody>
          <a:bodyPr wrap="square" lIns="0" tIns="0" rIns="0" bIns="0" rtlCol="0" anchor="ctr"/>
          <a:lstStyle/>
          <a:p>
            <a:pPr indent="0" marL="0">
              <a:buNone/>
            </a:pPr>
            <a:r>
              <a:rPr lang="en-US" sz="1400" dirty="0">
                <a:solidFill>
                  <a:schemeClr val="tx1"/>
                </a:solidFill>
              </a:rPr>
              <a:t>PR raised</a:t>
            </a:r>
            <a:endParaRPr lang="en-US" sz="1400" dirty="0"/>
          </a:p>
        </p:txBody>
      </p:sp>
      <p:sp>
        <p:nvSpPr>
          <p:cNvPr id="15" name="status done number"/>
          <p:cNvSpPr txBox="1"/>
          <p:nvPr/>
        </p:nvSpPr>
        <p:spPr>
          <a:xfrm>
            <a:off x="6126480" y="4983480"/>
            <a:ext cx="640080" cy="640080"/>
          </a:xfrm>
          <a:prstGeom prst="ellipse">
            <a:avLst/>
          </a:prstGeom>
          <a:solidFill>
            <a:schemeClr val="accent1"/>
          </a:solidFill>
          <a:ln/>
        </p:spPr>
        <p:txBody>
          <a:bodyPr wrap="square" lIns="0" tIns="0" rIns="0" bIns="0" rtlCol="0" anchor="ctr"/>
          <a:lstStyle/>
          <a:p>
            <a:pPr algn="ctr" indent="0" marL="0">
              <a:buNone/>
            </a:pPr>
            <a:r>
              <a:rPr lang="en-US" sz="1700" b="1" dirty="0">
                <a:solidFill>
                  <a:schemeClr val="tx2"/>
                </a:solidFill>
              </a:rPr>
              <a:t>4</a:t>
            </a:r>
            <a:endParaRPr lang="en-US" sz="1700" dirty="0"/>
          </a:p>
        </p:txBody>
      </p:sp>
      <p:sp>
        <p:nvSpPr>
          <p:cNvPr id="16" name="status done name"/>
          <p:cNvSpPr txBox="1"/>
          <p:nvPr/>
        </p:nvSpPr>
        <p:spPr>
          <a:xfrm>
            <a:off x="6995160" y="4892040"/>
            <a:ext cx="2377440" cy="822960"/>
          </a:xfrm>
          <a:prstGeom prst="rect">
            <a:avLst/>
          </a:prstGeom>
          <a:noFill/>
          <a:ln/>
        </p:spPr>
        <p:txBody>
          <a:bodyPr wrap="square" lIns="0" tIns="0" rIns="0" bIns="0" rtlCol="0" anchor="ctr"/>
          <a:lstStyle/>
          <a:p>
            <a:pPr indent="0" marL="0">
              <a:buNone/>
            </a:pPr>
            <a:r>
              <a:rPr lang="en-US" sz="1800" b="1" dirty="0">
                <a:solidFill>
                  <a:schemeClr val="tx2"/>
                </a:solidFill>
              </a:rPr>
              <a:t>done</a:t>
            </a:r>
            <a:endParaRPr lang="en-US" sz="1800" dirty="0"/>
          </a:p>
        </p:txBody>
      </p:sp>
      <p:sp>
        <p:nvSpPr>
          <p:cNvPr id="17" name="status done text"/>
          <p:cNvSpPr txBox="1"/>
          <p:nvPr/>
        </p:nvSpPr>
        <p:spPr>
          <a:xfrm>
            <a:off x="9326880" y="4892040"/>
            <a:ext cx="2316175" cy="822960"/>
          </a:xfrm>
          <a:prstGeom prst="rect">
            <a:avLst/>
          </a:prstGeom>
          <a:noFill/>
          <a:ln/>
        </p:spPr>
        <p:txBody>
          <a:bodyPr wrap="square" lIns="0" tIns="0" rIns="0" bIns="0" rtlCol="0" anchor="ctr"/>
          <a:lstStyle/>
          <a:p>
            <a:pPr indent="0" marL="0">
              <a:buNone/>
            </a:pPr>
            <a:r>
              <a:rPr lang="en-US" sz="1400" dirty="0">
                <a:solidFill>
                  <a:schemeClr val="tx1"/>
                </a:solidFill>
              </a:rPr>
              <a:t>QA passed + merged</a:t>
            </a:r>
            <a:endParaRPr lang="en-US" sz="1400" dirty="0"/>
          </a:p>
        </p:txBody>
      </p:sp>
      <p:sp>
        <p:nvSpPr>
          <p:cNvPr id="18" name="jira note"/>
          <p:cNvSpPr txBox="1"/>
          <p:nvPr/>
        </p:nvSpPr>
        <p:spPr>
          <a:xfrm>
            <a:off x="6126480" y="6035040"/>
            <a:ext cx="5516575" cy="320040"/>
          </a:xfrm>
          <a:prstGeom prst="rect">
            <a:avLst/>
          </a:prstGeom>
          <a:noFill/>
          <a:ln/>
        </p:spPr>
        <p:txBody>
          <a:bodyPr wrap="square" lIns="0" tIns="0" rIns="0" bIns="0" rtlCol="0" anchor="ctr"/>
          <a:lstStyle/>
          <a:p>
            <a:pPr indent="0" marL="0">
              <a:buNone/>
            </a:pPr>
            <a:r>
              <a:rPr lang="en-US" sz="1200" i="1" dirty="0">
                <a:solidFill>
                  <a:schemeClr val="accent2"/>
                </a:solidFill>
              </a:rPr>
              <a:t>Optional: set tracker.type: jira to mirror items to JIRA, with approval before each write.</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2"/>
                </a:solidFill>
              </a:rPr>
              <a:t>Decisions to make on day one</a:t>
            </a:r>
            <a:endParaRPr lang="en-US" sz="3200" dirty="0"/>
          </a:p>
        </p:txBody>
      </p:sp>
      <p:graphicFrame>
        <p:nvGraphicFramePr>
          <p:cNvPr id="10" name="decisions table"/>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3657600"/>
                <a:gridCol w="3291840"/>
                <a:gridCol w="4142232"/>
              </a:tblGrid>
              <a:tr h="560070">
                <a:tc>
                  <a:txBody>
                    <a:bodyPr/>
                    <a:lstStyle/>
                    <a:p>
                      <a:pPr indent="0" marL="0">
                        <a:buNone/>
                      </a:pPr>
                      <a:r>
                        <a:rPr lang="en-US" sz="1500" b="1" dirty="0">
                          <a:solidFill>
                            <a:schemeClr val="bg1"/>
                          </a:solidFill>
                        </a:rPr>
                        <a:t>Decision</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Config key</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Recommended start</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tx2"/>
                    </a:solidFill>
                  </a:tcPr>
                </a:tc>
              </a:tr>
              <a:tr h="560070">
                <a:tc>
                  <a:txBody>
                    <a:bodyPr/>
                    <a:lstStyle/>
                    <a:p>
                      <a:pPr indent="0" marL="0">
                        <a:buNone/>
                      </a:pPr>
                      <a:r>
                        <a:rPr lang="en-US" sz="1500" dirty="0">
                          <a:solidFill>
                            <a:schemeClr val="tx1"/>
                          </a:solidFill>
                        </a:rPr>
                        <a:t>How money appears in JSON</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api.money_json_type</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string</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r>
              <a:tr h="560070">
                <a:tc>
                  <a:txBody>
                    <a:bodyPr/>
                    <a:lstStyle/>
                    <a:p>
                      <a:pPr indent="0" marL="0">
                        <a:buNone/>
                      </a:pPr>
                      <a:r>
                        <a:rPr lang="en-US" sz="1500" dirty="0">
                          <a:solidFill>
                            <a:schemeClr val="tx1"/>
                          </a:solidFill>
                        </a:rPr>
                        <a:t>Roles for entitlement checks</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api.roles</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From your operating model, e.g. TRADER, OPERATIONS, COMPLIANCE</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1"/>
                    </a:solidFill>
                  </a:tcPr>
                </a:tc>
              </a:tr>
              <a:tr h="560070">
                <a:tc>
                  <a:txBody>
                    <a:bodyPr/>
                    <a:lstStyle/>
                    <a:p>
                      <a:pPr indent="0" marL="0">
                        <a:buNone/>
                      </a:pPr>
                      <a:r>
                        <a:rPr lang="en-US" sz="1500" dirty="0">
                          <a:solidFill>
                            <a:schemeClr val="tx1"/>
                          </a:solidFill>
                        </a:rPr>
                        <a:t>Branch naming and base</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git.*</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feature/{id}-{slug} from develop</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r>
              <a:tr h="560070">
                <a:tc>
                  <a:txBody>
                    <a:bodyPr/>
                    <a:lstStyle/>
                    <a:p>
                      <a:pPr indent="0" marL="0">
                        <a:buNone/>
                      </a:pPr>
                      <a:r>
                        <a:rPr lang="en-US" sz="1500" dirty="0">
                          <a:solidFill>
                            <a:schemeClr val="tx1"/>
                          </a:solidFill>
                        </a:rPr>
                        <a:t>Coverage threshold</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quality.coverage_min_line_pct</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80</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1"/>
                    </a:solidFill>
                  </a:tcPr>
                </a:tc>
              </a:tr>
              <a:tr h="560070">
                <a:tc>
                  <a:txBody>
                    <a:bodyPr/>
                    <a:lstStyle/>
                    <a:p>
                      <a:pPr indent="0" marL="0">
                        <a:buNone/>
                      </a:pPr>
                      <a:r>
                        <a:rPr lang="en-US" sz="1500" dirty="0">
                          <a:solidFill>
                            <a:schemeClr val="tx1"/>
                          </a:solidFill>
                        </a:rPr>
                        <a:t>Ask or auto loop</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flow.auto_loop</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false while the team learns the flow</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r>
              <a:tr h="560070">
                <a:tc>
                  <a:txBody>
                    <a:bodyPr/>
                    <a:lstStyle/>
                    <a:p>
                      <a:pPr indent="0" marL="0">
                        <a:buNone/>
                      </a:pPr>
                      <a:r>
                        <a:rPr lang="en-US" sz="1500" dirty="0">
                          <a:solidFill>
                            <a:schemeClr val="tx1"/>
                          </a:solidFill>
                        </a:rPr>
                        <a:t>Review frequency</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flow.review_granularity</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step</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1"/>
                    </a:solidFill>
                  </a:tcPr>
                </a:tc>
              </a:tr>
              <a:tr h="560070">
                <a:tc>
                  <a:txBody>
                    <a:bodyPr/>
                    <a:lstStyle/>
                    <a:p>
                      <a:pPr indent="0" marL="0">
                        <a:buNone/>
                      </a:pPr>
                      <a:r>
                        <a:rPr lang="en-US" sz="1500" dirty="0">
                          <a:solidFill>
                            <a:schemeClr val="tx1"/>
                          </a:solidFill>
                        </a:rPr>
                        <a:t>Independent critic</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flow.critic</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true; consider false for doc-only changes</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2"/>
                </a:solidFill>
              </a:rPr>
              <a:t>BFSI rules are enforced at every stage</a:t>
            </a:r>
            <a:endParaRPr lang="en-US" sz="3200" dirty="0"/>
          </a:p>
        </p:txBody>
      </p:sp>
      <p:sp>
        <p:nvSpPr>
          <p:cNvPr id="3" name="rule MON"/>
          <p:cNvSpPr/>
          <p:nvPr/>
        </p:nvSpPr>
        <p:spPr>
          <a:xfrm>
            <a:off x="548640" y="1554480"/>
            <a:ext cx="3515258" cy="1691640"/>
          </a:xfrm>
          <a:prstGeom prst="roundRect">
            <a:avLst>
              <a:gd name="adj" fmla="val 4324"/>
            </a:avLst>
          </a:prstGeom>
          <a:solidFill>
            <a:schemeClr val="bg2"/>
          </a:solidFill>
          <a:ln w="12700">
            <a:solidFill>
              <a:schemeClr val="bg2"/>
            </a:solidFill>
            <a:prstDash val="solid"/>
          </a:ln>
        </p:spPr>
      </p:sp>
      <p:sp>
        <p:nvSpPr>
          <p:cNvPr id="4" name="rule MON tag"/>
          <p:cNvSpPr txBox="1"/>
          <p:nvPr/>
        </p:nvSpPr>
        <p:spPr>
          <a:xfrm>
            <a:off x="777240" y="1783080"/>
            <a:ext cx="1737360" cy="384048"/>
          </a:xfrm>
          <a:prstGeom prst="roundRect">
            <a:avLst>
              <a:gd name="adj" fmla="val 14286"/>
            </a:avLst>
          </a:prstGeom>
          <a:solidFill>
            <a:schemeClr val="tx2"/>
          </a:solidFill>
          <a:ln/>
        </p:spPr>
        <p:txBody>
          <a:bodyPr wrap="square" lIns="0" tIns="0" rIns="0" bIns="0" rtlCol="0" anchor="ctr"/>
          <a:lstStyle/>
          <a:p>
            <a:pPr algn="ctr" indent="0" marL="0">
              <a:buNone/>
            </a:pPr>
            <a:r>
              <a:rPr lang="en-US" sz="1200" b="1" dirty="0">
                <a:solidFill>
                  <a:schemeClr val="accent1"/>
                </a:solidFill>
              </a:rPr>
              <a:t>MON</a:t>
            </a:r>
            <a:endParaRPr lang="en-US" sz="1200" dirty="0"/>
          </a:p>
        </p:txBody>
      </p:sp>
      <p:sp>
        <p:nvSpPr>
          <p:cNvPr id="5" name="rule MON name"/>
          <p:cNvSpPr txBox="1"/>
          <p:nvPr/>
        </p:nvSpPr>
        <p:spPr>
          <a:xfrm>
            <a:off x="2651760" y="1783080"/>
            <a:ext cx="1229258" cy="384048"/>
          </a:xfrm>
          <a:prstGeom prst="rect">
            <a:avLst/>
          </a:prstGeom>
          <a:noFill/>
          <a:ln/>
        </p:spPr>
        <p:txBody>
          <a:bodyPr wrap="square" lIns="0" tIns="0" rIns="0" bIns="0" rtlCol="0" anchor="ctr"/>
          <a:lstStyle/>
          <a:p>
            <a:pPr indent="0" marL="0">
              <a:buNone/>
            </a:pPr>
            <a:r>
              <a:rPr lang="en-US" sz="1700" b="1" dirty="0">
                <a:solidFill>
                  <a:schemeClr val="tx2"/>
                </a:solidFill>
              </a:rPr>
              <a:t>Money</a:t>
            </a:r>
            <a:endParaRPr lang="en-US" sz="1700" dirty="0"/>
          </a:p>
        </p:txBody>
      </p:sp>
      <p:sp>
        <p:nvSpPr>
          <p:cNvPr id="6" name="rule MON text"/>
          <p:cNvSpPr txBox="1"/>
          <p:nvPr/>
        </p:nvSpPr>
        <p:spPr>
          <a:xfrm>
            <a:off x="777240" y="2331720"/>
            <a:ext cx="3058058" cy="822960"/>
          </a:xfrm>
          <a:prstGeom prst="rect">
            <a:avLst/>
          </a:prstGeom>
          <a:noFill/>
          <a:ln/>
        </p:spPr>
        <p:txBody>
          <a:bodyPr wrap="square" lIns="0" tIns="0" rIns="0" bIns="0" rtlCol="0" anchor="t"/>
          <a:lstStyle/>
          <a:p>
            <a:pPr indent="0" marL="0">
              <a:buNone/>
            </a:pPr>
            <a:r>
              <a:rPr lang="en-US" sz="1300" dirty="0">
                <a:solidFill>
                  <a:schemeClr val="tx1"/>
                </a:solidFill>
              </a:rPr>
              <a:t>Exact decimals from strings, currency on every amount, explicit rounding mode</a:t>
            </a:r>
            <a:endParaRPr lang="en-US" sz="1300" dirty="0"/>
          </a:p>
        </p:txBody>
      </p:sp>
      <p:sp>
        <p:nvSpPr>
          <p:cNvPr id="7" name="rule TIME"/>
          <p:cNvSpPr/>
          <p:nvPr/>
        </p:nvSpPr>
        <p:spPr>
          <a:xfrm>
            <a:off x="4338218" y="1554480"/>
            <a:ext cx="3515258" cy="1691640"/>
          </a:xfrm>
          <a:prstGeom prst="roundRect">
            <a:avLst>
              <a:gd name="adj" fmla="val 4324"/>
            </a:avLst>
          </a:prstGeom>
          <a:solidFill>
            <a:schemeClr val="bg2"/>
          </a:solidFill>
          <a:ln w="12700">
            <a:solidFill>
              <a:schemeClr val="bg2"/>
            </a:solidFill>
            <a:prstDash val="solid"/>
          </a:ln>
        </p:spPr>
      </p:sp>
      <p:sp>
        <p:nvSpPr>
          <p:cNvPr id="8" name="rule TIME tag"/>
          <p:cNvSpPr txBox="1"/>
          <p:nvPr/>
        </p:nvSpPr>
        <p:spPr>
          <a:xfrm>
            <a:off x="4566818" y="1783080"/>
            <a:ext cx="1737360" cy="384048"/>
          </a:xfrm>
          <a:prstGeom prst="roundRect">
            <a:avLst>
              <a:gd name="adj" fmla="val 14286"/>
            </a:avLst>
          </a:prstGeom>
          <a:solidFill>
            <a:schemeClr val="tx2"/>
          </a:solidFill>
          <a:ln/>
        </p:spPr>
        <p:txBody>
          <a:bodyPr wrap="square" lIns="0" tIns="0" rIns="0" bIns="0" rtlCol="0" anchor="ctr"/>
          <a:lstStyle/>
          <a:p>
            <a:pPr algn="ctr" indent="0" marL="0">
              <a:buNone/>
            </a:pPr>
            <a:r>
              <a:rPr lang="en-US" sz="1200" b="1" dirty="0">
                <a:solidFill>
                  <a:schemeClr val="accent1"/>
                </a:solidFill>
              </a:rPr>
              <a:t>TIME</a:t>
            </a:r>
            <a:endParaRPr lang="en-US" sz="1200" dirty="0"/>
          </a:p>
        </p:txBody>
      </p:sp>
      <p:sp>
        <p:nvSpPr>
          <p:cNvPr id="9" name="rule TIME name"/>
          <p:cNvSpPr txBox="1"/>
          <p:nvPr/>
        </p:nvSpPr>
        <p:spPr>
          <a:xfrm>
            <a:off x="6441338" y="1783080"/>
            <a:ext cx="1229258" cy="384048"/>
          </a:xfrm>
          <a:prstGeom prst="rect">
            <a:avLst/>
          </a:prstGeom>
          <a:noFill/>
          <a:ln/>
        </p:spPr>
        <p:txBody>
          <a:bodyPr wrap="square" lIns="0" tIns="0" rIns="0" bIns="0" rtlCol="0" anchor="ctr"/>
          <a:lstStyle/>
          <a:p>
            <a:pPr indent="0" marL="0">
              <a:buNone/>
            </a:pPr>
            <a:r>
              <a:rPr lang="en-US" sz="1700" b="1" dirty="0">
                <a:solidFill>
                  <a:schemeClr val="tx2"/>
                </a:solidFill>
              </a:rPr>
              <a:t>Time</a:t>
            </a:r>
            <a:endParaRPr lang="en-US" sz="1700" dirty="0"/>
          </a:p>
        </p:txBody>
      </p:sp>
      <p:sp>
        <p:nvSpPr>
          <p:cNvPr id="10" name="rule TIME text"/>
          <p:cNvSpPr txBox="1"/>
          <p:nvPr/>
        </p:nvSpPr>
        <p:spPr>
          <a:xfrm>
            <a:off x="4566818" y="2331720"/>
            <a:ext cx="3058058" cy="822960"/>
          </a:xfrm>
          <a:prstGeom prst="rect">
            <a:avLst/>
          </a:prstGeom>
          <a:noFill/>
          <a:ln/>
        </p:spPr>
        <p:txBody>
          <a:bodyPr wrap="square" lIns="0" tIns="0" rIns="0" bIns="0" rtlCol="0" anchor="t"/>
          <a:lstStyle/>
          <a:p>
            <a:pPr indent="0" marL="0">
              <a:buNone/>
            </a:pPr>
            <a:r>
              <a:rPr lang="en-US" sz="1300" dirty="0">
                <a:solidFill>
                  <a:schemeClr val="tx1"/>
                </a:solidFill>
              </a:rPr>
              <a:t>UTC instants, business dates, named time zones, holiday calendars</a:t>
            </a:r>
            <a:endParaRPr lang="en-US" sz="1300" dirty="0"/>
          </a:p>
        </p:txBody>
      </p:sp>
      <p:sp>
        <p:nvSpPr>
          <p:cNvPr id="11" name="rule ID · STATE"/>
          <p:cNvSpPr/>
          <p:nvPr/>
        </p:nvSpPr>
        <p:spPr>
          <a:xfrm>
            <a:off x="8127797" y="1554480"/>
            <a:ext cx="3515258" cy="1691640"/>
          </a:xfrm>
          <a:prstGeom prst="roundRect">
            <a:avLst>
              <a:gd name="adj" fmla="val 4324"/>
            </a:avLst>
          </a:prstGeom>
          <a:solidFill>
            <a:schemeClr val="bg2"/>
          </a:solidFill>
          <a:ln w="12700">
            <a:solidFill>
              <a:schemeClr val="bg2"/>
            </a:solidFill>
            <a:prstDash val="solid"/>
          </a:ln>
        </p:spPr>
      </p:sp>
      <p:sp>
        <p:nvSpPr>
          <p:cNvPr id="12" name="rule ID · STATE tag"/>
          <p:cNvSpPr txBox="1"/>
          <p:nvPr/>
        </p:nvSpPr>
        <p:spPr>
          <a:xfrm>
            <a:off x="8356397" y="1783080"/>
            <a:ext cx="1737360" cy="384048"/>
          </a:xfrm>
          <a:prstGeom prst="roundRect">
            <a:avLst>
              <a:gd name="adj" fmla="val 14286"/>
            </a:avLst>
          </a:prstGeom>
          <a:solidFill>
            <a:schemeClr val="tx2"/>
          </a:solidFill>
          <a:ln/>
        </p:spPr>
        <p:txBody>
          <a:bodyPr wrap="square" lIns="0" tIns="0" rIns="0" bIns="0" rtlCol="0" anchor="ctr"/>
          <a:lstStyle/>
          <a:p>
            <a:pPr algn="ctr" indent="0" marL="0">
              <a:buNone/>
            </a:pPr>
            <a:r>
              <a:rPr lang="en-US" sz="1200" b="1" dirty="0">
                <a:solidFill>
                  <a:schemeClr val="accent1"/>
                </a:solidFill>
              </a:rPr>
              <a:t>ID · STATE</a:t>
            </a:r>
            <a:endParaRPr lang="en-US" sz="1200" dirty="0"/>
          </a:p>
        </p:txBody>
      </p:sp>
      <p:sp>
        <p:nvSpPr>
          <p:cNvPr id="13" name="rule ID · STATE name"/>
          <p:cNvSpPr txBox="1"/>
          <p:nvPr/>
        </p:nvSpPr>
        <p:spPr>
          <a:xfrm>
            <a:off x="10230917" y="1783080"/>
            <a:ext cx="1229258" cy="384048"/>
          </a:xfrm>
          <a:prstGeom prst="rect">
            <a:avLst/>
          </a:prstGeom>
          <a:noFill/>
          <a:ln/>
        </p:spPr>
        <p:txBody>
          <a:bodyPr wrap="square" lIns="0" tIns="0" rIns="0" bIns="0" rtlCol="0" anchor="ctr"/>
          <a:lstStyle/>
          <a:p>
            <a:pPr indent="0" marL="0">
              <a:buNone/>
            </a:pPr>
            <a:r>
              <a:rPr lang="en-US" sz="1700" b="1" dirty="0">
                <a:solidFill>
                  <a:schemeClr val="tx2"/>
                </a:solidFill>
              </a:rPr>
              <a:t>Lifecycle</a:t>
            </a:r>
            <a:endParaRPr lang="en-US" sz="1700" dirty="0"/>
          </a:p>
        </p:txBody>
      </p:sp>
      <p:sp>
        <p:nvSpPr>
          <p:cNvPr id="14" name="rule ID · STATE text"/>
          <p:cNvSpPr txBox="1"/>
          <p:nvPr/>
        </p:nvSpPr>
        <p:spPr>
          <a:xfrm>
            <a:off x="8356397" y="2331720"/>
            <a:ext cx="3058058" cy="822960"/>
          </a:xfrm>
          <a:prstGeom prst="rect">
            <a:avLst/>
          </a:prstGeom>
          <a:noFill/>
          <a:ln/>
        </p:spPr>
        <p:txBody>
          <a:bodyPr wrap="square" lIns="0" tIns="0" rIns="0" bIns="0" rtlCol="0" anchor="t"/>
          <a:lstStyle/>
          <a:p>
            <a:pPr indent="0" marL="0">
              <a:buNone/>
            </a:pPr>
            <a:r>
              <a:rPr lang="en-US" sz="1300" dirty="0">
                <a:solidFill>
                  <a:schemeClr val="tx1"/>
                </a:solidFill>
              </a:rPr>
              <a:t>Idempotency keys, forward-only states, immutable terminal states, outbox</a:t>
            </a:r>
            <a:endParaRPr lang="en-US" sz="1300" dirty="0"/>
          </a:p>
        </p:txBody>
      </p:sp>
      <p:sp>
        <p:nvSpPr>
          <p:cNvPr id="15" name="rule LEDGER · TRADE"/>
          <p:cNvSpPr/>
          <p:nvPr/>
        </p:nvSpPr>
        <p:spPr>
          <a:xfrm>
            <a:off x="548640" y="3520440"/>
            <a:ext cx="3515258" cy="1691640"/>
          </a:xfrm>
          <a:prstGeom prst="roundRect">
            <a:avLst>
              <a:gd name="adj" fmla="val 4324"/>
            </a:avLst>
          </a:prstGeom>
          <a:solidFill>
            <a:schemeClr val="bg2"/>
          </a:solidFill>
          <a:ln w="12700">
            <a:solidFill>
              <a:schemeClr val="bg2"/>
            </a:solidFill>
            <a:prstDash val="solid"/>
          </a:ln>
        </p:spPr>
      </p:sp>
      <p:sp>
        <p:nvSpPr>
          <p:cNvPr id="16" name="rule LEDGER · TRADE tag"/>
          <p:cNvSpPr txBox="1"/>
          <p:nvPr/>
        </p:nvSpPr>
        <p:spPr>
          <a:xfrm>
            <a:off x="777240" y="3749040"/>
            <a:ext cx="1737360" cy="384048"/>
          </a:xfrm>
          <a:prstGeom prst="roundRect">
            <a:avLst>
              <a:gd name="adj" fmla="val 14286"/>
            </a:avLst>
          </a:prstGeom>
          <a:solidFill>
            <a:schemeClr val="tx2"/>
          </a:solidFill>
          <a:ln/>
        </p:spPr>
        <p:txBody>
          <a:bodyPr wrap="square" lIns="0" tIns="0" rIns="0" bIns="0" rtlCol="0" anchor="ctr"/>
          <a:lstStyle/>
          <a:p>
            <a:pPr algn="ctr" indent="0" marL="0">
              <a:buNone/>
            </a:pPr>
            <a:r>
              <a:rPr lang="en-US" sz="1200" b="1" dirty="0">
                <a:solidFill>
                  <a:schemeClr val="accent1"/>
                </a:solidFill>
              </a:rPr>
              <a:t>LEDGER · TRADE</a:t>
            </a:r>
            <a:endParaRPr lang="en-US" sz="1200" dirty="0"/>
          </a:p>
        </p:txBody>
      </p:sp>
      <p:sp>
        <p:nvSpPr>
          <p:cNvPr id="17" name="rule LEDGER · TRADE name"/>
          <p:cNvSpPr txBox="1"/>
          <p:nvPr/>
        </p:nvSpPr>
        <p:spPr>
          <a:xfrm>
            <a:off x="2651760" y="3749040"/>
            <a:ext cx="1229258" cy="384048"/>
          </a:xfrm>
          <a:prstGeom prst="rect">
            <a:avLst/>
          </a:prstGeom>
          <a:noFill/>
          <a:ln/>
        </p:spPr>
        <p:txBody>
          <a:bodyPr wrap="square" lIns="0" tIns="0" rIns="0" bIns="0" rtlCol="0" anchor="ctr"/>
          <a:lstStyle/>
          <a:p>
            <a:pPr indent="0" marL="0">
              <a:buNone/>
            </a:pPr>
            <a:r>
              <a:rPr lang="en-US" sz="1700" b="1" dirty="0">
                <a:solidFill>
                  <a:schemeClr val="tx2"/>
                </a:solidFill>
              </a:rPr>
              <a:t>Books and trades</a:t>
            </a:r>
            <a:endParaRPr lang="en-US" sz="1700" dirty="0"/>
          </a:p>
        </p:txBody>
      </p:sp>
      <p:sp>
        <p:nvSpPr>
          <p:cNvPr id="18" name="rule LEDGER · TRADE text"/>
          <p:cNvSpPr txBox="1"/>
          <p:nvPr/>
        </p:nvSpPr>
        <p:spPr>
          <a:xfrm>
            <a:off x="777240" y="4297680"/>
            <a:ext cx="3058058" cy="822960"/>
          </a:xfrm>
          <a:prstGeom prst="rect">
            <a:avLst/>
          </a:prstGeom>
          <a:noFill/>
          <a:ln/>
        </p:spPr>
        <p:txBody>
          <a:bodyPr wrap="square" lIns="0" tIns="0" rIns="0" bIns="0" rtlCol="0" anchor="t"/>
          <a:lstStyle/>
          <a:p>
            <a:pPr indent="0" marL="0">
              <a:buNone/>
            </a:pPr>
            <a:r>
              <a:rPr lang="en-US" sz="1300" dirty="0">
                <a:solidFill>
                  <a:schemeClr val="tx1"/>
                </a:solidFill>
              </a:rPr>
              <a:t>Balanced postings, allocations sum to the block, fills ≤ order, T+n on calendar</a:t>
            </a:r>
            <a:endParaRPr lang="en-US" sz="1300" dirty="0"/>
          </a:p>
        </p:txBody>
      </p:sp>
      <p:sp>
        <p:nvSpPr>
          <p:cNvPr id="19" name="rule PAY · LEND · RISK"/>
          <p:cNvSpPr/>
          <p:nvPr/>
        </p:nvSpPr>
        <p:spPr>
          <a:xfrm>
            <a:off x="4338218" y="3520440"/>
            <a:ext cx="3515258" cy="1691640"/>
          </a:xfrm>
          <a:prstGeom prst="roundRect">
            <a:avLst>
              <a:gd name="adj" fmla="val 4324"/>
            </a:avLst>
          </a:prstGeom>
          <a:solidFill>
            <a:schemeClr val="bg2"/>
          </a:solidFill>
          <a:ln w="12700">
            <a:solidFill>
              <a:schemeClr val="bg2"/>
            </a:solidFill>
            <a:prstDash val="solid"/>
          </a:ln>
        </p:spPr>
      </p:sp>
      <p:sp>
        <p:nvSpPr>
          <p:cNvPr id="20" name="rule PAY · LEND · RISK tag"/>
          <p:cNvSpPr txBox="1"/>
          <p:nvPr/>
        </p:nvSpPr>
        <p:spPr>
          <a:xfrm>
            <a:off x="4566818" y="3749040"/>
            <a:ext cx="1737360" cy="384048"/>
          </a:xfrm>
          <a:prstGeom prst="roundRect">
            <a:avLst>
              <a:gd name="adj" fmla="val 14286"/>
            </a:avLst>
          </a:prstGeom>
          <a:solidFill>
            <a:schemeClr val="tx2"/>
          </a:solidFill>
          <a:ln/>
        </p:spPr>
        <p:txBody>
          <a:bodyPr wrap="square" lIns="0" tIns="0" rIns="0" bIns="0" rtlCol="0" anchor="ctr"/>
          <a:lstStyle/>
          <a:p>
            <a:pPr algn="ctr" indent="0" marL="0">
              <a:buNone/>
            </a:pPr>
            <a:r>
              <a:rPr lang="en-US" sz="1200" b="1" dirty="0">
                <a:solidFill>
                  <a:schemeClr val="accent1"/>
                </a:solidFill>
              </a:rPr>
              <a:t>PAY · LEND · RISK</a:t>
            </a:r>
            <a:endParaRPr lang="en-US" sz="1200" dirty="0"/>
          </a:p>
        </p:txBody>
      </p:sp>
      <p:sp>
        <p:nvSpPr>
          <p:cNvPr id="21" name="rule PAY · LEND · RISK name"/>
          <p:cNvSpPr txBox="1"/>
          <p:nvPr/>
        </p:nvSpPr>
        <p:spPr>
          <a:xfrm>
            <a:off x="6441338" y="3749040"/>
            <a:ext cx="1229258" cy="384048"/>
          </a:xfrm>
          <a:prstGeom prst="rect">
            <a:avLst/>
          </a:prstGeom>
          <a:noFill/>
          <a:ln/>
        </p:spPr>
        <p:txBody>
          <a:bodyPr wrap="square" lIns="0" tIns="0" rIns="0" bIns="0" rtlCol="0" anchor="ctr"/>
          <a:lstStyle/>
          <a:p>
            <a:pPr indent="0" marL="0">
              <a:buNone/>
            </a:pPr>
            <a:r>
              <a:rPr lang="en-US" sz="1700" b="1" dirty="0">
                <a:solidFill>
                  <a:schemeClr val="tx2"/>
                </a:solidFill>
              </a:rPr>
              <a:t>Controls</a:t>
            </a:r>
            <a:endParaRPr lang="en-US" sz="1700" dirty="0"/>
          </a:p>
        </p:txBody>
      </p:sp>
      <p:sp>
        <p:nvSpPr>
          <p:cNvPr id="22" name="rule PAY · LEND · RISK text"/>
          <p:cNvSpPr txBox="1"/>
          <p:nvPr/>
        </p:nvSpPr>
        <p:spPr>
          <a:xfrm>
            <a:off x="4566818" y="4297680"/>
            <a:ext cx="3058058" cy="822960"/>
          </a:xfrm>
          <a:prstGeom prst="rect">
            <a:avLst/>
          </a:prstGeom>
          <a:noFill/>
          <a:ln/>
        </p:spPr>
        <p:txBody>
          <a:bodyPr wrap="square" lIns="0" tIns="0" rIns="0" bIns="0" rtlCol="0" anchor="t"/>
          <a:lstStyle/>
          <a:p>
            <a:pPr indent="0" marL="0">
              <a:buNone/>
            </a:pPr>
            <a:r>
              <a:rPr lang="en-US" sz="1300" dirty="0">
                <a:solidFill>
                  <a:schemeClr val="tx1"/>
                </a:solidFill>
              </a:rPr>
              <a:t>Sanctions and risk checks fail closed, maker-checker, day-count conventions</a:t>
            </a:r>
            <a:endParaRPr lang="en-US" sz="1300" dirty="0"/>
          </a:p>
        </p:txBody>
      </p:sp>
      <p:sp>
        <p:nvSpPr>
          <p:cNvPr id="23" name="rule AUD · SEC · RES"/>
          <p:cNvSpPr/>
          <p:nvPr/>
        </p:nvSpPr>
        <p:spPr>
          <a:xfrm>
            <a:off x="8127797" y="3520440"/>
            <a:ext cx="3515258" cy="1691640"/>
          </a:xfrm>
          <a:prstGeom prst="roundRect">
            <a:avLst>
              <a:gd name="adj" fmla="val 4324"/>
            </a:avLst>
          </a:prstGeom>
          <a:solidFill>
            <a:schemeClr val="bg2"/>
          </a:solidFill>
          <a:ln w="12700">
            <a:solidFill>
              <a:schemeClr val="bg2"/>
            </a:solidFill>
            <a:prstDash val="solid"/>
          </a:ln>
        </p:spPr>
      </p:sp>
      <p:sp>
        <p:nvSpPr>
          <p:cNvPr id="24" name="rule AUD · SEC · RES tag"/>
          <p:cNvSpPr txBox="1"/>
          <p:nvPr/>
        </p:nvSpPr>
        <p:spPr>
          <a:xfrm>
            <a:off x="8356397" y="3749040"/>
            <a:ext cx="1737360" cy="384048"/>
          </a:xfrm>
          <a:prstGeom prst="roundRect">
            <a:avLst>
              <a:gd name="adj" fmla="val 14286"/>
            </a:avLst>
          </a:prstGeom>
          <a:solidFill>
            <a:schemeClr val="tx2"/>
          </a:solidFill>
          <a:ln/>
        </p:spPr>
        <p:txBody>
          <a:bodyPr wrap="square" lIns="0" tIns="0" rIns="0" bIns="0" rtlCol="0" anchor="ctr"/>
          <a:lstStyle/>
          <a:p>
            <a:pPr algn="ctr" indent="0" marL="0">
              <a:buNone/>
            </a:pPr>
            <a:r>
              <a:rPr lang="en-US" sz="1200" b="1" dirty="0">
                <a:solidFill>
                  <a:schemeClr val="accent1"/>
                </a:solidFill>
              </a:rPr>
              <a:t>AUD · SEC · RES</a:t>
            </a:r>
            <a:endParaRPr lang="en-US" sz="1200" dirty="0"/>
          </a:p>
        </p:txBody>
      </p:sp>
      <p:sp>
        <p:nvSpPr>
          <p:cNvPr id="25" name="rule AUD · SEC · RES name"/>
          <p:cNvSpPr txBox="1"/>
          <p:nvPr/>
        </p:nvSpPr>
        <p:spPr>
          <a:xfrm>
            <a:off x="10230917" y="3749040"/>
            <a:ext cx="1229258" cy="384048"/>
          </a:xfrm>
          <a:prstGeom prst="rect">
            <a:avLst/>
          </a:prstGeom>
          <a:noFill/>
          <a:ln/>
        </p:spPr>
        <p:txBody>
          <a:bodyPr wrap="square" lIns="0" tIns="0" rIns="0" bIns="0" rtlCol="0" anchor="ctr"/>
          <a:lstStyle/>
          <a:p>
            <a:pPr indent="0" marL="0">
              <a:buNone/>
            </a:pPr>
            <a:r>
              <a:rPr lang="en-US" sz="1700" b="1" dirty="0">
                <a:solidFill>
                  <a:schemeClr val="tx2"/>
                </a:solidFill>
              </a:rPr>
              <a:t>Trust</a:t>
            </a:r>
            <a:endParaRPr lang="en-US" sz="1700" dirty="0"/>
          </a:p>
        </p:txBody>
      </p:sp>
      <p:sp>
        <p:nvSpPr>
          <p:cNvPr id="26" name="rule AUD · SEC · RES text"/>
          <p:cNvSpPr txBox="1"/>
          <p:nvPr/>
        </p:nvSpPr>
        <p:spPr>
          <a:xfrm>
            <a:off x="8356397" y="4297680"/>
            <a:ext cx="3058058" cy="822960"/>
          </a:xfrm>
          <a:prstGeom prst="rect">
            <a:avLst/>
          </a:prstGeom>
          <a:noFill/>
          <a:ln/>
        </p:spPr>
        <p:txBody>
          <a:bodyPr wrap="square" lIns="0" tIns="0" rIns="0" bIns="0" rtlCol="0" anchor="t"/>
          <a:lstStyle/>
          <a:p>
            <a:pPr indent="0" marL="0">
              <a:buNone/>
            </a:pPr>
            <a:r>
              <a:rPr lang="en-US" sz="1300" dirty="0">
                <a:solidFill>
                  <a:schemeClr val="tx1"/>
                </a:solidFill>
              </a:rPr>
              <a:t>Append-only audit, no PII or secrets in logs, server-side entitlements, safe retries</a:t>
            </a:r>
            <a:endParaRPr lang="en-US" sz="1300" dirty="0"/>
          </a:p>
        </p:txBody>
      </p:sp>
      <p:sp>
        <p:nvSpPr>
          <p:cNvPr id="27" name="rules note"/>
          <p:cNvSpPr txBox="1"/>
          <p:nvPr/>
        </p:nvSpPr>
        <p:spPr>
          <a:xfrm>
            <a:off x="548640" y="5486400"/>
            <a:ext cx="11094415" cy="640080"/>
          </a:xfrm>
          <a:prstGeom prst="rect">
            <a:avLst/>
          </a:prstGeom>
          <a:noFill/>
          <a:ln/>
        </p:spPr>
        <p:txBody>
          <a:bodyPr wrap="square" lIns="0" tIns="0" rIns="0" bIns="0" rtlCol="0" anchor="ctr"/>
          <a:lstStyle/>
          <a:p>
            <a:pPr indent="0" marL="0">
              <a:buNone/>
            </a:pPr>
            <a:r>
              <a:rPr lang="en-US" sz="1300" i="1" dirty="0">
                <a:solidFill>
                  <a:schemeClr val="accent2"/>
                </a:solidFill>
              </a:rPr>
              <a:t>About 60 rules with ids such as BFSI-MON-01. The critic cites the id in every finding; non-negotiable rules need a written rulebook exception.</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2"/>
                </a:solidFill>
              </a:rPr>
              <a:t>Rollout checklist before teams start</a:t>
            </a:r>
            <a:endParaRPr lang="en-US" sz="3200" dirty="0"/>
          </a:p>
        </p:txBody>
      </p:sp>
      <p:sp>
        <p:nvSpPr>
          <p:cNvPr id="3" name="check 1 mark"/>
          <p:cNvSpPr txBox="1"/>
          <p:nvPr/>
        </p:nvSpPr>
        <p:spPr>
          <a:xfrm>
            <a:off x="548640" y="1627632"/>
            <a:ext cx="502920" cy="50292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4" name="check 1 text"/>
          <p:cNvSpPr txBox="1"/>
          <p:nvPr/>
        </p:nvSpPr>
        <p:spPr>
          <a:xfrm>
            <a:off x="1280160" y="1554480"/>
            <a:ext cx="4541368" cy="685800"/>
          </a:xfrm>
          <a:prstGeom prst="rect">
            <a:avLst/>
          </a:prstGeom>
          <a:noFill/>
          <a:ln/>
        </p:spPr>
        <p:txBody>
          <a:bodyPr wrap="square" lIns="0" tIns="0" rIns="0" bIns="0" rtlCol="0" anchor="ctr"/>
          <a:lstStyle/>
          <a:p>
            <a:pPr indent="0" marL="0">
              <a:buNone/>
            </a:pPr>
            <a:r>
              <a:rPr lang="en-US" sz="1500" dirty="0">
                <a:solidFill>
                  <a:schemeClr val="tx1"/>
                </a:solidFill>
              </a:rPr>
              <a:t>Branch protection on develop and main, with required CI checks</a:t>
            </a:r>
            <a:endParaRPr lang="en-US" sz="1500" dirty="0"/>
          </a:p>
        </p:txBody>
      </p:sp>
      <p:sp>
        <p:nvSpPr>
          <p:cNvPr id="5" name="check 2 mark"/>
          <p:cNvSpPr txBox="1"/>
          <p:nvPr/>
        </p:nvSpPr>
        <p:spPr>
          <a:xfrm>
            <a:off x="6278728" y="1627632"/>
            <a:ext cx="502920" cy="50292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6" name="check 2 text"/>
          <p:cNvSpPr txBox="1"/>
          <p:nvPr/>
        </p:nvSpPr>
        <p:spPr>
          <a:xfrm>
            <a:off x="7010248" y="1554480"/>
            <a:ext cx="4541368" cy="685800"/>
          </a:xfrm>
          <a:prstGeom prst="rect">
            <a:avLst/>
          </a:prstGeom>
          <a:noFill/>
          <a:ln/>
        </p:spPr>
        <p:txBody>
          <a:bodyPr wrap="square" lIns="0" tIns="0" rIns="0" bIns="0" rtlCol="0" anchor="ctr"/>
          <a:lstStyle/>
          <a:p>
            <a:pPr indent="0" marL="0">
              <a:buNone/>
            </a:pPr>
            <a:r>
              <a:rPr lang="en-US" sz="1500" dirty="0">
                <a:solidFill>
                  <a:schemeClr val="tx1"/>
                </a:solidFill>
              </a:rPr>
              <a:t>CODEOWNERS review on .github/** and every AGENTS.md</a:t>
            </a:r>
            <a:endParaRPr lang="en-US" sz="1500" dirty="0"/>
          </a:p>
        </p:txBody>
      </p:sp>
      <p:sp>
        <p:nvSpPr>
          <p:cNvPr id="7" name="check 3 mark"/>
          <p:cNvSpPr txBox="1"/>
          <p:nvPr/>
        </p:nvSpPr>
        <p:spPr>
          <a:xfrm>
            <a:off x="548640" y="2679192"/>
            <a:ext cx="502920" cy="50292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8" name="check 3 text"/>
          <p:cNvSpPr txBox="1"/>
          <p:nvPr/>
        </p:nvSpPr>
        <p:spPr>
          <a:xfrm>
            <a:off x="1280160" y="2606040"/>
            <a:ext cx="4541368" cy="685800"/>
          </a:xfrm>
          <a:prstGeom prst="rect">
            <a:avLst/>
          </a:prstGeom>
          <a:noFill/>
          <a:ln/>
        </p:spPr>
        <p:txBody>
          <a:bodyPr wrap="square" lIns="0" tIns="0" rIns="0" bIns="0" rtlCol="0" anchor="ctr"/>
          <a:lstStyle/>
          <a:p>
            <a:pPr indent="0" marL="0">
              <a:buNone/>
            </a:pPr>
            <a:r>
              <a:rPr lang="en-US" sz="1500" dirty="0">
                <a:solidFill>
                  <a:schemeClr val="tx1"/>
                </a:solidFill>
              </a:rPr>
              <a:t>VS Code Copilot Chat in Agent mode with the Run Subagent tool enabled</a:t>
            </a:r>
            <a:endParaRPr lang="en-US" sz="1500" dirty="0"/>
          </a:p>
        </p:txBody>
      </p:sp>
      <p:sp>
        <p:nvSpPr>
          <p:cNvPr id="9" name="check 4 mark"/>
          <p:cNvSpPr txBox="1"/>
          <p:nvPr/>
        </p:nvSpPr>
        <p:spPr>
          <a:xfrm>
            <a:off x="6278728" y="2679192"/>
            <a:ext cx="502920" cy="50292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0" name="check 4 text"/>
          <p:cNvSpPr txBox="1"/>
          <p:nvPr/>
        </p:nvSpPr>
        <p:spPr>
          <a:xfrm>
            <a:off x="7010248" y="2606040"/>
            <a:ext cx="4541368" cy="685800"/>
          </a:xfrm>
          <a:prstGeom prst="rect">
            <a:avLst/>
          </a:prstGeom>
          <a:noFill/>
          <a:ln/>
        </p:spPr>
        <p:txBody>
          <a:bodyPr wrap="square" lIns="0" tIns="0" rIns="0" bIns="0" rtlCol="0" anchor="ctr"/>
          <a:lstStyle/>
          <a:p>
            <a:pPr indent="0" marL="0">
              <a:buNone/>
            </a:pPr>
            <a:r>
              <a:rPr lang="en-US" sz="1500" dirty="0">
                <a:solidFill>
                  <a:schemeClr val="tx1"/>
                </a:solidFill>
              </a:rPr>
              <a:t>gh signed in; Git Bash as the default terminal on Windows</a:t>
            </a:r>
            <a:endParaRPr lang="en-US" sz="1500" dirty="0"/>
          </a:p>
        </p:txBody>
      </p:sp>
      <p:sp>
        <p:nvSpPr>
          <p:cNvPr id="11" name="check 5 mark"/>
          <p:cNvSpPr txBox="1"/>
          <p:nvPr/>
        </p:nvSpPr>
        <p:spPr>
          <a:xfrm>
            <a:off x="548640" y="3730752"/>
            <a:ext cx="502920" cy="50292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2" name="check 5 text"/>
          <p:cNvSpPr txBox="1"/>
          <p:nvPr/>
        </p:nvSpPr>
        <p:spPr>
          <a:xfrm>
            <a:off x="1280160" y="3657600"/>
            <a:ext cx="4541368" cy="685800"/>
          </a:xfrm>
          <a:prstGeom prst="rect">
            <a:avLst/>
          </a:prstGeom>
          <a:noFill/>
          <a:ln/>
        </p:spPr>
        <p:txBody>
          <a:bodyPr wrap="square" lIns="0" tIns="0" rIns="0" bIns="0" rtlCol="0" anchor="ctr"/>
          <a:lstStyle/>
          <a:p>
            <a:pPr indent="0" marL="0">
              <a:buNone/>
            </a:pPr>
            <a:r>
              <a:rPr lang="en-US" sz="1500" dirty="0">
                <a:solidFill>
                  <a:schemeClr val="tx1"/>
                </a:solidFill>
              </a:rPr>
              <a:t>bmad.config.yaml has no TODO left; root AGENTS.md filled</a:t>
            </a:r>
            <a:endParaRPr lang="en-US" sz="1500" dirty="0"/>
          </a:p>
        </p:txBody>
      </p:sp>
      <p:sp>
        <p:nvSpPr>
          <p:cNvPr id="13" name="check 6 mark"/>
          <p:cNvSpPr txBox="1"/>
          <p:nvPr/>
        </p:nvSpPr>
        <p:spPr>
          <a:xfrm>
            <a:off x="6278728" y="3730752"/>
            <a:ext cx="502920" cy="50292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4" name="check 6 text"/>
          <p:cNvSpPr txBox="1"/>
          <p:nvPr/>
        </p:nvSpPr>
        <p:spPr>
          <a:xfrm>
            <a:off x="7010248" y="3657600"/>
            <a:ext cx="4541368" cy="685800"/>
          </a:xfrm>
          <a:prstGeom prst="rect">
            <a:avLst/>
          </a:prstGeom>
          <a:noFill/>
          <a:ln/>
        </p:spPr>
        <p:txBody>
          <a:bodyPr wrap="square" lIns="0" tIns="0" rIns="0" bIns="0" rtlCol="0" anchor="ctr"/>
          <a:lstStyle/>
          <a:p>
            <a:pPr indent="0" marL="0">
              <a:buNone/>
            </a:pPr>
            <a:r>
              <a:rPr lang="en-US" sz="1500" dirty="0">
                <a:solidFill>
                  <a:schemeClr val="tx1"/>
                </a:solidFill>
              </a:rPr>
              <a:t>A pilot team and a named reviewer for designs and code</a:t>
            </a:r>
            <a:endParaRPr lang="en-US" sz="1500" dirty="0"/>
          </a:p>
        </p:txBody>
      </p:sp>
      <p:sp>
        <p:nvSpPr>
          <p:cNvPr id="15" name="check 7 mark"/>
          <p:cNvSpPr txBox="1"/>
          <p:nvPr/>
        </p:nvSpPr>
        <p:spPr>
          <a:xfrm>
            <a:off x="548640" y="4782312"/>
            <a:ext cx="502920" cy="50292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6" name="check 7 text"/>
          <p:cNvSpPr txBox="1"/>
          <p:nvPr/>
        </p:nvSpPr>
        <p:spPr>
          <a:xfrm>
            <a:off x="1280160" y="4709160"/>
            <a:ext cx="4541368" cy="685800"/>
          </a:xfrm>
          <a:prstGeom prst="rect">
            <a:avLst/>
          </a:prstGeom>
          <a:noFill/>
          <a:ln/>
        </p:spPr>
        <p:txBody>
          <a:bodyPr wrap="square" lIns="0" tIns="0" rIns="0" bIns="0" rtlCol="0" anchor="ctr"/>
          <a:lstStyle/>
          <a:p>
            <a:pPr indent="0" marL="0">
              <a:buNone/>
            </a:pPr>
            <a:r>
              <a:rPr lang="en-US" sz="1500" dirty="0">
                <a:solidFill>
                  <a:schemeClr val="tx1"/>
                </a:solidFill>
              </a:rPr>
              <a:t>Compliance has reviewed the BFSI domain pack for your markets</a:t>
            </a:r>
            <a:endParaRPr lang="en-US" sz="1500" dirty="0"/>
          </a:p>
        </p:txBody>
      </p:sp>
      <p:sp>
        <p:nvSpPr>
          <p:cNvPr id="17" name="check 8 mark"/>
          <p:cNvSpPr txBox="1"/>
          <p:nvPr/>
        </p:nvSpPr>
        <p:spPr>
          <a:xfrm>
            <a:off x="6278728" y="4782312"/>
            <a:ext cx="502920" cy="50292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8" name="check 8 text"/>
          <p:cNvSpPr txBox="1"/>
          <p:nvPr/>
        </p:nvSpPr>
        <p:spPr>
          <a:xfrm>
            <a:off x="7010248" y="4709160"/>
            <a:ext cx="4541368" cy="685800"/>
          </a:xfrm>
          <a:prstGeom prst="rect">
            <a:avLst/>
          </a:prstGeom>
          <a:noFill/>
          <a:ln/>
        </p:spPr>
        <p:txBody>
          <a:bodyPr wrap="square" lIns="0" tIns="0" rIns="0" bIns="0" rtlCol="0" anchor="ctr"/>
          <a:lstStyle/>
          <a:p>
            <a:pPr indent="0" marL="0">
              <a:buNone/>
            </a:pPr>
            <a:r>
              <a:rPr lang="en-US" sz="1500" dirty="0">
                <a:solidFill>
                  <a:schemeClr val="tx1"/>
                </a:solidFill>
              </a:rPr>
              <a:t>.bmad/ ignored; docs/bmad/ committed with normal PRs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94415" cy="1463040"/>
          </a:xfrm>
          <a:prstGeom prst="rect">
            <a:avLst/>
          </a:prstGeom>
          <a:noFill/>
          <a:ln/>
        </p:spPr>
        <p:txBody>
          <a:bodyPr wrap="square" lIns="0" tIns="0" rIns="0" bIns="0" rtlCol="0" anchor="b"/>
          <a:lstStyle/>
          <a:p>
            <a:pPr algn="l" indent="0" marL="0">
              <a:buNone/>
            </a:pPr>
            <a:r>
              <a:rPr lang="en-US" sz="4400" b="1" dirty="0">
                <a:solidFill>
                  <a:schemeClr val="bg1"/>
                </a:solidFill>
              </a:rPr>
              <a:t>Next steps</a:t>
            </a:r>
            <a:endParaRPr lang="en-US" sz="4400" dirty="0"/>
          </a:p>
        </p:txBody>
      </p:sp>
      <p:sp>
        <p:nvSpPr>
          <p:cNvPr id="3" name="Text 0"/>
          <p:cNvSpPr/>
          <p:nvPr>
            <p:ph idx="101" type="body" hasCustomPrompt="1"/>
          </p:nvPr>
        </p:nvSpPr>
        <p:spPr>
          <a:xfrm>
            <a:off x="548640" y="3657600"/>
            <a:ext cx="11094415" cy="1280160"/>
          </a:xfrm>
          <a:prstGeom prst="rect">
            <a:avLst/>
          </a:prstGeom>
          <a:noFill/>
          <a:ln/>
        </p:spPr>
        <p:txBody>
          <a:bodyPr wrap="square" lIns="0" tIns="0" rIns="0" bIns="0" rtlCol="0" anchor="t"/>
          <a:lstStyle/>
          <a:p>
            <a:pPr marL="342900" indent="-342900">
              <a:spcAft>
                <a:spcPts val="600"/>
              </a:spcAft>
              <a:buSzPct val="100000"/>
              <a:buChar char="•"/>
            </a:pPr>
            <a:r>
              <a:rPr lang="en-US" sz="2000" dirty="0">
                <a:solidFill>
                  <a:schemeClr val="bg2"/>
                </a:solidFill>
              </a:rPr>
              <a:t>Create the skeleton and fill bmad.config.yaml</a:t>
            </a:r>
            <a:endParaRPr lang="en-US" sz="2000" dirty="0"/>
          </a:p>
          <a:p>
            <a:pPr marL="342900" indent="-342900">
              <a:spcAft>
                <a:spcPts val="600"/>
              </a:spcAft>
              <a:buSzPct val="100000"/>
              <a:buChar char="•"/>
            </a:pPr>
            <a:r>
              <a:rPr lang="en-US" sz="2000" dirty="0">
                <a:solidFill>
                  <a:schemeClr val="bg2"/>
                </a:solidFill>
              </a:rPr>
              <a:t>Write AGENTS.md with the architect and a domain expert</a:t>
            </a:r>
            <a:endParaRPr lang="en-US" sz="2000" dirty="0"/>
          </a:p>
          <a:p>
            <a:pPr marL="342900" indent="-342900">
              <a:spcAft>
                <a:spcPts val="600"/>
              </a:spcAft>
              <a:buSzPct val="100000"/>
              <a:buChar char="•"/>
            </a:pPr>
            <a:r>
              <a:rPr lang="en-US" sz="2000" dirty="0">
                <a:solidFill>
                  <a:schemeClr val="bg2"/>
                </a:solidFill>
              </a:rPr>
              <a:t>Run /pm for the first epic</a:t>
            </a:r>
            <a:endParaRPr lang="en-US" sz="2000" dirty="0"/>
          </a:p>
          <a:p>
            <a:pPr marL="342900" indent="-342900">
              <a:spcAft>
                <a:spcPts val="600"/>
              </a:spcAft>
              <a:buSzPct val="100000"/>
              <a:buChar char="•"/>
            </a:pPr>
            <a:r>
              <a:rPr lang="en-US" sz="2000" dirty="0">
                <a:solidFill>
                  <a:schemeClr val="bg2"/>
                </a:solidFill>
              </a:rPr>
              <a:t>Read docs/BMAD_SETUP_Guide.md and docs/BMAD_REFERENCE.md</a:t>
            </a:r>
            <a:endParaRPr lang="en-US" sz="2000" dirty="0"/>
          </a:p>
        </p:txBody>
      </p:sp>
    </p:spTree>
  </p:cSld>
  <p:clrMapOvr>
    <a:masterClrMapping/>
  </p:clrMapOvr>
</p:sld>
</file>

<file path=ppt/theme/theme1.xml><?xml version="1.0" encoding="utf-8"?>
<a:theme xmlns:a="http://schemas.openxmlformats.org/drawingml/2006/main" name="BMAD BFSI">
  <a:themeElements>
    <a:clrScheme name="BMAD BFSI">
      <a:dk1>
        <a:srgbClr val="1B2A2F"/>
      </a:dk1>
      <a:lt1>
        <a:srgbClr val="FFFFFF"/>
      </a:lt1>
      <a:dk2>
        <a:srgbClr val="0E3B43"/>
      </a:dk2>
      <a:lt2>
        <a:srgbClr val="EEF4F3"/>
      </a:lt2>
      <a:accent1>
        <a:srgbClr val="C9A227"/>
      </a:accent1>
      <a:accent2>
        <a:srgbClr val="1F7A6D"/>
      </a:accent2>
      <a:accent3>
        <a:srgbClr val="5B8C85"/>
      </a:accent3>
      <a:accent4>
        <a:srgbClr val="B5523B"/>
      </a:accent4>
      <a:accent5>
        <a:srgbClr val="6C7A89"/>
      </a:accent5>
      <a:accent6>
        <a:srgbClr val="2E5E8C"/>
      </a:accent6>
      <a:hlink>
        <a:srgbClr val="1F7A6D"/>
      </a:hlink>
      <a:folHlink>
        <a:srgbClr val="5B8C85"/>
      </a:folHlink>
    </a:clrScheme>
    <a:fontScheme name="BMAD BFSI">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BMAD Agentic SDLC — Greenfield</dc:title>
  <dc:subject>GitHub Copilot agents for BFSI application design and development</dc:subject>
  <dc:creator>Wissen</dc:creator>
  <cp:lastModifiedBy>Wissen</cp:lastModifiedBy>
  <cp:revision>1</cp:revision>
  <dcterms:created xsi:type="dcterms:W3CDTF">2026-10-27T07:02:17Z</dcterms:created>
  <dcterms:modified xsi:type="dcterms:W3CDTF">2026-10-27T07:02:17Z</dcterms:modified>
</cp:coreProperties>
</file>